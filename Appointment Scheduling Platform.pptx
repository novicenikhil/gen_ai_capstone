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League Spartan" charset="1" panose="00000800000000000000"/>
      <p:regular r:id="rId23"/>
    </p:embeddedFont>
    <p:embeddedFont>
      <p:font typeface="DM Sans Bold" charset="1" panose="00000000000000000000"/>
      <p:regular r:id="rId24"/>
    </p:embeddedFont>
    <p:embeddedFont>
      <p:font typeface="DM Sans" charset="1" panose="00000000000000000000"/>
      <p:regular r:id="rId25"/>
    </p:embeddedFont>
    <p:embeddedFont>
      <p:font typeface="Proxima Nova Bold" charset="1" panose="02000506030000020004"/>
      <p:regular r:id="rId26"/>
    </p:embeddedFont>
    <p:embeddedFont>
      <p:font typeface="Proxima Nova" charset="1" panose="0200050603000002000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svg" Type="http://schemas.openxmlformats.org/officeDocument/2006/relationships/image"/><Relationship Id="rId11" Target="../media/image27.png" Type="http://schemas.openxmlformats.org/officeDocument/2006/relationships/image"/><Relationship Id="rId12" Target="../media/image28.svg" Type="http://schemas.openxmlformats.org/officeDocument/2006/relationships/image"/><Relationship Id="rId2" Target="../media/image18.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 Id="rId7" Target="../media/image23.png" Type="http://schemas.openxmlformats.org/officeDocument/2006/relationships/image"/><Relationship Id="rId8" Target="../media/image24.svg" Type="http://schemas.openxmlformats.org/officeDocument/2006/relationships/image"/><Relationship Id="rId9" Target="../media/image2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png" Type="http://schemas.openxmlformats.org/officeDocument/2006/relationships/image"/><Relationship Id="rId11" Target="../media/image40.svg" Type="http://schemas.openxmlformats.org/officeDocument/2006/relationships/image"/><Relationship Id="rId12" Target="../media/image41.png" Type="http://schemas.openxmlformats.org/officeDocument/2006/relationships/image"/><Relationship Id="rId13" Target="../media/image42.svg" Type="http://schemas.openxmlformats.org/officeDocument/2006/relationships/image"/><Relationship Id="rId14" Target="../media/image18.png" Type="http://schemas.openxmlformats.org/officeDocument/2006/relationships/image"/><Relationship Id="rId15" Target="../media/image43.png" Type="http://schemas.openxmlformats.org/officeDocument/2006/relationships/image"/><Relationship Id="rId16" Target="../media/image44.svg" Type="http://schemas.openxmlformats.org/officeDocument/2006/relationships/image"/><Relationship Id="rId17" Target="../media/image45.png" Type="http://schemas.openxmlformats.org/officeDocument/2006/relationships/image"/><Relationship Id="rId18" Target="../media/image46.svg" Type="http://schemas.openxmlformats.org/officeDocument/2006/relationships/image"/><Relationship Id="rId19" Target="../media/image23.png" Type="http://schemas.openxmlformats.org/officeDocument/2006/relationships/image"/><Relationship Id="rId2" Target="../media/image31.png" Type="http://schemas.openxmlformats.org/officeDocument/2006/relationships/image"/><Relationship Id="rId20" Target="../media/image24.svg" Type="http://schemas.openxmlformats.org/officeDocument/2006/relationships/image"/><Relationship Id="rId21" Target="../media/image6.png" Type="http://schemas.openxmlformats.org/officeDocument/2006/relationships/image"/><Relationship Id="rId22" Target="../media/image7.svg" Type="http://schemas.openxmlformats.org/officeDocument/2006/relationships/image"/><Relationship Id="rId23" Target="../media/image47.png" Type="http://schemas.openxmlformats.org/officeDocument/2006/relationships/image"/><Relationship Id="rId24" Target="../media/image48.svg" Type="http://schemas.openxmlformats.org/officeDocument/2006/relationships/image"/><Relationship Id="rId3" Target="../media/image32.sv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media/image35.png" Type="http://schemas.openxmlformats.org/officeDocument/2006/relationships/image"/><Relationship Id="rId7" Target="../media/image36.svg" Type="http://schemas.openxmlformats.org/officeDocument/2006/relationships/image"/><Relationship Id="rId8" Target="../media/image37.png" Type="http://schemas.openxmlformats.org/officeDocument/2006/relationships/image"/><Relationship Id="rId9" Target="../media/image3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8.png" Type="http://schemas.openxmlformats.org/officeDocument/2006/relationships/image"/><Relationship Id="rId2" Target="../media/image50.png" Type="http://schemas.openxmlformats.org/officeDocument/2006/relationships/image"/><Relationship Id="rId3" Target="../media/image51.sv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54.png" Type="http://schemas.openxmlformats.org/officeDocument/2006/relationships/image"/><Relationship Id="rId7" Target="../media/image55.svg" Type="http://schemas.openxmlformats.org/officeDocument/2006/relationships/image"/><Relationship Id="rId8" Target="../media/image56.png" Type="http://schemas.openxmlformats.org/officeDocument/2006/relationships/image"/><Relationship Id="rId9" Target="../media/image5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9.png" Type="http://schemas.openxmlformats.org/officeDocument/2006/relationships/image"/><Relationship Id="rId3" Target="../media/image6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1.png" Type="http://schemas.openxmlformats.org/officeDocument/2006/relationships/image"/><Relationship Id="rId3" Target="../media/image6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0.svg" Type="http://schemas.openxmlformats.org/officeDocument/2006/relationships/image"/><Relationship Id="rId11" Target="../media/image71.png" Type="http://schemas.openxmlformats.org/officeDocument/2006/relationships/image"/><Relationship Id="rId12" Target="../media/image72.svg" Type="http://schemas.openxmlformats.org/officeDocument/2006/relationships/image"/><Relationship Id="rId13" Target="../media/image73.png" Type="http://schemas.openxmlformats.org/officeDocument/2006/relationships/image"/><Relationship Id="rId14" Target="../media/image74.svg" Type="http://schemas.openxmlformats.org/officeDocument/2006/relationships/image"/><Relationship Id="rId2" Target="../media/image18.png" Type="http://schemas.openxmlformats.org/officeDocument/2006/relationships/image"/><Relationship Id="rId3" Target="../media/image63.png" Type="http://schemas.openxmlformats.org/officeDocument/2006/relationships/image"/><Relationship Id="rId4" Target="../media/image64.svg" Type="http://schemas.openxmlformats.org/officeDocument/2006/relationships/image"/><Relationship Id="rId5" Target="../media/image65.png" Type="http://schemas.openxmlformats.org/officeDocument/2006/relationships/image"/><Relationship Id="rId6" Target="../media/image66.svg" Type="http://schemas.openxmlformats.org/officeDocument/2006/relationships/image"/><Relationship Id="rId7" Target="../media/image67.png" Type="http://schemas.openxmlformats.org/officeDocument/2006/relationships/image"/><Relationship Id="rId8" Target="../media/image68.svg" Type="http://schemas.openxmlformats.org/officeDocument/2006/relationships/image"/><Relationship Id="rId9" Target="../media/image6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3.svg" Type="http://schemas.openxmlformats.org/officeDocument/2006/relationships/image"/><Relationship Id="rId11" Target="../media/image84.png" Type="http://schemas.openxmlformats.org/officeDocument/2006/relationships/image"/><Relationship Id="rId12" Target="../media/image85.svg" Type="http://schemas.openxmlformats.org/officeDocument/2006/relationships/image"/><Relationship Id="rId13" Target="../media/image86.png" Type="http://schemas.openxmlformats.org/officeDocument/2006/relationships/image"/><Relationship Id="rId14" Target="../media/image87.svg" Type="http://schemas.openxmlformats.org/officeDocument/2006/relationships/image"/><Relationship Id="rId2" Target="../media/image75.png" Type="http://schemas.openxmlformats.org/officeDocument/2006/relationships/image"/><Relationship Id="rId3" Target="../media/image76.svg" Type="http://schemas.openxmlformats.org/officeDocument/2006/relationships/image"/><Relationship Id="rId4" Target="../media/image77.png" Type="http://schemas.openxmlformats.org/officeDocument/2006/relationships/image"/><Relationship Id="rId5" Target="../media/image78.png" Type="http://schemas.openxmlformats.org/officeDocument/2006/relationships/image"/><Relationship Id="rId6" Target="../media/image79.svg" Type="http://schemas.openxmlformats.org/officeDocument/2006/relationships/image"/><Relationship Id="rId7" Target="../media/image80.png" Type="http://schemas.openxmlformats.org/officeDocument/2006/relationships/image"/><Relationship Id="rId8" Target="../media/image81.svg" Type="http://schemas.openxmlformats.org/officeDocument/2006/relationships/image"/><Relationship Id="rId9" Target="../media/image8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3.png" Type="http://schemas.openxmlformats.org/officeDocument/2006/relationships/image"/><Relationship Id="rId4" Target="../media/image88.png" Type="http://schemas.openxmlformats.org/officeDocument/2006/relationships/image"/><Relationship Id="rId5" Target="../media/image89.svg" Type="http://schemas.openxmlformats.org/officeDocument/2006/relationships/image"/><Relationship Id="rId6" Target="../media/image90.png" Type="http://schemas.openxmlformats.org/officeDocument/2006/relationships/image"/><Relationship Id="rId7" Target="../media/image91.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3.png" Type="http://schemas.openxmlformats.org/officeDocument/2006/relationships/image"/><Relationship Id="rId4" Target="../media/image88.png" Type="http://schemas.openxmlformats.org/officeDocument/2006/relationships/image"/><Relationship Id="rId5" Target="../media/image89.svg" Type="http://schemas.openxmlformats.org/officeDocument/2006/relationships/image"/><Relationship Id="rId6" Target="../media/image90.png" Type="http://schemas.openxmlformats.org/officeDocument/2006/relationships/image"/><Relationship Id="rId7" Target="../media/image91.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3.png" Type="http://schemas.openxmlformats.org/officeDocument/2006/relationships/image"/><Relationship Id="rId4" Target="../media/image88.png" Type="http://schemas.openxmlformats.org/officeDocument/2006/relationships/image"/><Relationship Id="rId5" Target="../media/image89.svg" Type="http://schemas.openxmlformats.org/officeDocument/2006/relationships/image"/><Relationship Id="rId6" Target="../media/image90.png" Type="http://schemas.openxmlformats.org/officeDocument/2006/relationships/image"/><Relationship Id="rId7" Target="../media/image91.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2.png" Type="http://schemas.openxmlformats.org/officeDocument/2006/relationships/image"/></Relationships>
</file>

<file path=ppt/slides/slide1.xml><?xml version="1.0" encoding="utf-8"?>
<p:sld xmlns:p="http://schemas.openxmlformats.org/presentationml/2006/main" xmlns:a="http://schemas.openxmlformats.org/drawingml/2006/main">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4575627" y="399050"/>
            <a:ext cx="9136747" cy="913674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1E6">
                <a:alpha val="20784"/>
              </a:srgbClr>
            </a:soli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6512087" y="280664"/>
            <a:ext cx="1496071" cy="149607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2301673" y="1776736"/>
            <a:ext cx="1133246" cy="113324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AutoShape 11" id="11"/>
          <p:cNvSpPr/>
          <p:nvPr/>
        </p:nvSpPr>
        <p:spPr>
          <a:xfrm>
            <a:off x="6788134" y="7183449"/>
            <a:ext cx="4711731" cy="0"/>
          </a:xfrm>
          <a:prstGeom prst="line">
            <a:avLst/>
          </a:prstGeom>
          <a:ln cap="flat" w="47625">
            <a:solidFill>
              <a:srgbClr val="E44650"/>
            </a:solidFill>
            <a:prstDash val="solid"/>
            <a:headEnd type="none" len="sm" w="sm"/>
            <a:tailEnd type="none" len="sm" w="sm"/>
          </a:ln>
        </p:spPr>
      </p:sp>
      <p:grpSp>
        <p:nvGrpSpPr>
          <p:cNvPr name="Group 12" id="12"/>
          <p:cNvGrpSpPr/>
          <p:nvPr/>
        </p:nvGrpSpPr>
        <p:grpSpPr>
          <a:xfrm rot="0">
            <a:off x="5861522" y="7705176"/>
            <a:ext cx="6564955" cy="7088830"/>
            <a:chOff x="0" y="0"/>
            <a:chExt cx="812800" cy="877660"/>
          </a:xfrm>
        </p:grpSpPr>
        <p:sp>
          <p:nvSpPr>
            <p:cNvPr name="Freeform 13" id="13"/>
            <p:cNvSpPr/>
            <p:nvPr/>
          </p:nvSpPr>
          <p:spPr>
            <a:xfrm flipH="false" flipV="false" rot="0">
              <a:off x="0" y="0"/>
              <a:ext cx="812800" cy="877660"/>
            </a:xfrm>
            <a:custGeom>
              <a:avLst/>
              <a:gdLst/>
              <a:ahLst/>
              <a:cxnLst/>
              <a:rect r="r" b="b" t="t" l="l"/>
              <a:pathLst>
                <a:path h="877660" w="812800">
                  <a:moveTo>
                    <a:pt x="406400" y="0"/>
                  </a:moveTo>
                  <a:lnTo>
                    <a:pt x="812800" y="335236"/>
                  </a:lnTo>
                  <a:lnTo>
                    <a:pt x="657569" y="877660"/>
                  </a:lnTo>
                  <a:lnTo>
                    <a:pt x="155231" y="877660"/>
                  </a:lnTo>
                  <a:lnTo>
                    <a:pt x="0" y="335236"/>
                  </a:lnTo>
                  <a:lnTo>
                    <a:pt x="406400" y="0"/>
                  </a:lnTo>
                  <a:close/>
                </a:path>
              </a:pathLst>
            </a:custGeom>
            <a:solidFill>
              <a:srgbClr val="8C52FF"/>
            </a:solidFill>
          </p:spPr>
        </p:sp>
        <p:sp>
          <p:nvSpPr>
            <p:cNvPr name="TextBox 14" id="14"/>
            <p:cNvSpPr txBox="true"/>
            <p:nvPr/>
          </p:nvSpPr>
          <p:spPr>
            <a:xfrm>
              <a:off x="127000" y="162265"/>
              <a:ext cx="558800" cy="660542"/>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6016522" y="3071542"/>
            <a:ext cx="6409956" cy="3592794"/>
          </a:xfrm>
          <a:prstGeom prst="rect">
            <a:avLst/>
          </a:prstGeom>
        </p:spPr>
        <p:txBody>
          <a:bodyPr anchor="t" rtlCol="false" tIns="0" lIns="0" bIns="0" rIns="0">
            <a:spAutoFit/>
          </a:bodyPr>
          <a:lstStyle/>
          <a:p>
            <a:pPr algn="ctr">
              <a:lnSpc>
                <a:spcPts val="9647"/>
              </a:lnSpc>
              <a:spcBef>
                <a:spcPct val="0"/>
              </a:spcBef>
            </a:pPr>
            <a:r>
              <a:rPr lang="en-US" sz="6891">
                <a:solidFill>
                  <a:srgbClr val="000000"/>
                </a:solidFill>
                <a:latin typeface="League Spartan"/>
                <a:ea typeface="League Spartan"/>
                <a:cs typeface="League Spartan"/>
                <a:sym typeface="League Spartan"/>
              </a:rPr>
              <a:t>Appointment Scheduling Paltform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DF3F6"/>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8969422" y="3653029"/>
            <a:ext cx="6134188" cy="4695442"/>
          </a:xfrm>
          <a:custGeom>
            <a:avLst/>
            <a:gdLst/>
            <a:ahLst/>
            <a:cxnLst/>
            <a:rect r="r" b="b" t="t" l="l"/>
            <a:pathLst>
              <a:path h="4695442" w="6134188">
                <a:moveTo>
                  <a:pt x="0" y="0"/>
                </a:moveTo>
                <a:lnTo>
                  <a:pt x="6134188" y="0"/>
                </a:lnTo>
                <a:lnTo>
                  <a:pt x="6134188" y="4695442"/>
                </a:lnTo>
                <a:lnTo>
                  <a:pt x="0" y="46954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088845" y="4648542"/>
            <a:ext cx="2644695" cy="2641389"/>
          </a:xfrm>
          <a:custGeom>
            <a:avLst/>
            <a:gdLst/>
            <a:ahLst/>
            <a:cxnLst/>
            <a:rect r="r" b="b" t="t" l="l"/>
            <a:pathLst>
              <a:path h="2641389" w="2644695">
                <a:moveTo>
                  <a:pt x="0" y="0"/>
                </a:moveTo>
                <a:lnTo>
                  <a:pt x="2644694" y="0"/>
                </a:lnTo>
                <a:lnTo>
                  <a:pt x="2644694" y="2641388"/>
                </a:lnTo>
                <a:lnTo>
                  <a:pt x="0" y="2641388"/>
                </a:lnTo>
                <a:lnTo>
                  <a:pt x="0" y="0"/>
                </a:lnTo>
                <a:close/>
              </a:path>
            </a:pathLst>
          </a:custGeom>
          <a:blipFill>
            <a:blip r:embed="rId4"/>
            <a:stretch>
              <a:fillRect l="0" t="0" r="0" b="0"/>
            </a:stretch>
          </a:blipFill>
        </p:spPr>
      </p:sp>
      <p:grpSp>
        <p:nvGrpSpPr>
          <p:cNvPr name="Group 4" id="4"/>
          <p:cNvGrpSpPr/>
          <p:nvPr/>
        </p:nvGrpSpPr>
        <p:grpSpPr>
          <a:xfrm rot="0">
            <a:off x="10240771" y="4978355"/>
            <a:ext cx="2044790" cy="2044790"/>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520"/>
                </a:lnSpc>
              </a:pPr>
              <a:r>
                <a:rPr lang="en-US" sz="1800" b="true">
                  <a:solidFill>
                    <a:srgbClr val="000000"/>
                  </a:solidFill>
                  <a:latin typeface="DM Sans Bold"/>
                  <a:ea typeface="DM Sans Bold"/>
                  <a:cs typeface="DM Sans Bold"/>
                  <a:sym typeface="DM Sans Bold"/>
                </a:rPr>
                <a:t>Solution</a:t>
              </a:r>
            </a:p>
            <a:p>
              <a:pPr algn="ctr">
                <a:lnSpc>
                  <a:spcPts val="2520"/>
                </a:lnSpc>
              </a:pPr>
              <a:r>
                <a:rPr lang="en-US" b="true" sz="1800">
                  <a:solidFill>
                    <a:srgbClr val="000000"/>
                  </a:solidFill>
                  <a:latin typeface="DM Sans Bold"/>
                  <a:ea typeface="DM Sans Bold"/>
                  <a:cs typeface="DM Sans Bold"/>
                  <a:sym typeface="DM Sans Bold"/>
                </a:rPr>
                <a:t>Approach</a:t>
              </a:r>
            </a:p>
          </p:txBody>
        </p:sp>
      </p:grpSp>
      <p:sp>
        <p:nvSpPr>
          <p:cNvPr name="Freeform 7" id="7"/>
          <p:cNvSpPr/>
          <p:nvPr/>
        </p:nvSpPr>
        <p:spPr>
          <a:xfrm flipH="false" flipV="true" rot="5400000">
            <a:off x="3185877" y="3653029"/>
            <a:ext cx="6134188" cy="4695442"/>
          </a:xfrm>
          <a:custGeom>
            <a:avLst/>
            <a:gdLst/>
            <a:ahLst/>
            <a:cxnLst/>
            <a:rect r="r" b="b" t="t" l="l"/>
            <a:pathLst>
              <a:path h="4695442" w="6134188">
                <a:moveTo>
                  <a:pt x="0" y="4695442"/>
                </a:moveTo>
                <a:lnTo>
                  <a:pt x="6134188" y="4695442"/>
                </a:lnTo>
                <a:lnTo>
                  <a:pt x="6134188" y="0"/>
                </a:lnTo>
                <a:lnTo>
                  <a:pt x="0" y="0"/>
                </a:lnTo>
                <a:lnTo>
                  <a:pt x="0" y="4695442"/>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5550831" y="4648542"/>
            <a:ext cx="2644695" cy="2641389"/>
          </a:xfrm>
          <a:custGeom>
            <a:avLst/>
            <a:gdLst/>
            <a:ahLst/>
            <a:cxnLst/>
            <a:rect r="r" b="b" t="t" l="l"/>
            <a:pathLst>
              <a:path h="2641389" w="2644695">
                <a:moveTo>
                  <a:pt x="0" y="0"/>
                </a:moveTo>
                <a:lnTo>
                  <a:pt x="2644694" y="0"/>
                </a:lnTo>
                <a:lnTo>
                  <a:pt x="2644694" y="2641388"/>
                </a:lnTo>
                <a:lnTo>
                  <a:pt x="0" y="2641388"/>
                </a:lnTo>
                <a:lnTo>
                  <a:pt x="0" y="0"/>
                </a:lnTo>
                <a:close/>
              </a:path>
            </a:pathLst>
          </a:custGeom>
          <a:blipFill>
            <a:blip r:embed="rId4"/>
            <a:stretch>
              <a:fillRect l="0" t="0" r="0" b="0"/>
            </a:stretch>
          </a:blipFill>
        </p:spPr>
      </p:sp>
      <p:grpSp>
        <p:nvGrpSpPr>
          <p:cNvPr name="Group 9" id="9"/>
          <p:cNvGrpSpPr/>
          <p:nvPr/>
        </p:nvGrpSpPr>
        <p:grpSpPr>
          <a:xfrm rot="0">
            <a:off x="6003927" y="4978355"/>
            <a:ext cx="2044790" cy="204479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520"/>
                </a:lnSpc>
              </a:pPr>
              <a:r>
                <a:rPr lang="en-US" sz="1800" b="true">
                  <a:solidFill>
                    <a:srgbClr val="000000"/>
                  </a:solidFill>
                  <a:latin typeface="DM Sans Bold"/>
                  <a:ea typeface="DM Sans Bold"/>
                  <a:cs typeface="DM Sans Bold"/>
                  <a:sym typeface="DM Sans Bold"/>
                </a:rPr>
                <a:t>Problem </a:t>
              </a:r>
            </a:p>
            <a:p>
              <a:pPr algn="ctr">
                <a:lnSpc>
                  <a:spcPts val="2520"/>
                </a:lnSpc>
              </a:pPr>
              <a:r>
                <a:rPr lang="en-US" b="true" sz="1800">
                  <a:solidFill>
                    <a:srgbClr val="000000"/>
                  </a:solidFill>
                  <a:latin typeface="DM Sans Bold"/>
                  <a:ea typeface="DM Sans Bold"/>
                  <a:cs typeface="DM Sans Bold"/>
                  <a:sym typeface="DM Sans Bold"/>
                </a:rPr>
                <a:t>Context</a:t>
              </a:r>
            </a:p>
          </p:txBody>
        </p:sp>
      </p:grpSp>
      <p:sp>
        <p:nvSpPr>
          <p:cNvPr name="Freeform 12" id="12"/>
          <p:cNvSpPr/>
          <p:nvPr/>
        </p:nvSpPr>
        <p:spPr>
          <a:xfrm flipH="false" flipV="false" rot="0">
            <a:off x="4579634" y="5501809"/>
            <a:ext cx="853267" cy="934854"/>
          </a:xfrm>
          <a:custGeom>
            <a:avLst/>
            <a:gdLst/>
            <a:ahLst/>
            <a:cxnLst/>
            <a:rect r="r" b="b" t="t" l="l"/>
            <a:pathLst>
              <a:path h="934854" w="853267">
                <a:moveTo>
                  <a:pt x="0" y="0"/>
                </a:moveTo>
                <a:lnTo>
                  <a:pt x="853267" y="0"/>
                </a:lnTo>
                <a:lnTo>
                  <a:pt x="853267" y="934854"/>
                </a:lnTo>
                <a:lnTo>
                  <a:pt x="0" y="93485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13" id="13"/>
          <p:cNvSpPr/>
          <p:nvPr/>
        </p:nvSpPr>
        <p:spPr>
          <a:xfrm flipH="false" flipV="false" rot="0">
            <a:off x="6989480" y="7478379"/>
            <a:ext cx="795295" cy="985163"/>
          </a:xfrm>
          <a:custGeom>
            <a:avLst/>
            <a:gdLst/>
            <a:ahLst/>
            <a:cxnLst/>
            <a:rect r="r" b="b" t="t" l="l"/>
            <a:pathLst>
              <a:path h="985163" w="795295">
                <a:moveTo>
                  <a:pt x="0" y="0"/>
                </a:moveTo>
                <a:lnTo>
                  <a:pt x="795296" y="0"/>
                </a:lnTo>
                <a:lnTo>
                  <a:pt x="795296" y="985163"/>
                </a:lnTo>
                <a:lnTo>
                  <a:pt x="0" y="98516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14" id="14"/>
          <p:cNvSpPr/>
          <p:nvPr/>
        </p:nvSpPr>
        <p:spPr>
          <a:xfrm flipH="false" flipV="false" rot="0">
            <a:off x="10497576" y="3537502"/>
            <a:ext cx="875900" cy="985163"/>
          </a:xfrm>
          <a:custGeom>
            <a:avLst/>
            <a:gdLst/>
            <a:ahLst/>
            <a:cxnLst/>
            <a:rect r="r" b="b" t="t" l="l"/>
            <a:pathLst>
              <a:path h="985163" w="875900">
                <a:moveTo>
                  <a:pt x="0" y="0"/>
                </a:moveTo>
                <a:lnTo>
                  <a:pt x="875900" y="0"/>
                </a:lnTo>
                <a:lnTo>
                  <a:pt x="875900" y="985163"/>
                </a:lnTo>
                <a:lnTo>
                  <a:pt x="0" y="98516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15" id="15"/>
          <p:cNvSpPr/>
          <p:nvPr/>
        </p:nvSpPr>
        <p:spPr>
          <a:xfrm flipH="false" flipV="false" rot="0">
            <a:off x="12852903" y="5583474"/>
            <a:ext cx="823094" cy="809625"/>
          </a:xfrm>
          <a:custGeom>
            <a:avLst/>
            <a:gdLst/>
            <a:ahLst/>
            <a:cxnLst/>
            <a:rect r="r" b="b" t="t" l="l"/>
            <a:pathLst>
              <a:path h="809625" w="823094">
                <a:moveTo>
                  <a:pt x="0" y="0"/>
                </a:moveTo>
                <a:lnTo>
                  <a:pt x="823094" y="0"/>
                </a:lnTo>
                <a:lnTo>
                  <a:pt x="823094" y="809625"/>
                </a:lnTo>
                <a:lnTo>
                  <a:pt x="0" y="80962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6" id="16"/>
          <p:cNvSpPr/>
          <p:nvPr/>
        </p:nvSpPr>
        <p:spPr>
          <a:xfrm flipH="false" flipV="false" rot="0">
            <a:off x="6956144" y="3537502"/>
            <a:ext cx="861968" cy="985619"/>
          </a:xfrm>
          <a:custGeom>
            <a:avLst/>
            <a:gdLst/>
            <a:ahLst/>
            <a:cxnLst/>
            <a:rect r="r" b="b" t="t" l="l"/>
            <a:pathLst>
              <a:path h="985619" w="861968">
                <a:moveTo>
                  <a:pt x="0" y="0"/>
                </a:moveTo>
                <a:lnTo>
                  <a:pt x="861968" y="0"/>
                </a:lnTo>
                <a:lnTo>
                  <a:pt x="861968" y="985619"/>
                </a:lnTo>
                <a:lnTo>
                  <a:pt x="0" y="98561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7" id="17"/>
          <p:cNvSpPr/>
          <p:nvPr/>
        </p:nvSpPr>
        <p:spPr>
          <a:xfrm flipH="false" flipV="false" rot="0">
            <a:off x="10462196" y="7490341"/>
            <a:ext cx="946659" cy="973201"/>
          </a:xfrm>
          <a:custGeom>
            <a:avLst/>
            <a:gdLst/>
            <a:ahLst/>
            <a:cxnLst/>
            <a:rect r="r" b="b" t="t" l="l"/>
            <a:pathLst>
              <a:path h="973201" w="946659">
                <a:moveTo>
                  <a:pt x="0" y="0"/>
                </a:moveTo>
                <a:lnTo>
                  <a:pt x="946659" y="0"/>
                </a:lnTo>
                <a:lnTo>
                  <a:pt x="946659" y="973201"/>
                </a:lnTo>
                <a:lnTo>
                  <a:pt x="0" y="973201"/>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18" id="18"/>
          <p:cNvSpPr txBox="true"/>
          <p:nvPr/>
        </p:nvSpPr>
        <p:spPr>
          <a:xfrm rot="0">
            <a:off x="3781425" y="952500"/>
            <a:ext cx="10864072" cy="682556"/>
          </a:xfrm>
          <a:prstGeom prst="rect">
            <a:avLst/>
          </a:prstGeom>
        </p:spPr>
        <p:txBody>
          <a:bodyPr anchor="t" rtlCol="false" tIns="0" lIns="0" bIns="0" rIns="0">
            <a:spAutoFit/>
          </a:bodyPr>
          <a:lstStyle/>
          <a:p>
            <a:pPr algn="ctr">
              <a:lnSpc>
                <a:spcPts val="5589"/>
              </a:lnSpc>
              <a:spcBef>
                <a:spcPct val="0"/>
              </a:spcBef>
            </a:pPr>
            <a:r>
              <a:rPr lang="en-US" b="true" sz="3992">
                <a:solidFill>
                  <a:srgbClr val="000000"/>
                </a:solidFill>
                <a:latin typeface="DM Sans Bold"/>
                <a:ea typeface="DM Sans Bold"/>
                <a:cs typeface="DM Sans Bold"/>
                <a:sym typeface="DM Sans Bold"/>
              </a:rPr>
              <a:t>Problem Statement</a:t>
            </a:r>
          </a:p>
        </p:txBody>
      </p:sp>
      <p:sp>
        <p:nvSpPr>
          <p:cNvPr name="TextBox 19" id="19"/>
          <p:cNvSpPr txBox="true"/>
          <p:nvPr/>
        </p:nvSpPr>
        <p:spPr>
          <a:xfrm rot="0">
            <a:off x="8313455" y="5508307"/>
            <a:ext cx="1661090" cy="880111"/>
          </a:xfrm>
          <a:prstGeom prst="rect">
            <a:avLst/>
          </a:prstGeom>
        </p:spPr>
        <p:txBody>
          <a:bodyPr anchor="t" rtlCol="false" tIns="0" lIns="0" bIns="0" rIns="0">
            <a:spAutoFit/>
          </a:bodyPr>
          <a:lstStyle/>
          <a:p>
            <a:pPr algn="ctr">
              <a:lnSpc>
                <a:spcPts val="7139"/>
              </a:lnSpc>
              <a:spcBef>
                <a:spcPct val="0"/>
              </a:spcBef>
            </a:pPr>
            <a:r>
              <a:rPr lang="en-US" b="true" sz="5099">
                <a:solidFill>
                  <a:srgbClr val="000000"/>
                </a:solidFill>
                <a:latin typeface="DM Sans Bold"/>
                <a:ea typeface="DM Sans Bold"/>
                <a:cs typeface="DM Sans Bold"/>
                <a:sym typeface="DM Sans Bold"/>
              </a:rPr>
              <a:t>vs</a:t>
            </a:r>
          </a:p>
        </p:txBody>
      </p:sp>
      <p:sp>
        <p:nvSpPr>
          <p:cNvPr name="TextBox 20" id="20"/>
          <p:cNvSpPr txBox="true"/>
          <p:nvPr/>
        </p:nvSpPr>
        <p:spPr>
          <a:xfrm rot="0">
            <a:off x="12416029" y="3471184"/>
            <a:ext cx="3760786" cy="621030"/>
          </a:xfrm>
          <a:prstGeom prst="rect">
            <a:avLst/>
          </a:prstGeom>
        </p:spPr>
        <p:txBody>
          <a:bodyPr anchor="t" rtlCol="false" tIns="0" lIns="0" bIns="0" rIns="0">
            <a:spAutoFit/>
          </a:bodyPr>
          <a:lstStyle/>
          <a:p>
            <a:pPr algn="l">
              <a:lnSpc>
                <a:spcPts val="2520"/>
              </a:lnSpc>
            </a:pPr>
            <a:r>
              <a:rPr lang="en-US" sz="1800" b="true">
                <a:solidFill>
                  <a:srgbClr val="000000"/>
                </a:solidFill>
                <a:latin typeface="DM Sans Bold"/>
                <a:ea typeface="DM Sans Bold"/>
                <a:cs typeface="DM Sans Bold"/>
                <a:sym typeface="DM Sans Bold"/>
              </a:rPr>
              <a:t>Auto</a:t>
            </a:r>
            <a:r>
              <a:rPr lang="en-US" sz="1800" b="true">
                <a:solidFill>
                  <a:srgbClr val="000000"/>
                </a:solidFill>
                <a:latin typeface="DM Sans Bold"/>
                <a:ea typeface="DM Sans Bold"/>
                <a:cs typeface="DM Sans Bold"/>
                <a:sym typeface="DM Sans Bold"/>
              </a:rPr>
              <a:t>nomous Trust &amp; Verification</a:t>
            </a:r>
          </a:p>
          <a:p>
            <a:pPr algn="l" marL="0" indent="0" lvl="0">
              <a:lnSpc>
                <a:spcPts val="2520"/>
              </a:lnSpc>
              <a:spcBef>
                <a:spcPct val="0"/>
              </a:spcBef>
            </a:pPr>
          </a:p>
        </p:txBody>
      </p:sp>
      <p:sp>
        <p:nvSpPr>
          <p:cNvPr name="TextBox 21" id="21"/>
          <p:cNvSpPr txBox="true"/>
          <p:nvPr/>
        </p:nvSpPr>
        <p:spPr>
          <a:xfrm rot="0">
            <a:off x="2238375" y="3785509"/>
            <a:ext cx="3821853" cy="306705"/>
          </a:xfrm>
          <a:prstGeom prst="rect">
            <a:avLst/>
          </a:prstGeom>
        </p:spPr>
        <p:txBody>
          <a:bodyPr anchor="t" rtlCol="false" tIns="0" lIns="0" bIns="0" rIns="0">
            <a:spAutoFit/>
          </a:bodyPr>
          <a:lstStyle/>
          <a:p>
            <a:pPr algn="r" marL="0" indent="0" lvl="0">
              <a:lnSpc>
                <a:spcPts val="2520"/>
              </a:lnSpc>
              <a:spcBef>
                <a:spcPct val="0"/>
              </a:spcBef>
            </a:pPr>
            <a:r>
              <a:rPr lang="en-US" b="true" sz="1800">
                <a:solidFill>
                  <a:srgbClr val="000000"/>
                </a:solidFill>
                <a:latin typeface="DM Sans Bold"/>
                <a:ea typeface="DM Sans Bold"/>
                <a:cs typeface="DM Sans Bold"/>
                <a:sym typeface="DM Sans Bold"/>
              </a:rPr>
              <a:t>Manually I</a:t>
            </a:r>
            <a:r>
              <a:rPr lang="en-US" b="true" sz="1800">
                <a:solidFill>
                  <a:srgbClr val="000000"/>
                </a:solidFill>
                <a:latin typeface="DM Sans Bold"/>
                <a:ea typeface="DM Sans Bold"/>
                <a:cs typeface="DM Sans Bold"/>
                <a:sym typeface="DM Sans Bold"/>
              </a:rPr>
              <a:t>ntensive Onboarding</a:t>
            </a:r>
          </a:p>
        </p:txBody>
      </p:sp>
      <p:sp>
        <p:nvSpPr>
          <p:cNvPr name="TextBox 22" id="22"/>
          <p:cNvSpPr txBox="true"/>
          <p:nvPr/>
        </p:nvSpPr>
        <p:spPr>
          <a:xfrm rot="0">
            <a:off x="12516750" y="7798558"/>
            <a:ext cx="3559344" cy="306705"/>
          </a:xfrm>
          <a:prstGeom prst="rect">
            <a:avLst/>
          </a:prstGeom>
        </p:spPr>
        <p:txBody>
          <a:bodyPr anchor="t" rtlCol="false" tIns="0" lIns="0" bIns="0" rIns="0">
            <a:spAutoFit/>
          </a:bodyPr>
          <a:lstStyle/>
          <a:p>
            <a:pPr algn="l" marL="0" indent="0" lvl="0">
              <a:lnSpc>
                <a:spcPts val="2520"/>
              </a:lnSpc>
              <a:spcBef>
                <a:spcPct val="0"/>
              </a:spcBef>
            </a:pPr>
            <a:r>
              <a:rPr lang="en-US" b="true" sz="1800">
                <a:solidFill>
                  <a:srgbClr val="000000"/>
                </a:solidFill>
                <a:latin typeface="DM Sans Bold"/>
                <a:ea typeface="DM Sans Bold"/>
                <a:cs typeface="DM Sans Bold"/>
                <a:sym typeface="DM Sans Bold"/>
              </a:rPr>
              <a:t>Proper roles Management</a:t>
            </a:r>
          </a:p>
        </p:txBody>
      </p:sp>
      <p:sp>
        <p:nvSpPr>
          <p:cNvPr name="TextBox 23" id="23"/>
          <p:cNvSpPr txBox="true"/>
          <p:nvPr/>
        </p:nvSpPr>
        <p:spPr>
          <a:xfrm rot="0">
            <a:off x="2065409" y="8036759"/>
            <a:ext cx="3994818" cy="306705"/>
          </a:xfrm>
          <a:prstGeom prst="rect">
            <a:avLst/>
          </a:prstGeom>
        </p:spPr>
        <p:txBody>
          <a:bodyPr anchor="t" rtlCol="false" tIns="0" lIns="0" bIns="0" rIns="0">
            <a:spAutoFit/>
          </a:bodyPr>
          <a:lstStyle/>
          <a:p>
            <a:pPr algn="r" marL="0" indent="0" lvl="0">
              <a:lnSpc>
                <a:spcPts val="2520"/>
              </a:lnSpc>
              <a:spcBef>
                <a:spcPct val="0"/>
              </a:spcBef>
            </a:pPr>
            <a:r>
              <a:rPr lang="en-US" b="true" sz="1800">
                <a:solidFill>
                  <a:srgbClr val="000000"/>
                </a:solidFill>
                <a:latin typeface="DM Sans Bold"/>
                <a:ea typeface="DM Sans Bold"/>
                <a:cs typeface="DM Sans Bold"/>
                <a:sym typeface="DM Sans Bold"/>
              </a:rPr>
              <a:t>High Admi</a:t>
            </a:r>
            <a:r>
              <a:rPr lang="en-US" b="true" sz="1800">
                <a:solidFill>
                  <a:srgbClr val="000000"/>
                </a:solidFill>
                <a:latin typeface="DM Sans Bold"/>
                <a:ea typeface="DM Sans Bold"/>
                <a:cs typeface="DM Sans Bold"/>
                <a:sym typeface="DM Sans Bold"/>
              </a:rPr>
              <a:t>nistrative Overhead</a:t>
            </a:r>
          </a:p>
        </p:txBody>
      </p:sp>
      <p:sp>
        <p:nvSpPr>
          <p:cNvPr name="TextBox 24" id="24"/>
          <p:cNvSpPr txBox="true"/>
          <p:nvPr/>
        </p:nvSpPr>
        <p:spPr>
          <a:xfrm rot="0">
            <a:off x="14508062" y="5767388"/>
            <a:ext cx="3600450" cy="621030"/>
          </a:xfrm>
          <a:prstGeom prst="rect">
            <a:avLst/>
          </a:prstGeom>
        </p:spPr>
        <p:txBody>
          <a:bodyPr anchor="t" rtlCol="false" tIns="0" lIns="0" bIns="0" rIns="0">
            <a:spAutoFit/>
          </a:bodyPr>
          <a:lstStyle/>
          <a:p>
            <a:pPr algn="l">
              <a:lnSpc>
                <a:spcPts val="2520"/>
              </a:lnSpc>
            </a:pPr>
            <a:r>
              <a:rPr lang="en-US" sz="1800" b="true">
                <a:solidFill>
                  <a:srgbClr val="000000"/>
                </a:solidFill>
                <a:latin typeface="DM Sans Bold"/>
                <a:ea typeface="DM Sans Bold"/>
                <a:cs typeface="DM Sans Bold"/>
                <a:sym typeface="DM Sans Bold"/>
              </a:rPr>
              <a:t>RAG AI Conversati</a:t>
            </a:r>
            <a:r>
              <a:rPr lang="en-US" sz="1800" b="true">
                <a:solidFill>
                  <a:srgbClr val="000000"/>
                </a:solidFill>
                <a:latin typeface="DM Sans Bold"/>
                <a:ea typeface="DM Sans Bold"/>
                <a:cs typeface="DM Sans Bold"/>
                <a:sym typeface="DM Sans Bold"/>
              </a:rPr>
              <a:t>onal Assistant</a:t>
            </a:r>
          </a:p>
          <a:p>
            <a:pPr algn="l" marL="0" indent="0" lvl="0">
              <a:lnSpc>
                <a:spcPts val="2520"/>
              </a:lnSpc>
              <a:spcBef>
                <a:spcPct val="0"/>
              </a:spcBef>
            </a:pPr>
          </a:p>
        </p:txBody>
      </p:sp>
      <p:sp>
        <p:nvSpPr>
          <p:cNvPr name="TextBox 25" id="25"/>
          <p:cNvSpPr txBox="true"/>
          <p:nvPr/>
        </p:nvSpPr>
        <p:spPr>
          <a:xfrm rot="0">
            <a:off x="154291" y="5828348"/>
            <a:ext cx="3627134" cy="306705"/>
          </a:xfrm>
          <a:prstGeom prst="rect">
            <a:avLst/>
          </a:prstGeom>
        </p:spPr>
        <p:txBody>
          <a:bodyPr anchor="t" rtlCol="false" tIns="0" lIns="0" bIns="0" rIns="0">
            <a:spAutoFit/>
          </a:bodyPr>
          <a:lstStyle/>
          <a:p>
            <a:pPr algn="r" marL="0" indent="0" lvl="0">
              <a:lnSpc>
                <a:spcPts val="2520"/>
              </a:lnSpc>
              <a:spcBef>
                <a:spcPct val="0"/>
              </a:spcBef>
            </a:pPr>
            <a:r>
              <a:rPr lang="en-US" b="true" sz="1800">
                <a:solidFill>
                  <a:srgbClr val="000000"/>
                </a:solidFill>
                <a:latin typeface="DM Sans Bold"/>
                <a:ea typeface="DM Sans Bold"/>
                <a:cs typeface="DM Sans Bold"/>
                <a:sym typeface="DM Sans Bold"/>
              </a:rPr>
              <a:t>Rigid Res</a:t>
            </a:r>
            <a:r>
              <a:rPr lang="en-US" b="true" sz="1800">
                <a:solidFill>
                  <a:srgbClr val="000000"/>
                </a:solidFill>
                <a:latin typeface="DM Sans Bold"/>
                <a:ea typeface="DM Sans Bold"/>
                <a:cs typeface="DM Sans Bold"/>
                <a:sym typeface="DM Sans Bold"/>
              </a:rPr>
              <a:t>ervation Systems</a:t>
            </a:r>
          </a:p>
        </p:txBody>
      </p:sp>
      <p:sp>
        <p:nvSpPr>
          <p:cNvPr name="AutoShape 26" id="26"/>
          <p:cNvSpPr/>
          <p:nvPr/>
        </p:nvSpPr>
        <p:spPr>
          <a:xfrm>
            <a:off x="5967341" y="2028781"/>
            <a:ext cx="6492240" cy="0"/>
          </a:xfrm>
          <a:prstGeom prst="line">
            <a:avLst/>
          </a:prstGeom>
          <a:ln cap="flat" w="38100">
            <a:solidFill>
              <a:srgbClr val="E44650"/>
            </a:solidFill>
            <a:prstDash val="solid"/>
            <a:headEnd type="none" len="sm" w="sm"/>
            <a:tailEnd type="none" len="sm" w="sm"/>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DF3F6"/>
        </a:solidFill>
      </p:bgPr>
    </p:bg>
    <p:spTree>
      <p:nvGrpSpPr>
        <p:cNvPr id="1" name=""/>
        <p:cNvGrpSpPr/>
        <p:nvPr/>
      </p:nvGrpSpPr>
      <p:grpSpPr>
        <a:xfrm>
          <a:off x="0" y="0"/>
          <a:ext cx="0" cy="0"/>
          <a:chOff x="0" y="0"/>
          <a:chExt cx="0" cy="0"/>
        </a:xfrm>
      </p:grpSpPr>
      <p:sp>
        <p:nvSpPr>
          <p:cNvPr name="Freeform 2" id="2"/>
          <p:cNvSpPr/>
          <p:nvPr/>
        </p:nvSpPr>
        <p:spPr>
          <a:xfrm flipH="false" flipV="false" rot="0">
            <a:off x="5570007" y="3684089"/>
            <a:ext cx="3124986" cy="357953"/>
          </a:xfrm>
          <a:custGeom>
            <a:avLst/>
            <a:gdLst/>
            <a:ahLst/>
            <a:cxnLst/>
            <a:rect r="r" b="b" t="t" l="l"/>
            <a:pathLst>
              <a:path h="357953" w="3124986">
                <a:moveTo>
                  <a:pt x="0" y="0"/>
                </a:moveTo>
                <a:lnTo>
                  <a:pt x="3124987" y="0"/>
                </a:lnTo>
                <a:lnTo>
                  <a:pt x="3124987" y="357953"/>
                </a:lnTo>
                <a:lnTo>
                  <a:pt x="0" y="357953"/>
                </a:lnTo>
                <a:lnTo>
                  <a:pt x="0" y="0"/>
                </a:lnTo>
                <a:close/>
              </a:path>
            </a:pathLst>
          </a:custGeom>
          <a:blipFill>
            <a:blip r:embed="rId2">
              <a:alphaModFix amt="46000"/>
            </a:blip>
            <a:stretch>
              <a:fillRect l="0" t="0" r="0" b="0"/>
            </a:stretch>
          </a:blipFill>
        </p:spPr>
      </p:sp>
      <p:sp>
        <p:nvSpPr>
          <p:cNvPr name="Freeform 3" id="3"/>
          <p:cNvSpPr/>
          <p:nvPr/>
        </p:nvSpPr>
        <p:spPr>
          <a:xfrm flipH="false" flipV="false" rot="0">
            <a:off x="3978298" y="8515451"/>
            <a:ext cx="3124986" cy="357953"/>
          </a:xfrm>
          <a:custGeom>
            <a:avLst/>
            <a:gdLst/>
            <a:ahLst/>
            <a:cxnLst/>
            <a:rect r="r" b="b" t="t" l="l"/>
            <a:pathLst>
              <a:path h="357953" w="3124986">
                <a:moveTo>
                  <a:pt x="0" y="0"/>
                </a:moveTo>
                <a:lnTo>
                  <a:pt x="3124986" y="0"/>
                </a:lnTo>
                <a:lnTo>
                  <a:pt x="3124986" y="357953"/>
                </a:lnTo>
                <a:lnTo>
                  <a:pt x="0" y="357953"/>
                </a:lnTo>
                <a:lnTo>
                  <a:pt x="0" y="0"/>
                </a:lnTo>
                <a:close/>
              </a:path>
            </a:pathLst>
          </a:custGeom>
          <a:blipFill>
            <a:blip r:embed="rId2">
              <a:alphaModFix amt="46000"/>
            </a:blip>
            <a:stretch>
              <a:fillRect l="0" t="0" r="0" b="0"/>
            </a:stretch>
          </a:blipFill>
        </p:spPr>
      </p:sp>
      <p:sp>
        <p:nvSpPr>
          <p:cNvPr name="Freeform 4" id="4"/>
          <p:cNvSpPr/>
          <p:nvPr/>
        </p:nvSpPr>
        <p:spPr>
          <a:xfrm flipH="false" flipV="false" rot="0">
            <a:off x="12609665" y="8515451"/>
            <a:ext cx="3124986" cy="357953"/>
          </a:xfrm>
          <a:custGeom>
            <a:avLst/>
            <a:gdLst/>
            <a:ahLst/>
            <a:cxnLst/>
            <a:rect r="r" b="b" t="t" l="l"/>
            <a:pathLst>
              <a:path h="357953" w="3124986">
                <a:moveTo>
                  <a:pt x="0" y="0"/>
                </a:moveTo>
                <a:lnTo>
                  <a:pt x="3124986" y="0"/>
                </a:lnTo>
                <a:lnTo>
                  <a:pt x="3124986" y="357953"/>
                </a:lnTo>
                <a:lnTo>
                  <a:pt x="0" y="357953"/>
                </a:lnTo>
                <a:lnTo>
                  <a:pt x="0" y="0"/>
                </a:lnTo>
                <a:close/>
              </a:path>
            </a:pathLst>
          </a:custGeom>
          <a:blipFill>
            <a:blip r:embed="rId2">
              <a:alphaModFix amt="46000"/>
            </a:blip>
            <a:stretch>
              <a:fillRect l="0" t="0" r="0" b="0"/>
            </a:stretch>
          </a:blipFill>
        </p:spPr>
      </p:sp>
      <p:sp>
        <p:nvSpPr>
          <p:cNvPr name="Freeform 5" id="5"/>
          <p:cNvSpPr/>
          <p:nvPr/>
        </p:nvSpPr>
        <p:spPr>
          <a:xfrm flipH="false" flipV="false" rot="0">
            <a:off x="14227332" y="3684089"/>
            <a:ext cx="3124986" cy="357953"/>
          </a:xfrm>
          <a:custGeom>
            <a:avLst/>
            <a:gdLst/>
            <a:ahLst/>
            <a:cxnLst/>
            <a:rect r="r" b="b" t="t" l="l"/>
            <a:pathLst>
              <a:path h="357953" w="3124986">
                <a:moveTo>
                  <a:pt x="0" y="0"/>
                </a:moveTo>
                <a:lnTo>
                  <a:pt x="3124986" y="0"/>
                </a:lnTo>
                <a:lnTo>
                  <a:pt x="3124986" y="357953"/>
                </a:lnTo>
                <a:lnTo>
                  <a:pt x="0" y="357953"/>
                </a:lnTo>
                <a:lnTo>
                  <a:pt x="0" y="0"/>
                </a:lnTo>
                <a:close/>
              </a:path>
            </a:pathLst>
          </a:custGeom>
          <a:blipFill>
            <a:blip r:embed="rId2">
              <a:alphaModFix amt="46000"/>
            </a:blip>
            <a:stretch>
              <a:fillRect l="0" t="0" r="0" b="0"/>
            </a:stretch>
          </a:blipFill>
        </p:spPr>
      </p:sp>
      <p:sp>
        <p:nvSpPr>
          <p:cNvPr name="Freeform 6" id="6"/>
          <p:cNvSpPr/>
          <p:nvPr/>
        </p:nvSpPr>
        <p:spPr>
          <a:xfrm flipH="true" flipV="false" rot="-5400000">
            <a:off x="7639209" y="1870719"/>
            <a:ext cx="6117126" cy="6545562"/>
          </a:xfrm>
          <a:custGeom>
            <a:avLst/>
            <a:gdLst/>
            <a:ahLst/>
            <a:cxnLst/>
            <a:rect r="r" b="b" t="t" l="l"/>
            <a:pathLst>
              <a:path h="6545562" w="6117126">
                <a:moveTo>
                  <a:pt x="6117126" y="0"/>
                </a:moveTo>
                <a:lnTo>
                  <a:pt x="0" y="0"/>
                </a:lnTo>
                <a:lnTo>
                  <a:pt x="0" y="6545562"/>
                </a:lnTo>
                <a:lnTo>
                  <a:pt x="6117126" y="6545562"/>
                </a:lnTo>
                <a:lnTo>
                  <a:pt x="6117126"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5586825" y="1592572"/>
            <a:ext cx="3108168" cy="2270494"/>
            <a:chOff x="0" y="0"/>
            <a:chExt cx="818612" cy="597990"/>
          </a:xfrm>
        </p:grpSpPr>
        <p:sp>
          <p:nvSpPr>
            <p:cNvPr name="Freeform 8" id="8"/>
            <p:cNvSpPr/>
            <p:nvPr/>
          </p:nvSpPr>
          <p:spPr>
            <a:xfrm flipH="false" flipV="false" rot="0">
              <a:off x="0" y="0"/>
              <a:ext cx="818612" cy="597990"/>
            </a:xfrm>
            <a:custGeom>
              <a:avLst/>
              <a:gdLst/>
              <a:ahLst/>
              <a:cxnLst/>
              <a:rect r="r" b="b" t="t" l="l"/>
              <a:pathLst>
                <a:path h="597990" w="818612">
                  <a:moveTo>
                    <a:pt x="0" y="0"/>
                  </a:moveTo>
                  <a:lnTo>
                    <a:pt x="818612" y="0"/>
                  </a:lnTo>
                  <a:lnTo>
                    <a:pt x="818612" y="597990"/>
                  </a:lnTo>
                  <a:lnTo>
                    <a:pt x="0" y="597990"/>
                  </a:lnTo>
                  <a:close/>
                </a:path>
              </a:pathLst>
            </a:custGeom>
            <a:solidFill>
              <a:srgbClr val="FFFFFF"/>
            </a:solidFill>
          </p:spPr>
        </p:sp>
        <p:sp>
          <p:nvSpPr>
            <p:cNvPr name="TextBox 9" id="9"/>
            <p:cNvSpPr txBox="true"/>
            <p:nvPr/>
          </p:nvSpPr>
          <p:spPr>
            <a:xfrm>
              <a:off x="0" y="-38100"/>
              <a:ext cx="818612" cy="636090"/>
            </a:xfrm>
            <a:prstGeom prst="rect">
              <a:avLst/>
            </a:prstGeom>
          </p:spPr>
          <p:txBody>
            <a:bodyPr anchor="ctr" rtlCol="false" tIns="50800" lIns="50800" bIns="50800" rIns="50800"/>
            <a:lstStyle/>
            <a:p>
              <a:pPr algn="ctr">
                <a:lnSpc>
                  <a:spcPts val="2520"/>
                </a:lnSpc>
              </a:pPr>
            </a:p>
          </p:txBody>
        </p:sp>
      </p:grpSp>
      <p:grpSp>
        <p:nvGrpSpPr>
          <p:cNvPr name="Group 10" id="10"/>
          <p:cNvGrpSpPr/>
          <p:nvPr/>
        </p:nvGrpSpPr>
        <p:grpSpPr>
          <a:xfrm rot="0">
            <a:off x="14227332" y="1592572"/>
            <a:ext cx="3293082" cy="2270494"/>
            <a:chOff x="0" y="0"/>
            <a:chExt cx="867314" cy="597990"/>
          </a:xfrm>
        </p:grpSpPr>
        <p:sp>
          <p:nvSpPr>
            <p:cNvPr name="Freeform 11" id="11"/>
            <p:cNvSpPr/>
            <p:nvPr/>
          </p:nvSpPr>
          <p:spPr>
            <a:xfrm flipH="false" flipV="false" rot="0">
              <a:off x="0" y="0"/>
              <a:ext cx="867314" cy="597990"/>
            </a:xfrm>
            <a:custGeom>
              <a:avLst/>
              <a:gdLst/>
              <a:ahLst/>
              <a:cxnLst/>
              <a:rect r="r" b="b" t="t" l="l"/>
              <a:pathLst>
                <a:path h="597990" w="867314">
                  <a:moveTo>
                    <a:pt x="0" y="0"/>
                  </a:moveTo>
                  <a:lnTo>
                    <a:pt x="867314" y="0"/>
                  </a:lnTo>
                  <a:lnTo>
                    <a:pt x="867314" y="597990"/>
                  </a:lnTo>
                  <a:lnTo>
                    <a:pt x="0" y="597990"/>
                  </a:lnTo>
                  <a:close/>
                </a:path>
              </a:pathLst>
            </a:custGeom>
            <a:solidFill>
              <a:srgbClr val="FFFFFF"/>
            </a:solidFill>
          </p:spPr>
        </p:sp>
        <p:sp>
          <p:nvSpPr>
            <p:cNvPr name="TextBox 12" id="12"/>
            <p:cNvSpPr txBox="true"/>
            <p:nvPr/>
          </p:nvSpPr>
          <p:spPr>
            <a:xfrm>
              <a:off x="0" y="-38100"/>
              <a:ext cx="867314" cy="636090"/>
            </a:xfrm>
            <a:prstGeom prst="rect">
              <a:avLst/>
            </a:prstGeom>
          </p:spPr>
          <p:txBody>
            <a:bodyPr anchor="ctr" rtlCol="false" tIns="50800" lIns="50800" bIns="50800" rIns="50800"/>
            <a:lstStyle/>
            <a:p>
              <a:pPr algn="ctr">
                <a:lnSpc>
                  <a:spcPts val="2520"/>
                </a:lnSpc>
              </a:pPr>
            </a:p>
          </p:txBody>
        </p:sp>
      </p:grpSp>
      <p:grpSp>
        <p:nvGrpSpPr>
          <p:cNvPr name="Group 13" id="13"/>
          <p:cNvGrpSpPr/>
          <p:nvPr/>
        </p:nvGrpSpPr>
        <p:grpSpPr>
          <a:xfrm rot="0">
            <a:off x="3978298" y="6423934"/>
            <a:ext cx="3108168" cy="2270494"/>
            <a:chOff x="0" y="0"/>
            <a:chExt cx="818612" cy="597990"/>
          </a:xfrm>
        </p:grpSpPr>
        <p:sp>
          <p:nvSpPr>
            <p:cNvPr name="Freeform 14" id="14"/>
            <p:cNvSpPr/>
            <p:nvPr/>
          </p:nvSpPr>
          <p:spPr>
            <a:xfrm flipH="false" flipV="false" rot="0">
              <a:off x="0" y="0"/>
              <a:ext cx="818612" cy="597990"/>
            </a:xfrm>
            <a:custGeom>
              <a:avLst/>
              <a:gdLst/>
              <a:ahLst/>
              <a:cxnLst/>
              <a:rect r="r" b="b" t="t" l="l"/>
              <a:pathLst>
                <a:path h="597990" w="818612">
                  <a:moveTo>
                    <a:pt x="0" y="0"/>
                  </a:moveTo>
                  <a:lnTo>
                    <a:pt x="818612" y="0"/>
                  </a:lnTo>
                  <a:lnTo>
                    <a:pt x="818612" y="597990"/>
                  </a:lnTo>
                  <a:lnTo>
                    <a:pt x="0" y="597990"/>
                  </a:lnTo>
                  <a:close/>
                </a:path>
              </a:pathLst>
            </a:custGeom>
            <a:solidFill>
              <a:srgbClr val="FFFFFF"/>
            </a:solidFill>
          </p:spPr>
        </p:sp>
        <p:sp>
          <p:nvSpPr>
            <p:cNvPr name="TextBox 15" id="15"/>
            <p:cNvSpPr txBox="true"/>
            <p:nvPr/>
          </p:nvSpPr>
          <p:spPr>
            <a:xfrm>
              <a:off x="0" y="-38100"/>
              <a:ext cx="818612" cy="636090"/>
            </a:xfrm>
            <a:prstGeom prst="rect">
              <a:avLst/>
            </a:prstGeom>
          </p:spPr>
          <p:txBody>
            <a:bodyPr anchor="ctr" rtlCol="false" tIns="50800" lIns="50800" bIns="50800" rIns="50800"/>
            <a:lstStyle/>
            <a:p>
              <a:pPr algn="ctr">
                <a:lnSpc>
                  <a:spcPts val="2520"/>
                </a:lnSpc>
              </a:pPr>
            </a:p>
          </p:txBody>
        </p:sp>
      </p:grpSp>
      <p:grpSp>
        <p:nvGrpSpPr>
          <p:cNvPr name="Group 16" id="16"/>
          <p:cNvGrpSpPr/>
          <p:nvPr/>
        </p:nvGrpSpPr>
        <p:grpSpPr>
          <a:xfrm rot="0">
            <a:off x="12609665" y="6423934"/>
            <a:ext cx="3108168" cy="2270494"/>
            <a:chOff x="0" y="0"/>
            <a:chExt cx="818612" cy="597990"/>
          </a:xfrm>
        </p:grpSpPr>
        <p:sp>
          <p:nvSpPr>
            <p:cNvPr name="Freeform 17" id="17"/>
            <p:cNvSpPr/>
            <p:nvPr/>
          </p:nvSpPr>
          <p:spPr>
            <a:xfrm flipH="false" flipV="false" rot="0">
              <a:off x="0" y="0"/>
              <a:ext cx="818612" cy="597990"/>
            </a:xfrm>
            <a:custGeom>
              <a:avLst/>
              <a:gdLst/>
              <a:ahLst/>
              <a:cxnLst/>
              <a:rect r="r" b="b" t="t" l="l"/>
              <a:pathLst>
                <a:path h="597990" w="818612">
                  <a:moveTo>
                    <a:pt x="0" y="0"/>
                  </a:moveTo>
                  <a:lnTo>
                    <a:pt x="818612" y="0"/>
                  </a:lnTo>
                  <a:lnTo>
                    <a:pt x="818612" y="597990"/>
                  </a:lnTo>
                  <a:lnTo>
                    <a:pt x="0" y="597990"/>
                  </a:lnTo>
                  <a:close/>
                </a:path>
              </a:pathLst>
            </a:custGeom>
            <a:solidFill>
              <a:srgbClr val="FFFFFF"/>
            </a:solidFill>
          </p:spPr>
        </p:sp>
        <p:sp>
          <p:nvSpPr>
            <p:cNvPr name="TextBox 18" id="18"/>
            <p:cNvSpPr txBox="true"/>
            <p:nvPr/>
          </p:nvSpPr>
          <p:spPr>
            <a:xfrm>
              <a:off x="0" y="-38100"/>
              <a:ext cx="818612" cy="636090"/>
            </a:xfrm>
            <a:prstGeom prst="rect">
              <a:avLst/>
            </a:prstGeom>
          </p:spPr>
          <p:txBody>
            <a:bodyPr anchor="ctr" rtlCol="false" tIns="50800" lIns="50800" bIns="50800" rIns="50800"/>
            <a:lstStyle/>
            <a:p>
              <a:pPr algn="ctr">
                <a:lnSpc>
                  <a:spcPts val="2520"/>
                </a:lnSpc>
              </a:pPr>
            </a:p>
          </p:txBody>
        </p:sp>
      </p:grpSp>
      <p:grpSp>
        <p:nvGrpSpPr>
          <p:cNvPr name="Group 19" id="19"/>
          <p:cNvGrpSpPr/>
          <p:nvPr/>
        </p:nvGrpSpPr>
        <p:grpSpPr>
          <a:xfrm rot="0">
            <a:off x="6706301" y="8504345"/>
            <a:ext cx="380165" cy="380165"/>
            <a:chOff x="0" y="0"/>
            <a:chExt cx="100126" cy="100126"/>
          </a:xfrm>
        </p:grpSpPr>
        <p:sp>
          <p:nvSpPr>
            <p:cNvPr name="Freeform 20" id="20"/>
            <p:cNvSpPr/>
            <p:nvPr/>
          </p:nvSpPr>
          <p:spPr>
            <a:xfrm flipH="false" flipV="false" rot="0">
              <a:off x="0" y="0"/>
              <a:ext cx="100126" cy="100126"/>
            </a:xfrm>
            <a:custGeom>
              <a:avLst/>
              <a:gdLst/>
              <a:ahLst/>
              <a:cxnLst/>
              <a:rect r="r" b="b" t="t" l="l"/>
              <a:pathLst>
                <a:path h="100126" w="100126">
                  <a:moveTo>
                    <a:pt x="0" y="0"/>
                  </a:moveTo>
                  <a:lnTo>
                    <a:pt x="100126" y="0"/>
                  </a:lnTo>
                  <a:lnTo>
                    <a:pt x="100126" y="100126"/>
                  </a:lnTo>
                  <a:lnTo>
                    <a:pt x="0" y="100126"/>
                  </a:lnTo>
                  <a:close/>
                </a:path>
              </a:pathLst>
            </a:custGeom>
            <a:solidFill>
              <a:srgbClr val="7778ED"/>
            </a:solidFill>
          </p:spPr>
        </p:sp>
        <p:sp>
          <p:nvSpPr>
            <p:cNvPr name="TextBox 21" id="21"/>
            <p:cNvSpPr txBox="true"/>
            <p:nvPr/>
          </p:nvSpPr>
          <p:spPr>
            <a:xfrm>
              <a:off x="0" y="-38100"/>
              <a:ext cx="100126" cy="138226"/>
            </a:xfrm>
            <a:prstGeom prst="rect">
              <a:avLst/>
            </a:prstGeom>
          </p:spPr>
          <p:txBody>
            <a:bodyPr anchor="ctr" rtlCol="false" tIns="50800" lIns="50800" bIns="50800" rIns="50800"/>
            <a:lstStyle/>
            <a:p>
              <a:pPr algn="ctr" marL="0" indent="0" lvl="0">
                <a:lnSpc>
                  <a:spcPts val="2100"/>
                </a:lnSpc>
                <a:spcBef>
                  <a:spcPct val="0"/>
                </a:spcBef>
              </a:pPr>
              <a:r>
                <a:rPr lang="en-US" b="true" sz="1500" strike="noStrike" u="none">
                  <a:solidFill>
                    <a:srgbClr val="000000"/>
                  </a:solidFill>
                  <a:latin typeface="DM Sans Bold"/>
                  <a:ea typeface="DM Sans Bold"/>
                  <a:cs typeface="DM Sans Bold"/>
                  <a:sym typeface="DM Sans Bold"/>
                </a:rPr>
                <a:t>01</a:t>
              </a:r>
            </a:p>
          </p:txBody>
        </p:sp>
      </p:grpSp>
      <p:grpSp>
        <p:nvGrpSpPr>
          <p:cNvPr name="Group 22" id="22"/>
          <p:cNvGrpSpPr/>
          <p:nvPr/>
        </p:nvGrpSpPr>
        <p:grpSpPr>
          <a:xfrm rot="0">
            <a:off x="12609665" y="8504345"/>
            <a:ext cx="380165" cy="380165"/>
            <a:chOff x="0" y="0"/>
            <a:chExt cx="100126" cy="100126"/>
          </a:xfrm>
        </p:grpSpPr>
        <p:sp>
          <p:nvSpPr>
            <p:cNvPr name="Freeform 23" id="23"/>
            <p:cNvSpPr/>
            <p:nvPr/>
          </p:nvSpPr>
          <p:spPr>
            <a:xfrm flipH="false" flipV="false" rot="0">
              <a:off x="0" y="0"/>
              <a:ext cx="100126" cy="100126"/>
            </a:xfrm>
            <a:custGeom>
              <a:avLst/>
              <a:gdLst/>
              <a:ahLst/>
              <a:cxnLst/>
              <a:rect r="r" b="b" t="t" l="l"/>
              <a:pathLst>
                <a:path h="100126" w="100126">
                  <a:moveTo>
                    <a:pt x="0" y="0"/>
                  </a:moveTo>
                  <a:lnTo>
                    <a:pt x="100126" y="0"/>
                  </a:lnTo>
                  <a:lnTo>
                    <a:pt x="100126" y="100126"/>
                  </a:lnTo>
                  <a:lnTo>
                    <a:pt x="0" y="100126"/>
                  </a:lnTo>
                  <a:close/>
                </a:path>
              </a:pathLst>
            </a:custGeom>
            <a:solidFill>
              <a:srgbClr val="00CCBC"/>
            </a:solidFill>
          </p:spPr>
        </p:sp>
        <p:sp>
          <p:nvSpPr>
            <p:cNvPr name="TextBox 24" id="24"/>
            <p:cNvSpPr txBox="true"/>
            <p:nvPr/>
          </p:nvSpPr>
          <p:spPr>
            <a:xfrm>
              <a:off x="0" y="-38100"/>
              <a:ext cx="100126" cy="138226"/>
            </a:xfrm>
            <a:prstGeom prst="rect">
              <a:avLst/>
            </a:prstGeom>
          </p:spPr>
          <p:txBody>
            <a:bodyPr anchor="ctr" rtlCol="false" tIns="50800" lIns="50800" bIns="50800" rIns="50800"/>
            <a:lstStyle/>
            <a:p>
              <a:pPr algn="ctr" marL="0" indent="0" lvl="0">
                <a:lnSpc>
                  <a:spcPts val="2100"/>
                </a:lnSpc>
                <a:spcBef>
                  <a:spcPct val="0"/>
                </a:spcBef>
              </a:pPr>
              <a:r>
                <a:rPr lang="en-US" b="true" sz="1500" strike="noStrike" u="none">
                  <a:solidFill>
                    <a:srgbClr val="000000"/>
                  </a:solidFill>
                  <a:latin typeface="DM Sans Bold"/>
                  <a:ea typeface="DM Sans Bold"/>
                  <a:cs typeface="DM Sans Bold"/>
                  <a:sym typeface="DM Sans Bold"/>
                </a:rPr>
                <a:t>03</a:t>
              </a:r>
            </a:p>
          </p:txBody>
        </p:sp>
      </p:grpSp>
      <p:grpSp>
        <p:nvGrpSpPr>
          <p:cNvPr name="Group 25" id="25"/>
          <p:cNvGrpSpPr/>
          <p:nvPr/>
        </p:nvGrpSpPr>
        <p:grpSpPr>
          <a:xfrm rot="0">
            <a:off x="8314829" y="3672983"/>
            <a:ext cx="380165" cy="380165"/>
            <a:chOff x="0" y="0"/>
            <a:chExt cx="100126" cy="100126"/>
          </a:xfrm>
        </p:grpSpPr>
        <p:sp>
          <p:nvSpPr>
            <p:cNvPr name="Freeform 26" id="26"/>
            <p:cNvSpPr/>
            <p:nvPr/>
          </p:nvSpPr>
          <p:spPr>
            <a:xfrm flipH="false" flipV="false" rot="0">
              <a:off x="0" y="0"/>
              <a:ext cx="100126" cy="100126"/>
            </a:xfrm>
            <a:custGeom>
              <a:avLst/>
              <a:gdLst/>
              <a:ahLst/>
              <a:cxnLst/>
              <a:rect r="r" b="b" t="t" l="l"/>
              <a:pathLst>
                <a:path h="100126" w="100126">
                  <a:moveTo>
                    <a:pt x="0" y="0"/>
                  </a:moveTo>
                  <a:lnTo>
                    <a:pt x="100126" y="0"/>
                  </a:lnTo>
                  <a:lnTo>
                    <a:pt x="100126" y="100126"/>
                  </a:lnTo>
                  <a:lnTo>
                    <a:pt x="0" y="100126"/>
                  </a:lnTo>
                  <a:close/>
                </a:path>
              </a:pathLst>
            </a:custGeom>
            <a:solidFill>
              <a:srgbClr val="02B2E4"/>
            </a:solidFill>
          </p:spPr>
        </p:sp>
        <p:sp>
          <p:nvSpPr>
            <p:cNvPr name="TextBox 27" id="27"/>
            <p:cNvSpPr txBox="true"/>
            <p:nvPr/>
          </p:nvSpPr>
          <p:spPr>
            <a:xfrm>
              <a:off x="0" y="-38100"/>
              <a:ext cx="100126" cy="138226"/>
            </a:xfrm>
            <a:prstGeom prst="rect">
              <a:avLst/>
            </a:prstGeom>
          </p:spPr>
          <p:txBody>
            <a:bodyPr anchor="ctr" rtlCol="false" tIns="50800" lIns="50800" bIns="50800" rIns="50800"/>
            <a:lstStyle/>
            <a:p>
              <a:pPr algn="ctr" marL="0" indent="0" lvl="0">
                <a:lnSpc>
                  <a:spcPts val="2100"/>
                </a:lnSpc>
                <a:spcBef>
                  <a:spcPct val="0"/>
                </a:spcBef>
              </a:pPr>
              <a:r>
                <a:rPr lang="en-US" b="true" sz="1500" strike="noStrike" u="none">
                  <a:solidFill>
                    <a:srgbClr val="000000"/>
                  </a:solidFill>
                  <a:latin typeface="DM Sans Bold"/>
                  <a:ea typeface="DM Sans Bold"/>
                  <a:cs typeface="DM Sans Bold"/>
                  <a:sym typeface="DM Sans Bold"/>
                </a:rPr>
                <a:t>02</a:t>
              </a:r>
            </a:p>
          </p:txBody>
        </p:sp>
      </p:grpSp>
      <p:grpSp>
        <p:nvGrpSpPr>
          <p:cNvPr name="Group 28" id="28"/>
          <p:cNvGrpSpPr/>
          <p:nvPr/>
        </p:nvGrpSpPr>
        <p:grpSpPr>
          <a:xfrm rot="0">
            <a:off x="14227332" y="3672983"/>
            <a:ext cx="380165" cy="380165"/>
            <a:chOff x="0" y="0"/>
            <a:chExt cx="100126" cy="100126"/>
          </a:xfrm>
        </p:grpSpPr>
        <p:sp>
          <p:nvSpPr>
            <p:cNvPr name="Freeform 29" id="29"/>
            <p:cNvSpPr/>
            <p:nvPr/>
          </p:nvSpPr>
          <p:spPr>
            <a:xfrm flipH="false" flipV="false" rot="0">
              <a:off x="0" y="0"/>
              <a:ext cx="100126" cy="100126"/>
            </a:xfrm>
            <a:custGeom>
              <a:avLst/>
              <a:gdLst/>
              <a:ahLst/>
              <a:cxnLst/>
              <a:rect r="r" b="b" t="t" l="l"/>
              <a:pathLst>
                <a:path h="100126" w="100126">
                  <a:moveTo>
                    <a:pt x="0" y="0"/>
                  </a:moveTo>
                  <a:lnTo>
                    <a:pt x="100126" y="0"/>
                  </a:lnTo>
                  <a:lnTo>
                    <a:pt x="100126" y="100126"/>
                  </a:lnTo>
                  <a:lnTo>
                    <a:pt x="0" y="100126"/>
                  </a:lnTo>
                  <a:close/>
                </a:path>
              </a:pathLst>
            </a:custGeom>
            <a:solidFill>
              <a:srgbClr val="5DDB78"/>
            </a:solidFill>
          </p:spPr>
        </p:sp>
        <p:sp>
          <p:nvSpPr>
            <p:cNvPr name="TextBox 30" id="30"/>
            <p:cNvSpPr txBox="true"/>
            <p:nvPr/>
          </p:nvSpPr>
          <p:spPr>
            <a:xfrm>
              <a:off x="0" y="-38100"/>
              <a:ext cx="100126" cy="138226"/>
            </a:xfrm>
            <a:prstGeom prst="rect">
              <a:avLst/>
            </a:prstGeom>
          </p:spPr>
          <p:txBody>
            <a:bodyPr anchor="ctr" rtlCol="false" tIns="50800" lIns="50800" bIns="50800" rIns="50800"/>
            <a:lstStyle/>
            <a:p>
              <a:pPr algn="ctr" marL="0" indent="0" lvl="0">
                <a:lnSpc>
                  <a:spcPts val="2100"/>
                </a:lnSpc>
                <a:spcBef>
                  <a:spcPct val="0"/>
                </a:spcBef>
              </a:pPr>
              <a:r>
                <a:rPr lang="en-US" b="true" sz="1500" strike="noStrike" u="none">
                  <a:solidFill>
                    <a:srgbClr val="000000"/>
                  </a:solidFill>
                  <a:latin typeface="DM Sans Bold"/>
                  <a:ea typeface="DM Sans Bold"/>
                  <a:cs typeface="DM Sans Bold"/>
                  <a:sym typeface="DM Sans Bold"/>
                </a:rPr>
                <a:t>04</a:t>
              </a:r>
            </a:p>
          </p:txBody>
        </p:sp>
      </p:grpSp>
      <p:sp>
        <p:nvSpPr>
          <p:cNvPr name="Freeform 31" id="31"/>
          <p:cNvSpPr/>
          <p:nvPr/>
        </p:nvSpPr>
        <p:spPr>
          <a:xfrm flipH="false" flipV="false" rot="0">
            <a:off x="7901241" y="6608903"/>
            <a:ext cx="1028166" cy="1000125"/>
          </a:xfrm>
          <a:custGeom>
            <a:avLst/>
            <a:gdLst/>
            <a:ahLst/>
            <a:cxnLst/>
            <a:rect r="r" b="b" t="t" l="l"/>
            <a:pathLst>
              <a:path h="1000125" w="1028166">
                <a:moveTo>
                  <a:pt x="0" y="0"/>
                </a:moveTo>
                <a:lnTo>
                  <a:pt x="1028165" y="0"/>
                </a:lnTo>
                <a:lnTo>
                  <a:pt x="1028165" y="1000125"/>
                </a:lnTo>
                <a:lnTo>
                  <a:pt x="0" y="10001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2" id="32"/>
          <p:cNvSpPr/>
          <p:nvPr/>
        </p:nvSpPr>
        <p:spPr>
          <a:xfrm flipH="false" flipV="false" rot="0">
            <a:off x="9506532" y="2658604"/>
            <a:ext cx="985578" cy="1000125"/>
          </a:xfrm>
          <a:custGeom>
            <a:avLst/>
            <a:gdLst/>
            <a:ahLst/>
            <a:cxnLst/>
            <a:rect r="r" b="b" t="t" l="l"/>
            <a:pathLst>
              <a:path h="1000125" w="985578">
                <a:moveTo>
                  <a:pt x="0" y="0"/>
                </a:moveTo>
                <a:lnTo>
                  <a:pt x="985578" y="0"/>
                </a:lnTo>
                <a:lnTo>
                  <a:pt x="985578" y="1000125"/>
                </a:lnTo>
                <a:lnTo>
                  <a:pt x="0" y="10001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3" id="33"/>
          <p:cNvSpPr/>
          <p:nvPr/>
        </p:nvSpPr>
        <p:spPr>
          <a:xfrm flipH="false" flipV="false" rot="0">
            <a:off x="12581695" y="2658604"/>
            <a:ext cx="941936" cy="1000125"/>
          </a:xfrm>
          <a:custGeom>
            <a:avLst/>
            <a:gdLst/>
            <a:ahLst/>
            <a:cxnLst/>
            <a:rect r="r" b="b" t="t" l="l"/>
            <a:pathLst>
              <a:path h="1000125" w="941936">
                <a:moveTo>
                  <a:pt x="0" y="0"/>
                </a:moveTo>
                <a:lnTo>
                  <a:pt x="941936" y="0"/>
                </a:lnTo>
                <a:lnTo>
                  <a:pt x="941936" y="1000125"/>
                </a:lnTo>
                <a:lnTo>
                  <a:pt x="0" y="100012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34" id="34"/>
          <p:cNvSpPr txBox="true"/>
          <p:nvPr/>
        </p:nvSpPr>
        <p:spPr>
          <a:xfrm rot="0">
            <a:off x="4089246" y="6519823"/>
            <a:ext cx="2174546" cy="306705"/>
          </a:xfrm>
          <a:prstGeom prst="rect">
            <a:avLst/>
          </a:prstGeom>
        </p:spPr>
        <p:txBody>
          <a:bodyPr anchor="t" rtlCol="false" tIns="0" lIns="0" bIns="0" rIns="0">
            <a:spAutoFit/>
          </a:bodyPr>
          <a:lstStyle/>
          <a:p>
            <a:pPr algn="just" marL="0" indent="0" lvl="0">
              <a:lnSpc>
                <a:spcPts val="2520"/>
              </a:lnSpc>
              <a:spcBef>
                <a:spcPct val="0"/>
              </a:spcBef>
            </a:pPr>
            <a:r>
              <a:rPr lang="en-US" b="true" sz="1800">
                <a:solidFill>
                  <a:srgbClr val="000000"/>
                </a:solidFill>
                <a:latin typeface="DM Sans Bold"/>
                <a:ea typeface="DM Sans Bold"/>
                <a:cs typeface="DM Sans Bold"/>
                <a:sym typeface="DM Sans Bold"/>
              </a:rPr>
              <a:t>Service Provider</a:t>
            </a:r>
          </a:p>
        </p:txBody>
      </p:sp>
      <p:sp>
        <p:nvSpPr>
          <p:cNvPr name="TextBox 35" id="35"/>
          <p:cNvSpPr txBox="true"/>
          <p:nvPr/>
        </p:nvSpPr>
        <p:spPr>
          <a:xfrm rot="0">
            <a:off x="5687057" y="2203526"/>
            <a:ext cx="3007937" cy="1478613"/>
          </a:xfrm>
          <a:prstGeom prst="rect">
            <a:avLst/>
          </a:prstGeom>
        </p:spPr>
        <p:txBody>
          <a:bodyPr anchor="t" rtlCol="false" tIns="0" lIns="0" bIns="0" rIns="0">
            <a:spAutoFit/>
          </a:bodyPr>
          <a:lstStyle/>
          <a:p>
            <a:pPr algn="just" marL="0" indent="0" lvl="0">
              <a:lnSpc>
                <a:spcPts val="1976"/>
              </a:lnSpc>
              <a:spcBef>
                <a:spcPct val="0"/>
              </a:spcBef>
            </a:pPr>
            <a:r>
              <a:rPr lang="en-US" b="true" sz="1411">
                <a:solidFill>
                  <a:srgbClr val="000000"/>
                </a:solidFill>
                <a:latin typeface="DM Sans Bold"/>
                <a:ea typeface="DM Sans Bold"/>
                <a:cs typeface="DM Sans Bold"/>
                <a:sym typeface="DM Sans Bold"/>
              </a:rPr>
              <a:t>Co</a:t>
            </a:r>
            <a:r>
              <a:rPr lang="en-US" b="true" sz="1411">
                <a:solidFill>
                  <a:srgbClr val="000000"/>
                </a:solidFill>
                <a:latin typeface="DM Sans Bold"/>
                <a:ea typeface="DM Sans Bold"/>
                <a:cs typeface="DM Sans Bold"/>
                <a:sym typeface="DM Sans Bold"/>
              </a:rPr>
              <a:t>r</a:t>
            </a:r>
            <a:r>
              <a:rPr lang="en-US" b="true" sz="1411" strike="noStrike" u="none">
                <a:solidFill>
                  <a:srgbClr val="000000"/>
                </a:solidFill>
                <a:latin typeface="DM Sans Bold"/>
                <a:ea typeface="DM Sans Bold"/>
                <a:cs typeface="DM Sans Bold"/>
                <a:sym typeface="DM Sans Bold"/>
              </a:rPr>
              <a:t>e Capa</a:t>
            </a:r>
            <a:r>
              <a:rPr lang="en-US" b="true" sz="1411" strike="noStrike" u="none">
                <a:solidFill>
                  <a:srgbClr val="000000"/>
                </a:solidFill>
                <a:latin typeface="DM Sans Bold"/>
                <a:ea typeface="DM Sans Bold"/>
                <a:cs typeface="DM Sans Bold"/>
                <a:sym typeface="DM Sans Bold"/>
              </a:rPr>
              <a:t>biliti</a:t>
            </a:r>
            <a:r>
              <a:rPr lang="en-US" b="true" sz="1411" strike="noStrike" u="none">
                <a:solidFill>
                  <a:srgbClr val="000000"/>
                </a:solidFill>
                <a:latin typeface="DM Sans Bold"/>
                <a:ea typeface="DM Sans Bold"/>
                <a:cs typeface="DM Sans Bold"/>
                <a:sym typeface="DM Sans Bold"/>
              </a:rPr>
              <a:t>es:</a:t>
            </a:r>
          </a:p>
          <a:p>
            <a:pPr algn="just" marL="304825" indent="-152413" lvl="1">
              <a:lnSpc>
                <a:spcPts val="1976"/>
              </a:lnSpc>
              <a:spcBef>
                <a:spcPct val="0"/>
              </a:spcBef>
              <a:buFont typeface="Arial"/>
              <a:buChar char="•"/>
            </a:pPr>
            <a:r>
              <a:rPr lang="en-US" sz="1411" strike="noStrike" u="none">
                <a:solidFill>
                  <a:srgbClr val="000000"/>
                </a:solidFill>
                <a:latin typeface="DM Sans"/>
                <a:ea typeface="DM Sans"/>
                <a:cs typeface="DM Sans"/>
                <a:sym typeface="DM Sans"/>
              </a:rPr>
              <a:t>Manage platform users</a:t>
            </a:r>
          </a:p>
          <a:p>
            <a:pPr algn="just" marL="304825" indent="-152413" lvl="1">
              <a:lnSpc>
                <a:spcPts val="1976"/>
              </a:lnSpc>
              <a:spcBef>
                <a:spcPct val="0"/>
              </a:spcBef>
              <a:buFont typeface="Arial"/>
              <a:buChar char="•"/>
            </a:pPr>
            <a:r>
              <a:rPr lang="en-US" sz="1411" strike="noStrike" u="none">
                <a:solidFill>
                  <a:srgbClr val="000000"/>
                </a:solidFill>
                <a:latin typeface="DM Sans"/>
                <a:ea typeface="DM Sans"/>
                <a:cs typeface="DM Sans"/>
                <a:sym typeface="DM Sans"/>
              </a:rPr>
              <a:t>Verify providers &amp; o</a:t>
            </a:r>
            <a:r>
              <a:rPr lang="en-US" sz="1411" strike="noStrike" u="none">
                <a:solidFill>
                  <a:srgbClr val="000000"/>
                </a:solidFill>
                <a:latin typeface="DM Sans"/>
                <a:ea typeface="DM Sans"/>
                <a:cs typeface="DM Sans"/>
                <a:sym typeface="DM Sans"/>
              </a:rPr>
              <a:t>rga</a:t>
            </a:r>
            <a:r>
              <a:rPr lang="en-US" sz="1411" strike="noStrike" u="none">
                <a:solidFill>
                  <a:srgbClr val="000000"/>
                </a:solidFill>
                <a:latin typeface="DM Sans"/>
                <a:ea typeface="DM Sans"/>
                <a:cs typeface="DM Sans"/>
                <a:sym typeface="DM Sans"/>
              </a:rPr>
              <a:t>n</a:t>
            </a:r>
            <a:r>
              <a:rPr lang="en-US" sz="1411" strike="noStrike" u="none">
                <a:solidFill>
                  <a:srgbClr val="000000"/>
                </a:solidFill>
                <a:latin typeface="DM Sans"/>
                <a:ea typeface="DM Sans"/>
                <a:cs typeface="DM Sans"/>
                <a:sym typeface="DM Sans"/>
              </a:rPr>
              <a:t>iza</a:t>
            </a:r>
            <a:r>
              <a:rPr lang="en-US" sz="1411" strike="noStrike" u="none">
                <a:solidFill>
                  <a:srgbClr val="000000"/>
                </a:solidFill>
                <a:latin typeface="DM Sans"/>
                <a:ea typeface="DM Sans"/>
                <a:cs typeface="DM Sans"/>
                <a:sym typeface="DM Sans"/>
              </a:rPr>
              <a:t>t</a:t>
            </a:r>
            <a:r>
              <a:rPr lang="en-US" sz="1411" strike="noStrike" u="none">
                <a:solidFill>
                  <a:srgbClr val="000000"/>
                </a:solidFill>
                <a:latin typeface="DM Sans"/>
                <a:ea typeface="DM Sans"/>
                <a:cs typeface="DM Sans"/>
                <a:sym typeface="DM Sans"/>
              </a:rPr>
              <a:t>ions</a:t>
            </a:r>
          </a:p>
          <a:p>
            <a:pPr algn="just" marL="304825" indent="-152413" lvl="1">
              <a:lnSpc>
                <a:spcPts val="1976"/>
              </a:lnSpc>
              <a:spcBef>
                <a:spcPct val="0"/>
              </a:spcBef>
              <a:buFont typeface="Arial"/>
              <a:buChar char="•"/>
            </a:pPr>
            <a:r>
              <a:rPr lang="en-US" sz="1411" strike="noStrike" u="none">
                <a:solidFill>
                  <a:srgbClr val="000000"/>
                </a:solidFill>
                <a:latin typeface="DM Sans"/>
                <a:ea typeface="DM Sans"/>
                <a:cs typeface="DM Sans"/>
                <a:sym typeface="DM Sans"/>
              </a:rPr>
              <a:t>A</a:t>
            </a:r>
            <a:r>
              <a:rPr lang="en-US" sz="1411" strike="noStrike" u="none">
                <a:solidFill>
                  <a:srgbClr val="000000"/>
                </a:solidFill>
                <a:latin typeface="DM Sans"/>
                <a:ea typeface="DM Sans"/>
                <a:cs typeface="DM Sans"/>
                <a:sym typeface="DM Sans"/>
              </a:rPr>
              <a:t>nalyze</a:t>
            </a:r>
            <a:r>
              <a:rPr lang="en-US" sz="1411" strike="noStrike" u="none">
                <a:solidFill>
                  <a:srgbClr val="000000"/>
                </a:solidFill>
                <a:latin typeface="DM Sans"/>
                <a:ea typeface="DM Sans"/>
                <a:cs typeface="DM Sans"/>
                <a:sym typeface="DM Sans"/>
              </a:rPr>
              <a:t> operat</a:t>
            </a:r>
            <a:r>
              <a:rPr lang="en-US" sz="1411" strike="noStrike" u="none">
                <a:solidFill>
                  <a:srgbClr val="000000"/>
                </a:solidFill>
                <a:latin typeface="DM Sans"/>
                <a:ea typeface="DM Sans"/>
                <a:cs typeface="DM Sans"/>
                <a:sym typeface="DM Sans"/>
              </a:rPr>
              <a:t>ional work</a:t>
            </a:r>
            <a:r>
              <a:rPr lang="en-US" sz="1411" strike="noStrike" u="none">
                <a:solidFill>
                  <a:srgbClr val="000000"/>
                </a:solidFill>
                <a:latin typeface="DM Sans"/>
                <a:ea typeface="DM Sans"/>
                <a:cs typeface="DM Sans"/>
                <a:sym typeface="DM Sans"/>
              </a:rPr>
              <a:t>flows</a:t>
            </a:r>
          </a:p>
          <a:p>
            <a:pPr algn="just" marL="304825" indent="-152413" lvl="1">
              <a:lnSpc>
                <a:spcPts val="1976"/>
              </a:lnSpc>
              <a:spcBef>
                <a:spcPct val="0"/>
              </a:spcBef>
              <a:buFont typeface="Arial"/>
              <a:buChar char="•"/>
            </a:pPr>
            <a:r>
              <a:rPr lang="en-US" sz="1411" strike="noStrike" u="none">
                <a:solidFill>
                  <a:srgbClr val="000000"/>
                </a:solidFill>
                <a:latin typeface="DM Sans"/>
                <a:ea typeface="DM Sans"/>
                <a:cs typeface="DM Sans"/>
                <a:sym typeface="DM Sans"/>
              </a:rPr>
              <a:t>Ov</a:t>
            </a:r>
            <a:r>
              <a:rPr lang="en-US" sz="1411" strike="noStrike" u="none">
                <a:solidFill>
                  <a:srgbClr val="000000"/>
                </a:solidFill>
                <a:latin typeface="DM Sans"/>
                <a:ea typeface="DM Sans"/>
                <a:cs typeface="DM Sans"/>
                <a:sym typeface="DM Sans"/>
              </a:rPr>
              <a:t>ersee global met</a:t>
            </a:r>
            <a:r>
              <a:rPr lang="en-US" sz="1411" strike="noStrike" u="none">
                <a:solidFill>
                  <a:srgbClr val="000000"/>
                </a:solidFill>
                <a:latin typeface="DM Sans"/>
                <a:ea typeface="DM Sans"/>
                <a:cs typeface="DM Sans"/>
                <a:sym typeface="DM Sans"/>
              </a:rPr>
              <a:t>r</a:t>
            </a:r>
            <a:r>
              <a:rPr lang="en-US" sz="1411" strike="noStrike" u="none">
                <a:solidFill>
                  <a:srgbClr val="000000"/>
                </a:solidFill>
                <a:latin typeface="DM Sans"/>
                <a:ea typeface="DM Sans"/>
                <a:cs typeface="DM Sans"/>
                <a:sym typeface="DM Sans"/>
              </a:rPr>
              <a:t>ics</a:t>
            </a:r>
          </a:p>
          <a:p>
            <a:pPr algn="just" marL="0" indent="0" lvl="0">
              <a:lnSpc>
                <a:spcPts val="1976"/>
              </a:lnSpc>
              <a:spcBef>
                <a:spcPct val="0"/>
              </a:spcBef>
            </a:pPr>
          </a:p>
        </p:txBody>
      </p:sp>
      <p:sp>
        <p:nvSpPr>
          <p:cNvPr name="TextBox 36" id="36"/>
          <p:cNvSpPr txBox="true"/>
          <p:nvPr/>
        </p:nvSpPr>
        <p:spPr>
          <a:xfrm rot="0">
            <a:off x="5687057" y="1778232"/>
            <a:ext cx="2174546" cy="306705"/>
          </a:xfrm>
          <a:prstGeom prst="rect">
            <a:avLst/>
          </a:prstGeom>
        </p:spPr>
        <p:txBody>
          <a:bodyPr anchor="t" rtlCol="false" tIns="0" lIns="0" bIns="0" rIns="0">
            <a:spAutoFit/>
          </a:bodyPr>
          <a:lstStyle/>
          <a:p>
            <a:pPr algn="just" marL="0" indent="0" lvl="0">
              <a:lnSpc>
                <a:spcPts val="2520"/>
              </a:lnSpc>
              <a:spcBef>
                <a:spcPct val="0"/>
              </a:spcBef>
            </a:pPr>
            <a:r>
              <a:rPr lang="en-US" b="true" sz="1800">
                <a:solidFill>
                  <a:srgbClr val="000000"/>
                </a:solidFill>
                <a:latin typeface="DM Sans Bold"/>
                <a:ea typeface="DM Sans Bold"/>
                <a:cs typeface="DM Sans Bold"/>
                <a:sym typeface="DM Sans Bold"/>
              </a:rPr>
              <a:t>Pl</a:t>
            </a:r>
            <a:r>
              <a:rPr lang="en-US" b="true" sz="1800">
                <a:solidFill>
                  <a:srgbClr val="000000"/>
                </a:solidFill>
                <a:latin typeface="DM Sans Bold"/>
                <a:ea typeface="DM Sans Bold"/>
                <a:cs typeface="DM Sans Bold"/>
                <a:sym typeface="DM Sans Bold"/>
              </a:rPr>
              <a:t>atform Admin</a:t>
            </a:r>
          </a:p>
        </p:txBody>
      </p:sp>
      <p:sp>
        <p:nvSpPr>
          <p:cNvPr name="TextBox 37" id="37"/>
          <p:cNvSpPr txBox="true"/>
          <p:nvPr/>
        </p:nvSpPr>
        <p:spPr>
          <a:xfrm rot="0">
            <a:off x="675129" y="3617414"/>
            <a:ext cx="4144342" cy="1251585"/>
          </a:xfrm>
          <a:prstGeom prst="rect">
            <a:avLst/>
          </a:prstGeom>
        </p:spPr>
        <p:txBody>
          <a:bodyPr anchor="t" rtlCol="false" tIns="0" lIns="0" bIns="0" rIns="0">
            <a:spAutoFit/>
          </a:bodyPr>
          <a:lstStyle/>
          <a:p>
            <a:pPr algn="l">
              <a:lnSpc>
                <a:spcPts val="5039"/>
              </a:lnSpc>
              <a:spcBef>
                <a:spcPct val="0"/>
              </a:spcBef>
            </a:pPr>
            <a:r>
              <a:rPr lang="en-US" sz="3599" b="true">
                <a:solidFill>
                  <a:srgbClr val="000000"/>
                </a:solidFill>
                <a:latin typeface="DM Sans Bold"/>
                <a:ea typeface="DM Sans Bold"/>
                <a:cs typeface="DM Sans Bold"/>
                <a:sym typeface="DM Sans Bold"/>
              </a:rPr>
              <a:t>Multi - Tenant User Ecosystem</a:t>
            </a:r>
          </a:p>
        </p:txBody>
      </p:sp>
      <p:sp>
        <p:nvSpPr>
          <p:cNvPr name="TextBox 38" id="38"/>
          <p:cNvSpPr txBox="true"/>
          <p:nvPr/>
        </p:nvSpPr>
        <p:spPr>
          <a:xfrm rot="0">
            <a:off x="12799747" y="6519823"/>
            <a:ext cx="2174546" cy="306705"/>
          </a:xfrm>
          <a:prstGeom prst="rect">
            <a:avLst/>
          </a:prstGeom>
        </p:spPr>
        <p:txBody>
          <a:bodyPr anchor="t" rtlCol="false" tIns="0" lIns="0" bIns="0" rIns="0">
            <a:spAutoFit/>
          </a:bodyPr>
          <a:lstStyle/>
          <a:p>
            <a:pPr algn="l" marL="0" indent="0" lvl="0">
              <a:lnSpc>
                <a:spcPts val="2520"/>
              </a:lnSpc>
              <a:spcBef>
                <a:spcPct val="0"/>
              </a:spcBef>
            </a:pPr>
            <a:r>
              <a:rPr lang="en-US" b="true" sz="1800">
                <a:solidFill>
                  <a:srgbClr val="000000"/>
                </a:solidFill>
                <a:latin typeface="DM Sans Bold"/>
                <a:ea typeface="DM Sans Bold"/>
                <a:cs typeface="DM Sans Bold"/>
                <a:sym typeface="DM Sans Bold"/>
              </a:rPr>
              <a:t>Organization</a:t>
            </a:r>
          </a:p>
        </p:txBody>
      </p:sp>
      <p:sp>
        <p:nvSpPr>
          <p:cNvPr name="Freeform 39" id="39"/>
          <p:cNvSpPr/>
          <p:nvPr/>
        </p:nvSpPr>
        <p:spPr>
          <a:xfrm flipH="false" flipV="false" rot="0">
            <a:off x="10948169" y="6608903"/>
            <a:ext cx="1047750" cy="1000125"/>
          </a:xfrm>
          <a:custGeom>
            <a:avLst/>
            <a:gdLst/>
            <a:ahLst/>
            <a:cxnLst/>
            <a:rect r="r" b="b" t="t" l="l"/>
            <a:pathLst>
              <a:path h="1000125" w="1047750">
                <a:moveTo>
                  <a:pt x="0" y="0"/>
                </a:moveTo>
                <a:lnTo>
                  <a:pt x="1047750" y="0"/>
                </a:lnTo>
                <a:lnTo>
                  <a:pt x="1047750" y="1000125"/>
                </a:lnTo>
                <a:lnTo>
                  <a:pt x="0" y="100012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40" id="40"/>
          <p:cNvSpPr txBox="true"/>
          <p:nvPr/>
        </p:nvSpPr>
        <p:spPr>
          <a:xfrm rot="0">
            <a:off x="14327563" y="2136803"/>
            <a:ext cx="3024755" cy="1726263"/>
          </a:xfrm>
          <a:prstGeom prst="rect">
            <a:avLst/>
          </a:prstGeom>
        </p:spPr>
        <p:txBody>
          <a:bodyPr anchor="t" rtlCol="false" tIns="0" lIns="0" bIns="0" rIns="0">
            <a:spAutoFit/>
          </a:bodyPr>
          <a:lstStyle/>
          <a:p>
            <a:pPr algn="just" marL="0" indent="0" lvl="0">
              <a:lnSpc>
                <a:spcPts val="1976"/>
              </a:lnSpc>
              <a:spcBef>
                <a:spcPct val="0"/>
              </a:spcBef>
            </a:pPr>
            <a:r>
              <a:rPr lang="en-US" b="true" sz="1411">
                <a:solidFill>
                  <a:srgbClr val="000000"/>
                </a:solidFill>
                <a:latin typeface="DM Sans Bold"/>
                <a:ea typeface="DM Sans Bold"/>
                <a:cs typeface="DM Sans Bold"/>
                <a:sym typeface="DM Sans Bold"/>
              </a:rPr>
              <a:t>Co</a:t>
            </a:r>
            <a:r>
              <a:rPr lang="en-US" b="true" sz="1411">
                <a:solidFill>
                  <a:srgbClr val="000000"/>
                </a:solidFill>
                <a:latin typeface="DM Sans Bold"/>
                <a:ea typeface="DM Sans Bold"/>
                <a:cs typeface="DM Sans Bold"/>
                <a:sym typeface="DM Sans Bold"/>
              </a:rPr>
              <a:t>r</a:t>
            </a:r>
            <a:r>
              <a:rPr lang="en-US" b="true" sz="1411" strike="noStrike" u="none">
                <a:solidFill>
                  <a:srgbClr val="000000"/>
                </a:solidFill>
                <a:latin typeface="DM Sans Bold"/>
                <a:ea typeface="DM Sans Bold"/>
                <a:cs typeface="DM Sans Bold"/>
                <a:sym typeface="DM Sans Bold"/>
              </a:rPr>
              <a:t>e Capa</a:t>
            </a:r>
            <a:r>
              <a:rPr lang="en-US" b="true" sz="1411" strike="noStrike" u="none">
                <a:solidFill>
                  <a:srgbClr val="000000"/>
                </a:solidFill>
                <a:latin typeface="DM Sans Bold"/>
                <a:ea typeface="DM Sans Bold"/>
                <a:cs typeface="DM Sans Bold"/>
                <a:sym typeface="DM Sans Bold"/>
              </a:rPr>
              <a:t>biliti</a:t>
            </a:r>
            <a:r>
              <a:rPr lang="en-US" b="true" sz="1411" strike="noStrike" u="none">
                <a:solidFill>
                  <a:srgbClr val="000000"/>
                </a:solidFill>
                <a:latin typeface="DM Sans Bold"/>
                <a:ea typeface="DM Sans Bold"/>
                <a:cs typeface="DM Sans Bold"/>
                <a:sym typeface="DM Sans Bold"/>
              </a:rPr>
              <a:t>es:</a:t>
            </a:r>
          </a:p>
          <a:p>
            <a:pPr algn="just" marL="304825" indent="-152413" lvl="1">
              <a:lnSpc>
                <a:spcPts val="1976"/>
              </a:lnSpc>
              <a:spcBef>
                <a:spcPct val="0"/>
              </a:spcBef>
              <a:buFont typeface="Arial"/>
              <a:buChar char="•"/>
            </a:pPr>
            <a:r>
              <a:rPr lang="en-US" sz="1411" strike="noStrike" u="none">
                <a:solidFill>
                  <a:srgbClr val="000000"/>
                </a:solidFill>
                <a:latin typeface="DM Sans"/>
                <a:ea typeface="DM Sans"/>
                <a:cs typeface="DM Sans"/>
                <a:sym typeface="DM Sans"/>
              </a:rPr>
              <a:t>Book real-time appointments</a:t>
            </a:r>
          </a:p>
          <a:p>
            <a:pPr algn="just" marL="304825" indent="-152413" lvl="1">
              <a:lnSpc>
                <a:spcPts val="1976"/>
              </a:lnSpc>
              <a:spcBef>
                <a:spcPct val="0"/>
              </a:spcBef>
              <a:buFont typeface="Arial"/>
              <a:buChar char="•"/>
            </a:pPr>
            <a:r>
              <a:rPr lang="en-US" sz="1411" strike="noStrike" u="none">
                <a:solidFill>
                  <a:srgbClr val="000000"/>
                </a:solidFill>
                <a:latin typeface="DM Sans"/>
                <a:ea typeface="DM Sans"/>
                <a:cs typeface="DM Sans"/>
                <a:sym typeface="DM Sans"/>
              </a:rPr>
              <a:t>Conf</a:t>
            </a:r>
            <a:r>
              <a:rPr lang="en-US" sz="1411" strike="noStrike" u="none">
                <a:solidFill>
                  <a:srgbClr val="000000"/>
                </a:solidFill>
                <a:latin typeface="DM Sans"/>
                <a:ea typeface="DM Sans"/>
                <a:cs typeface="DM Sans"/>
                <a:sym typeface="DM Sans"/>
              </a:rPr>
              <a:t>igure a</a:t>
            </a:r>
            <a:r>
              <a:rPr lang="en-US" sz="1411" strike="noStrike" u="none">
                <a:solidFill>
                  <a:srgbClr val="000000"/>
                </a:solidFill>
                <a:latin typeface="DM Sans"/>
                <a:ea typeface="DM Sans"/>
                <a:cs typeface="DM Sans"/>
                <a:sym typeface="DM Sans"/>
              </a:rPr>
              <a:t>v</a:t>
            </a:r>
            <a:r>
              <a:rPr lang="en-US" sz="1411" strike="noStrike" u="none">
                <a:solidFill>
                  <a:srgbClr val="000000"/>
                </a:solidFill>
                <a:latin typeface="DM Sans"/>
                <a:ea typeface="DM Sans"/>
                <a:cs typeface="DM Sans"/>
                <a:sym typeface="DM Sans"/>
              </a:rPr>
              <a:t>ai</a:t>
            </a:r>
            <a:r>
              <a:rPr lang="en-US" sz="1411" strike="noStrike" u="none">
                <a:solidFill>
                  <a:srgbClr val="000000"/>
                </a:solidFill>
                <a:latin typeface="DM Sans"/>
                <a:ea typeface="DM Sans"/>
                <a:cs typeface="DM Sans"/>
                <a:sym typeface="DM Sans"/>
              </a:rPr>
              <a:t>l</a:t>
            </a:r>
            <a:r>
              <a:rPr lang="en-US" sz="1411" strike="noStrike" u="none">
                <a:solidFill>
                  <a:srgbClr val="000000"/>
                </a:solidFill>
                <a:latin typeface="DM Sans"/>
                <a:ea typeface="DM Sans"/>
                <a:cs typeface="DM Sans"/>
                <a:sym typeface="DM Sans"/>
              </a:rPr>
              <a:t>able per</a:t>
            </a:r>
            <a:r>
              <a:rPr lang="en-US" sz="1411" strike="noStrike" u="none">
                <a:solidFill>
                  <a:srgbClr val="000000"/>
                </a:solidFill>
                <a:latin typeface="DM Sans"/>
                <a:ea typeface="DM Sans"/>
                <a:cs typeface="DM Sans"/>
                <a:sym typeface="DM Sans"/>
              </a:rPr>
              <a:t>s</a:t>
            </a:r>
            <a:r>
              <a:rPr lang="en-US" sz="1411" strike="noStrike" u="none">
                <a:solidFill>
                  <a:srgbClr val="000000"/>
                </a:solidFill>
                <a:latin typeface="DM Sans"/>
                <a:ea typeface="DM Sans"/>
                <a:cs typeface="DM Sans"/>
                <a:sym typeface="DM Sans"/>
              </a:rPr>
              <a:t>onal slo</a:t>
            </a:r>
            <a:r>
              <a:rPr lang="en-US" sz="1411" strike="noStrike" u="none">
                <a:solidFill>
                  <a:srgbClr val="000000"/>
                </a:solidFill>
                <a:latin typeface="DM Sans"/>
                <a:ea typeface="DM Sans"/>
                <a:cs typeface="DM Sans"/>
                <a:sym typeface="DM Sans"/>
              </a:rPr>
              <a:t>t</a:t>
            </a:r>
            <a:r>
              <a:rPr lang="en-US" sz="1411" strike="noStrike" u="none">
                <a:solidFill>
                  <a:srgbClr val="000000"/>
                </a:solidFill>
                <a:latin typeface="DM Sans"/>
                <a:ea typeface="DM Sans"/>
                <a:cs typeface="DM Sans"/>
                <a:sym typeface="DM Sans"/>
              </a:rPr>
              <a:t>s</a:t>
            </a:r>
          </a:p>
          <a:p>
            <a:pPr algn="just" marL="304825" indent="-152413" lvl="1">
              <a:lnSpc>
                <a:spcPts val="1976"/>
              </a:lnSpc>
              <a:spcBef>
                <a:spcPct val="0"/>
              </a:spcBef>
              <a:buFont typeface="Arial"/>
              <a:buChar char="•"/>
            </a:pPr>
            <a:r>
              <a:rPr lang="en-US" sz="1411" strike="noStrike" u="none">
                <a:solidFill>
                  <a:srgbClr val="000000"/>
                </a:solidFill>
                <a:latin typeface="DM Sans"/>
                <a:ea typeface="DM Sans"/>
                <a:cs typeface="DM Sans"/>
                <a:sym typeface="DM Sans"/>
              </a:rPr>
              <a:t>R</a:t>
            </a:r>
            <a:r>
              <a:rPr lang="en-US" sz="1411" strike="noStrike" u="none">
                <a:solidFill>
                  <a:srgbClr val="000000"/>
                </a:solidFill>
                <a:latin typeface="DM Sans"/>
                <a:ea typeface="DM Sans"/>
                <a:cs typeface="DM Sans"/>
                <a:sym typeface="DM Sans"/>
              </a:rPr>
              <a:t>eschedule / cancel flexibly</a:t>
            </a:r>
          </a:p>
          <a:p>
            <a:pPr algn="just" marL="304825" indent="-152413" lvl="1">
              <a:lnSpc>
                <a:spcPts val="1976"/>
              </a:lnSpc>
              <a:spcBef>
                <a:spcPct val="0"/>
              </a:spcBef>
              <a:buFont typeface="Arial"/>
              <a:buChar char="•"/>
            </a:pPr>
            <a:r>
              <a:rPr lang="en-US" sz="1411" strike="noStrike" u="none">
                <a:solidFill>
                  <a:srgbClr val="000000"/>
                </a:solidFill>
                <a:latin typeface="DM Sans"/>
                <a:ea typeface="DM Sans"/>
                <a:cs typeface="DM Sans"/>
                <a:sym typeface="DM Sans"/>
              </a:rPr>
              <a:t>Submit provider</a:t>
            </a:r>
            <a:r>
              <a:rPr lang="en-US" sz="1411" strike="noStrike" u="none">
                <a:solidFill>
                  <a:srgbClr val="000000"/>
                </a:solidFill>
                <a:latin typeface="DM Sans"/>
                <a:ea typeface="DM Sans"/>
                <a:cs typeface="DM Sans"/>
                <a:sym typeface="DM Sans"/>
              </a:rPr>
              <a:t> rev</a:t>
            </a:r>
            <a:r>
              <a:rPr lang="en-US" sz="1411" strike="noStrike" u="none">
                <a:solidFill>
                  <a:srgbClr val="000000"/>
                </a:solidFill>
                <a:latin typeface="DM Sans"/>
                <a:ea typeface="DM Sans"/>
                <a:cs typeface="DM Sans"/>
                <a:sym typeface="DM Sans"/>
              </a:rPr>
              <a:t>iews</a:t>
            </a:r>
          </a:p>
          <a:p>
            <a:pPr algn="just" marL="0" indent="0" lvl="0">
              <a:lnSpc>
                <a:spcPts val="1976"/>
              </a:lnSpc>
              <a:spcBef>
                <a:spcPct val="0"/>
              </a:spcBef>
            </a:pPr>
          </a:p>
        </p:txBody>
      </p:sp>
      <p:sp>
        <p:nvSpPr>
          <p:cNvPr name="TextBox 41" id="41"/>
          <p:cNvSpPr txBox="true"/>
          <p:nvPr/>
        </p:nvSpPr>
        <p:spPr>
          <a:xfrm rot="0">
            <a:off x="14327563" y="1736846"/>
            <a:ext cx="2174546" cy="306705"/>
          </a:xfrm>
          <a:prstGeom prst="rect">
            <a:avLst/>
          </a:prstGeom>
        </p:spPr>
        <p:txBody>
          <a:bodyPr anchor="t" rtlCol="false" tIns="0" lIns="0" bIns="0" rIns="0">
            <a:spAutoFit/>
          </a:bodyPr>
          <a:lstStyle/>
          <a:p>
            <a:pPr algn="just" marL="0" indent="0" lvl="0">
              <a:lnSpc>
                <a:spcPts val="2520"/>
              </a:lnSpc>
              <a:spcBef>
                <a:spcPct val="0"/>
              </a:spcBef>
            </a:pPr>
            <a:r>
              <a:rPr lang="en-US" b="true" sz="1800">
                <a:solidFill>
                  <a:srgbClr val="000000"/>
                </a:solidFill>
                <a:latin typeface="DM Sans Bold"/>
                <a:ea typeface="DM Sans Bold"/>
                <a:cs typeface="DM Sans Bold"/>
                <a:sym typeface="DM Sans Bold"/>
              </a:rPr>
              <a:t>End Cus</a:t>
            </a:r>
            <a:r>
              <a:rPr lang="en-US" b="true" sz="1800">
                <a:solidFill>
                  <a:srgbClr val="000000"/>
                </a:solidFill>
                <a:latin typeface="DM Sans Bold"/>
                <a:ea typeface="DM Sans Bold"/>
                <a:cs typeface="DM Sans Bold"/>
                <a:sym typeface="DM Sans Bold"/>
              </a:rPr>
              <a:t>tomer</a:t>
            </a:r>
          </a:p>
        </p:txBody>
      </p:sp>
      <p:sp>
        <p:nvSpPr>
          <p:cNvPr name="TextBox 42" id="42"/>
          <p:cNvSpPr txBox="true"/>
          <p:nvPr/>
        </p:nvSpPr>
        <p:spPr>
          <a:xfrm rot="0">
            <a:off x="4089246" y="6940828"/>
            <a:ext cx="3024755" cy="1478613"/>
          </a:xfrm>
          <a:prstGeom prst="rect">
            <a:avLst/>
          </a:prstGeom>
        </p:spPr>
        <p:txBody>
          <a:bodyPr anchor="t" rtlCol="false" tIns="0" lIns="0" bIns="0" rIns="0">
            <a:spAutoFit/>
          </a:bodyPr>
          <a:lstStyle/>
          <a:p>
            <a:pPr algn="just" marL="0" indent="0" lvl="0">
              <a:lnSpc>
                <a:spcPts val="1976"/>
              </a:lnSpc>
              <a:spcBef>
                <a:spcPct val="0"/>
              </a:spcBef>
            </a:pPr>
            <a:r>
              <a:rPr lang="en-US" b="true" sz="1411">
                <a:solidFill>
                  <a:srgbClr val="000000"/>
                </a:solidFill>
                <a:latin typeface="DM Sans Bold"/>
                <a:ea typeface="DM Sans Bold"/>
                <a:cs typeface="DM Sans Bold"/>
                <a:sym typeface="DM Sans Bold"/>
              </a:rPr>
              <a:t>Co</a:t>
            </a:r>
            <a:r>
              <a:rPr lang="en-US" b="true" sz="1411">
                <a:solidFill>
                  <a:srgbClr val="000000"/>
                </a:solidFill>
                <a:latin typeface="DM Sans Bold"/>
                <a:ea typeface="DM Sans Bold"/>
                <a:cs typeface="DM Sans Bold"/>
                <a:sym typeface="DM Sans Bold"/>
              </a:rPr>
              <a:t>r</a:t>
            </a:r>
            <a:r>
              <a:rPr lang="en-US" b="true" sz="1411" strike="noStrike" u="none">
                <a:solidFill>
                  <a:srgbClr val="000000"/>
                </a:solidFill>
                <a:latin typeface="DM Sans Bold"/>
                <a:ea typeface="DM Sans Bold"/>
                <a:cs typeface="DM Sans Bold"/>
                <a:sym typeface="DM Sans Bold"/>
              </a:rPr>
              <a:t>e Capa</a:t>
            </a:r>
            <a:r>
              <a:rPr lang="en-US" b="true" sz="1411" strike="noStrike" u="none">
                <a:solidFill>
                  <a:srgbClr val="000000"/>
                </a:solidFill>
                <a:latin typeface="DM Sans Bold"/>
                <a:ea typeface="DM Sans Bold"/>
                <a:cs typeface="DM Sans Bold"/>
                <a:sym typeface="DM Sans Bold"/>
              </a:rPr>
              <a:t>biliti</a:t>
            </a:r>
            <a:r>
              <a:rPr lang="en-US" b="true" sz="1411" strike="noStrike" u="none">
                <a:solidFill>
                  <a:srgbClr val="000000"/>
                </a:solidFill>
                <a:latin typeface="DM Sans Bold"/>
                <a:ea typeface="DM Sans Bold"/>
                <a:cs typeface="DM Sans Bold"/>
                <a:sym typeface="DM Sans Bold"/>
              </a:rPr>
              <a:t>es:</a:t>
            </a:r>
          </a:p>
          <a:p>
            <a:pPr algn="just" marL="304825" indent="-152413" lvl="1">
              <a:lnSpc>
                <a:spcPts val="1976"/>
              </a:lnSpc>
              <a:spcBef>
                <a:spcPct val="0"/>
              </a:spcBef>
              <a:buFont typeface="Arial"/>
              <a:buChar char="•"/>
            </a:pPr>
            <a:r>
              <a:rPr lang="en-US" sz="1411" strike="noStrike" u="none">
                <a:solidFill>
                  <a:srgbClr val="000000"/>
                </a:solidFill>
                <a:latin typeface="DM Sans"/>
                <a:ea typeface="DM Sans"/>
                <a:cs typeface="DM Sans"/>
                <a:sym typeface="DM Sans"/>
              </a:rPr>
              <a:t>Define sl</a:t>
            </a:r>
            <a:r>
              <a:rPr lang="en-US" sz="1411" strike="noStrike" u="none">
                <a:solidFill>
                  <a:srgbClr val="000000"/>
                </a:solidFill>
                <a:latin typeface="DM Sans"/>
                <a:ea typeface="DM Sans"/>
                <a:cs typeface="DM Sans"/>
                <a:sym typeface="DM Sans"/>
              </a:rPr>
              <a:t>ot</a:t>
            </a:r>
            <a:r>
              <a:rPr lang="en-US" sz="1411" strike="noStrike" u="none">
                <a:solidFill>
                  <a:srgbClr val="000000"/>
                </a:solidFill>
                <a:latin typeface="DM Sans"/>
                <a:ea typeface="DM Sans"/>
                <a:cs typeface="DM Sans"/>
                <a:sym typeface="DM Sans"/>
              </a:rPr>
              <a:t> calendars</a:t>
            </a:r>
          </a:p>
          <a:p>
            <a:pPr algn="just" marL="304825" indent="-152413" lvl="1">
              <a:lnSpc>
                <a:spcPts val="1976"/>
              </a:lnSpc>
              <a:spcBef>
                <a:spcPct val="0"/>
              </a:spcBef>
              <a:buFont typeface="Arial"/>
              <a:buChar char="•"/>
            </a:pPr>
            <a:r>
              <a:rPr lang="en-US" sz="1411" strike="noStrike" u="none">
                <a:solidFill>
                  <a:srgbClr val="000000"/>
                </a:solidFill>
                <a:latin typeface="DM Sans"/>
                <a:ea typeface="DM Sans"/>
                <a:cs typeface="DM Sans"/>
                <a:sym typeface="DM Sans"/>
              </a:rPr>
              <a:t>R</a:t>
            </a:r>
            <a:r>
              <a:rPr lang="en-US" sz="1411" strike="noStrike" u="none">
                <a:solidFill>
                  <a:srgbClr val="000000"/>
                </a:solidFill>
                <a:latin typeface="DM Sans"/>
                <a:ea typeface="DM Sans"/>
                <a:cs typeface="DM Sans"/>
                <a:sym typeface="DM Sans"/>
              </a:rPr>
              <a:t>eschedule/adjust plans</a:t>
            </a:r>
          </a:p>
          <a:p>
            <a:pPr algn="just" marL="304825" indent="-152413" lvl="1">
              <a:lnSpc>
                <a:spcPts val="1976"/>
              </a:lnSpc>
              <a:spcBef>
                <a:spcPct val="0"/>
              </a:spcBef>
              <a:buFont typeface="Arial"/>
              <a:buChar char="•"/>
            </a:pPr>
            <a:r>
              <a:rPr lang="en-US" sz="1411" strike="noStrike" u="none">
                <a:solidFill>
                  <a:srgbClr val="000000"/>
                </a:solidFill>
                <a:latin typeface="DM Sans"/>
                <a:ea typeface="DM Sans"/>
                <a:cs typeface="DM Sans"/>
                <a:sym typeface="DM Sans"/>
              </a:rPr>
              <a:t>Analyze business performance</a:t>
            </a:r>
          </a:p>
          <a:p>
            <a:pPr algn="just" marL="304825" indent="-152413" lvl="1">
              <a:lnSpc>
                <a:spcPts val="1976"/>
              </a:lnSpc>
              <a:spcBef>
                <a:spcPct val="0"/>
              </a:spcBef>
              <a:buFont typeface="Arial"/>
              <a:buChar char="•"/>
            </a:pPr>
            <a:r>
              <a:rPr lang="en-US" sz="1411" strike="noStrike" u="none">
                <a:solidFill>
                  <a:srgbClr val="000000"/>
                </a:solidFill>
                <a:latin typeface="DM Sans"/>
                <a:ea typeface="DM Sans"/>
                <a:cs typeface="DM Sans"/>
                <a:sym typeface="DM Sans"/>
              </a:rPr>
              <a:t>Join/leave </a:t>
            </a:r>
            <a:r>
              <a:rPr lang="en-US" sz="1411" strike="noStrike" u="none">
                <a:solidFill>
                  <a:srgbClr val="000000"/>
                </a:solidFill>
                <a:latin typeface="DM Sans"/>
                <a:ea typeface="DM Sans"/>
                <a:cs typeface="DM Sans"/>
                <a:sym typeface="DM Sans"/>
              </a:rPr>
              <a:t>o</a:t>
            </a:r>
            <a:r>
              <a:rPr lang="en-US" sz="1411" strike="noStrike" u="none">
                <a:solidFill>
                  <a:srgbClr val="000000"/>
                </a:solidFill>
                <a:latin typeface="DM Sans"/>
                <a:ea typeface="DM Sans"/>
                <a:cs typeface="DM Sans"/>
                <a:sym typeface="DM Sans"/>
              </a:rPr>
              <a:t>r</a:t>
            </a:r>
            <a:r>
              <a:rPr lang="en-US" sz="1411" strike="noStrike" u="none">
                <a:solidFill>
                  <a:srgbClr val="000000"/>
                </a:solidFill>
                <a:latin typeface="DM Sans"/>
                <a:ea typeface="DM Sans"/>
                <a:cs typeface="DM Sans"/>
                <a:sym typeface="DM Sans"/>
              </a:rPr>
              <a:t>gan</a:t>
            </a:r>
            <a:r>
              <a:rPr lang="en-US" sz="1411" strike="noStrike" u="none">
                <a:solidFill>
                  <a:srgbClr val="000000"/>
                </a:solidFill>
                <a:latin typeface="DM Sans"/>
                <a:ea typeface="DM Sans"/>
                <a:cs typeface="DM Sans"/>
                <a:sym typeface="DM Sans"/>
              </a:rPr>
              <a:t>izations</a:t>
            </a:r>
          </a:p>
          <a:p>
            <a:pPr algn="l" marL="0" indent="0" lvl="0">
              <a:lnSpc>
                <a:spcPts val="1976"/>
              </a:lnSpc>
              <a:spcBef>
                <a:spcPct val="0"/>
              </a:spcBef>
            </a:pPr>
          </a:p>
        </p:txBody>
      </p:sp>
      <p:sp>
        <p:nvSpPr>
          <p:cNvPr name="TextBox 43" id="43"/>
          <p:cNvSpPr txBox="true"/>
          <p:nvPr/>
        </p:nvSpPr>
        <p:spPr>
          <a:xfrm rot="0">
            <a:off x="12815069" y="6940828"/>
            <a:ext cx="3024755" cy="1478613"/>
          </a:xfrm>
          <a:prstGeom prst="rect">
            <a:avLst/>
          </a:prstGeom>
        </p:spPr>
        <p:txBody>
          <a:bodyPr anchor="t" rtlCol="false" tIns="0" lIns="0" bIns="0" rIns="0">
            <a:spAutoFit/>
          </a:bodyPr>
          <a:lstStyle/>
          <a:p>
            <a:pPr algn="just" marL="0" indent="0" lvl="0">
              <a:lnSpc>
                <a:spcPts val="1976"/>
              </a:lnSpc>
              <a:spcBef>
                <a:spcPct val="0"/>
              </a:spcBef>
            </a:pPr>
            <a:r>
              <a:rPr lang="en-US" b="true" sz="1411">
                <a:solidFill>
                  <a:srgbClr val="000000"/>
                </a:solidFill>
                <a:latin typeface="DM Sans Bold"/>
                <a:ea typeface="DM Sans Bold"/>
                <a:cs typeface="DM Sans Bold"/>
                <a:sym typeface="DM Sans Bold"/>
              </a:rPr>
              <a:t>Co</a:t>
            </a:r>
            <a:r>
              <a:rPr lang="en-US" b="true" sz="1411">
                <a:solidFill>
                  <a:srgbClr val="000000"/>
                </a:solidFill>
                <a:latin typeface="DM Sans Bold"/>
                <a:ea typeface="DM Sans Bold"/>
                <a:cs typeface="DM Sans Bold"/>
                <a:sym typeface="DM Sans Bold"/>
              </a:rPr>
              <a:t>r</a:t>
            </a:r>
            <a:r>
              <a:rPr lang="en-US" b="true" sz="1411" strike="noStrike" u="none">
                <a:solidFill>
                  <a:srgbClr val="000000"/>
                </a:solidFill>
                <a:latin typeface="DM Sans Bold"/>
                <a:ea typeface="DM Sans Bold"/>
                <a:cs typeface="DM Sans Bold"/>
                <a:sym typeface="DM Sans Bold"/>
              </a:rPr>
              <a:t>e Capa</a:t>
            </a:r>
            <a:r>
              <a:rPr lang="en-US" b="true" sz="1411" strike="noStrike" u="none">
                <a:solidFill>
                  <a:srgbClr val="000000"/>
                </a:solidFill>
                <a:latin typeface="DM Sans Bold"/>
                <a:ea typeface="DM Sans Bold"/>
                <a:cs typeface="DM Sans Bold"/>
                <a:sym typeface="DM Sans Bold"/>
              </a:rPr>
              <a:t>biliti</a:t>
            </a:r>
            <a:r>
              <a:rPr lang="en-US" b="true" sz="1411" strike="noStrike" u="none">
                <a:solidFill>
                  <a:srgbClr val="000000"/>
                </a:solidFill>
                <a:latin typeface="DM Sans Bold"/>
                <a:ea typeface="DM Sans Bold"/>
                <a:cs typeface="DM Sans Bold"/>
                <a:sym typeface="DM Sans Bold"/>
              </a:rPr>
              <a:t>es:</a:t>
            </a:r>
          </a:p>
          <a:p>
            <a:pPr algn="just" marL="304825" indent="-152413" lvl="1">
              <a:lnSpc>
                <a:spcPts val="1976"/>
              </a:lnSpc>
              <a:spcBef>
                <a:spcPct val="0"/>
              </a:spcBef>
              <a:buFont typeface="Arial"/>
              <a:buChar char="•"/>
            </a:pPr>
            <a:r>
              <a:rPr lang="en-US" sz="1411" strike="noStrike" u="none">
                <a:solidFill>
                  <a:srgbClr val="000000"/>
                </a:solidFill>
                <a:latin typeface="DM Sans"/>
                <a:ea typeface="DM Sans"/>
                <a:cs typeface="DM Sans"/>
                <a:sym typeface="DM Sans"/>
              </a:rPr>
              <a:t>Approve onboarded providers</a:t>
            </a:r>
          </a:p>
          <a:p>
            <a:pPr algn="just" marL="304825" indent="-152413" lvl="1">
              <a:lnSpc>
                <a:spcPts val="1976"/>
              </a:lnSpc>
              <a:spcBef>
                <a:spcPct val="0"/>
              </a:spcBef>
              <a:buFont typeface="Arial"/>
              <a:buChar char="•"/>
            </a:pPr>
            <a:r>
              <a:rPr lang="en-US" sz="1411" strike="noStrike" u="none">
                <a:solidFill>
                  <a:srgbClr val="000000"/>
                </a:solidFill>
                <a:latin typeface="DM Sans"/>
                <a:ea typeface="DM Sans"/>
                <a:cs typeface="DM Sans"/>
                <a:sym typeface="DM Sans"/>
              </a:rPr>
              <a:t>Ma</a:t>
            </a:r>
            <a:r>
              <a:rPr lang="en-US" sz="1411" strike="noStrike" u="none">
                <a:solidFill>
                  <a:srgbClr val="000000"/>
                </a:solidFill>
                <a:latin typeface="DM Sans"/>
                <a:ea typeface="DM Sans"/>
                <a:cs typeface="DM Sans"/>
                <a:sym typeface="DM Sans"/>
              </a:rPr>
              <a:t>na</a:t>
            </a:r>
            <a:r>
              <a:rPr lang="en-US" sz="1411" strike="noStrike" u="none">
                <a:solidFill>
                  <a:srgbClr val="000000"/>
                </a:solidFill>
                <a:latin typeface="DM Sans"/>
                <a:ea typeface="DM Sans"/>
                <a:cs typeface="DM Sans"/>
                <a:sym typeface="DM Sans"/>
              </a:rPr>
              <a:t>ge corporate providers</a:t>
            </a:r>
          </a:p>
          <a:p>
            <a:pPr algn="just" marL="304825" indent="-152413" lvl="1">
              <a:lnSpc>
                <a:spcPts val="1976"/>
              </a:lnSpc>
              <a:spcBef>
                <a:spcPct val="0"/>
              </a:spcBef>
              <a:buFont typeface="Arial"/>
              <a:buChar char="•"/>
            </a:pPr>
            <a:r>
              <a:rPr lang="en-US" sz="1411" strike="noStrike" u="none">
                <a:solidFill>
                  <a:srgbClr val="000000"/>
                </a:solidFill>
                <a:latin typeface="DM Sans"/>
                <a:ea typeface="DM Sans"/>
                <a:cs typeface="DM Sans"/>
                <a:sym typeface="DM Sans"/>
              </a:rPr>
              <a:t>A</a:t>
            </a:r>
            <a:r>
              <a:rPr lang="en-US" sz="1411" strike="noStrike" u="none">
                <a:solidFill>
                  <a:srgbClr val="000000"/>
                </a:solidFill>
                <a:latin typeface="DM Sans"/>
                <a:ea typeface="DM Sans"/>
                <a:cs typeface="DM Sans"/>
                <a:sym typeface="DM Sans"/>
              </a:rPr>
              <a:t>nalyze group performance</a:t>
            </a:r>
          </a:p>
          <a:p>
            <a:pPr algn="l" marL="304825" indent="-152413" lvl="1">
              <a:lnSpc>
                <a:spcPts val="1976"/>
              </a:lnSpc>
              <a:spcBef>
                <a:spcPct val="0"/>
              </a:spcBef>
              <a:buFont typeface="Arial"/>
              <a:buChar char="•"/>
            </a:pPr>
            <a:r>
              <a:rPr lang="en-US" sz="1411" strike="noStrike" u="none">
                <a:solidFill>
                  <a:srgbClr val="000000"/>
                </a:solidFill>
                <a:latin typeface="DM Sans"/>
                <a:ea typeface="DM Sans"/>
                <a:cs typeface="DM Sans"/>
                <a:sym typeface="DM Sans"/>
              </a:rPr>
              <a:t>Han</a:t>
            </a:r>
            <a:r>
              <a:rPr lang="en-US" sz="1411" strike="noStrike" u="none">
                <a:solidFill>
                  <a:srgbClr val="000000"/>
                </a:solidFill>
                <a:latin typeface="DM Sans"/>
                <a:ea typeface="DM Sans"/>
                <a:cs typeface="DM Sans"/>
                <a:sym typeface="DM Sans"/>
              </a:rPr>
              <a:t>dle </a:t>
            </a:r>
            <a:r>
              <a:rPr lang="en-US" sz="1411" strike="noStrike" u="none">
                <a:solidFill>
                  <a:srgbClr val="000000"/>
                </a:solidFill>
                <a:latin typeface="DM Sans"/>
                <a:ea typeface="DM Sans"/>
                <a:cs typeface="DM Sans"/>
                <a:sym typeface="DM Sans"/>
              </a:rPr>
              <a:t>agg</a:t>
            </a:r>
            <a:r>
              <a:rPr lang="en-US" sz="1411" strike="noStrike" u="none">
                <a:solidFill>
                  <a:srgbClr val="000000"/>
                </a:solidFill>
                <a:latin typeface="DM Sans"/>
                <a:ea typeface="DM Sans"/>
                <a:cs typeface="DM Sans"/>
                <a:sym typeface="DM Sans"/>
              </a:rPr>
              <a:t>re</a:t>
            </a:r>
            <a:r>
              <a:rPr lang="en-US" sz="1411" strike="noStrike" u="none">
                <a:solidFill>
                  <a:srgbClr val="000000"/>
                </a:solidFill>
                <a:latin typeface="DM Sans"/>
                <a:ea typeface="DM Sans"/>
                <a:cs typeface="DM Sans"/>
                <a:sym typeface="DM Sans"/>
              </a:rPr>
              <a:t>gat</a:t>
            </a:r>
            <a:r>
              <a:rPr lang="en-US" sz="1411" strike="noStrike" u="none">
                <a:solidFill>
                  <a:srgbClr val="000000"/>
                </a:solidFill>
                <a:latin typeface="DM Sans"/>
                <a:ea typeface="DM Sans"/>
                <a:cs typeface="DM Sans"/>
                <a:sym typeface="DM Sans"/>
              </a:rPr>
              <a:t>ed payouts</a:t>
            </a:r>
          </a:p>
          <a:p>
            <a:pPr algn="just" marL="0" indent="0" lvl="0">
              <a:lnSpc>
                <a:spcPts val="1976"/>
              </a:lnSpc>
              <a:spcBef>
                <a:spcPct val="0"/>
              </a:spcBef>
            </a:pPr>
          </a:p>
        </p:txBody>
      </p:sp>
      <p:sp>
        <p:nvSpPr>
          <p:cNvPr name="AutoShape 44" id="44"/>
          <p:cNvSpPr/>
          <p:nvPr/>
        </p:nvSpPr>
        <p:spPr>
          <a:xfrm>
            <a:off x="214061" y="5124450"/>
            <a:ext cx="5472996" cy="19050"/>
          </a:xfrm>
          <a:prstGeom prst="line">
            <a:avLst/>
          </a:prstGeom>
          <a:ln cap="flat" w="38100">
            <a:solidFill>
              <a:srgbClr val="E44650"/>
            </a:solidFill>
            <a:prstDash val="solid"/>
            <a:headEnd type="none" len="sm" w="sm"/>
            <a:tailEnd type="none" len="sm" w="sm"/>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715237" y="149041"/>
            <a:ext cx="11077295" cy="10137959"/>
          </a:xfrm>
          <a:custGeom>
            <a:avLst/>
            <a:gdLst/>
            <a:ahLst/>
            <a:cxnLst/>
            <a:rect r="r" b="b" t="t" l="l"/>
            <a:pathLst>
              <a:path h="10137959" w="11077295">
                <a:moveTo>
                  <a:pt x="0" y="0"/>
                </a:moveTo>
                <a:lnTo>
                  <a:pt x="11077294" y="0"/>
                </a:lnTo>
                <a:lnTo>
                  <a:pt x="11077294" y="10137959"/>
                </a:lnTo>
                <a:lnTo>
                  <a:pt x="0" y="10137959"/>
                </a:lnTo>
                <a:lnTo>
                  <a:pt x="0" y="0"/>
                </a:lnTo>
                <a:close/>
              </a:path>
            </a:pathLst>
          </a:custGeom>
          <a:blipFill>
            <a:blip r:embed="rId2"/>
            <a:stretch>
              <a:fillRect l="-95" t="0" r="-95" b="-1281"/>
            </a:stretch>
          </a:blipFill>
        </p:spPr>
      </p:sp>
      <p:sp>
        <p:nvSpPr>
          <p:cNvPr name="TextBox 3" id="3"/>
          <p:cNvSpPr txBox="true"/>
          <p:nvPr/>
        </p:nvSpPr>
        <p:spPr>
          <a:xfrm rot="0">
            <a:off x="675129" y="4255589"/>
            <a:ext cx="4144342" cy="613410"/>
          </a:xfrm>
          <a:prstGeom prst="rect">
            <a:avLst/>
          </a:prstGeom>
        </p:spPr>
        <p:txBody>
          <a:bodyPr anchor="t" rtlCol="false" tIns="0" lIns="0" bIns="0" rIns="0">
            <a:spAutoFit/>
          </a:bodyPr>
          <a:lstStyle/>
          <a:p>
            <a:pPr algn="l">
              <a:lnSpc>
                <a:spcPts val="5039"/>
              </a:lnSpc>
              <a:spcBef>
                <a:spcPct val="0"/>
              </a:spcBef>
            </a:pPr>
            <a:r>
              <a:rPr lang="en-US" sz="3599" b="true">
                <a:solidFill>
                  <a:srgbClr val="000000"/>
                </a:solidFill>
                <a:latin typeface="DM Sans Bold"/>
                <a:ea typeface="DM Sans Bold"/>
                <a:cs typeface="DM Sans Bold"/>
                <a:sym typeface="DM Sans Bold"/>
              </a:rPr>
              <a:t>Tech - Stack</a:t>
            </a:r>
          </a:p>
        </p:txBody>
      </p:sp>
      <p:sp>
        <p:nvSpPr>
          <p:cNvPr name="AutoShape 4" id="4"/>
          <p:cNvSpPr/>
          <p:nvPr/>
        </p:nvSpPr>
        <p:spPr>
          <a:xfrm>
            <a:off x="214061" y="5124450"/>
            <a:ext cx="5472996" cy="19050"/>
          </a:xfrm>
          <a:prstGeom prst="line">
            <a:avLst/>
          </a:prstGeom>
          <a:ln cap="flat" w="38100">
            <a:solidFill>
              <a:srgbClr val="E44650"/>
            </a:solidFill>
            <a:prstDash val="solid"/>
            <a:headEnd type="none" len="sm" w="sm"/>
            <a:tailEnd type="none" len="sm" w="sm"/>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228788" y="1837948"/>
            <a:ext cx="4772539" cy="19050"/>
          </a:xfrm>
          <a:prstGeom prst="line">
            <a:avLst/>
          </a:prstGeom>
          <a:ln cap="flat" w="38100">
            <a:solidFill>
              <a:srgbClr val="E44650"/>
            </a:solidFill>
            <a:prstDash val="solid"/>
            <a:headEnd type="none" len="sm" w="sm"/>
            <a:tailEnd type="none" len="sm" w="sm"/>
          </a:ln>
        </p:spPr>
      </p:sp>
      <p:sp>
        <p:nvSpPr>
          <p:cNvPr name="Freeform 3" id="3"/>
          <p:cNvSpPr/>
          <p:nvPr/>
        </p:nvSpPr>
        <p:spPr>
          <a:xfrm flipH="false" flipV="false" rot="0">
            <a:off x="114394" y="2123698"/>
            <a:ext cx="18059212" cy="6540264"/>
          </a:xfrm>
          <a:custGeom>
            <a:avLst/>
            <a:gdLst/>
            <a:ahLst/>
            <a:cxnLst/>
            <a:rect r="r" b="b" t="t" l="l"/>
            <a:pathLst>
              <a:path h="6540264" w="18059212">
                <a:moveTo>
                  <a:pt x="0" y="0"/>
                </a:moveTo>
                <a:lnTo>
                  <a:pt x="18059212" y="0"/>
                </a:lnTo>
                <a:lnTo>
                  <a:pt x="18059212" y="6540263"/>
                </a:lnTo>
                <a:lnTo>
                  <a:pt x="0" y="6540263"/>
                </a:lnTo>
                <a:lnTo>
                  <a:pt x="0" y="0"/>
                </a:lnTo>
                <a:close/>
              </a:path>
            </a:pathLst>
          </a:custGeom>
          <a:blipFill>
            <a:blip r:embed="rId2"/>
            <a:stretch>
              <a:fillRect l="0" t="0" r="0" b="0"/>
            </a:stretch>
          </a:blipFill>
        </p:spPr>
      </p:sp>
      <p:sp>
        <p:nvSpPr>
          <p:cNvPr name="TextBox 4" id="4"/>
          <p:cNvSpPr txBox="true"/>
          <p:nvPr/>
        </p:nvSpPr>
        <p:spPr>
          <a:xfrm rot="0">
            <a:off x="376719" y="962025"/>
            <a:ext cx="10168553" cy="613410"/>
          </a:xfrm>
          <a:prstGeom prst="rect">
            <a:avLst/>
          </a:prstGeom>
        </p:spPr>
        <p:txBody>
          <a:bodyPr anchor="t" rtlCol="false" tIns="0" lIns="0" bIns="0" rIns="0">
            <a:spAutoFit/>
          </a:bodyPr>
          <a:lstStyle/>
          <a:p>
            <a:pPr algn="l">
              <a:lnSpc>
                <a:spcPts val="5039"/>
              </a:lnSpc>
              <a:spcBef>
                <a:spcPct val="0"/>
              </a:spcBef>
            </a:pPr>
            <a:r>
              <a:rPr lang="en-US" sz="3599" b="true">
                <a:solidFill>
                  <a:srgbClr val="000000"/>
                </a:solidFill>
                <a:latin typeface="DM Sans Bold"/>
                <a:ea typeface="DM Sans Bold"/>
                <a:cs typeface="DM Sans Bold"/>
                <a:sym typeface="DM Sans Bold"/>
              </a:rPr>
              <a:t>Project Workflow</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DF3F6"/>
        </a:solidFill>
      </p:bgPr>
    </p:bg>
    <p:spTree>
      <p:nvGrpSpPr>
        <p:cNvPr id="1" name=""/>
        <p:cNvGrpSpPr/>
        <p:nvPr/>
      </p:nvGrpSpPr>
      <p:grpSpPr>
        <a:xfrm>
          <a:off x="0" y="0"/>
          <a:ext cx="0" cy="0"/>
          <a:chOff x="0" y="0"/>
          <a:chExt cx="0" cy="0"/>
        </a:xfrm>
      </p:grpSpPr>
      <p:sp>
        <p:nvSpPr>
          <p:cNvPr name="Freeform 2" id="2"/>
          <p:cNvSpPr/>
          <p:nvPr/>
        </p:nvSpPr>
        <p:spPr>
          <a:xfrm flipH="false" flipV="false" rot="0">
            <a:off x="804028" y="2053249"/>
            <a:ext cx="493718" cy="1194479"/>
          </a:xfrm>
          <a:custGeom>
            <a:avLst/>
            <a:gdLst/>
            <a:ahLst/>
            <a:cxnLst/>
            <a:rect r="r" b="b" t="t" l="l"/>
            <a:pathLst>
              <a:path h="1194479" w="493718">
                <a:moveTo>
                  <a:pt x="0" y="0"/>
                </a:moveTo>
                <a:lnTo>
                  <a:pt x="493718" y="0"/>
                </a:lnTo>
                <a:lnTo>
                  <a:pt x="493718" y="1194480"/>
                </a:lnTo>
                <a:lnTo>
                  <a:pt x="0" y="11944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93224" y="3247729"/>
            <a:ext cx="3240279" cy="1081542"/>
            <a:chOff x="0" y="0"/>
            <a:chExt cx="513170" cy="171286"/>
          </a:xfrm>
        </p:grpSpPr>
        <p:sp>
          <p:nvSpPr>
            <p:cNvPr name="Freeform 4" id="4"/>
            <p:cNvSpPr/>
            <p:nvPr/>
          </p:nvSpPr>
          <p:spPr>
            <a:xfrm flipH="false" flipV="false" rot="0">
              <a:off x="0" y="0"/>
              <a:ext cx="513170" cy="171286"/>
            </a:xfrm>
            <a:custGeom>
              <a:avLst/>
              <a:gdLst/>
              <a:ahLst/>
              <a:cxnLst/>
              <a:rect r="r" b="b" t="t" l="l"/>
              <a:pathLst>
                <a:path h="171286" w="513170">
                  <a:moveTo>
                    <a:pt x="0" y="0"/>
                  </a:moveTo>
                  <a:lnTo>
                    <a:pt x="513170" y="0"/>
                  </a:lnTo>
                  <a:lnTo>
                    <a:pt x="513170" y="171286"/>
                  </a:lnTo>
                  <a:lnTo>
                    <a:pt x="0" y="171286"/>
                  </a:lnTo>
                  <a:close/>
                </a:path>
              </a:pathLst>
            </a:custGeom>
            <a:solidFill>
              <a:srgbClr val="232627"/>
            </a:solidFill>
          </p:spPr>
        </p:sp>
        <p:sp>
          <p:nvSpPr>
            <p:cNvPr name="TextBox 5" id="5"/>
            <p:cNvSpPr txBox="true"/>
            <p:nvPr/>
          </p:nvSpPr>
          <p:spPr>
            <a:xfrm>
              <a:off x="0" y="-38100"/>
              <a:ext cx="513170" cy="209386"/>
            </a:xfrm>
            <a:prstGeom prst="rect">
              <a:avLst/>
            </a:prstGeom>
          </p:spPr>
          <p:txBody>
            <a:bodyPr anchor="ctr" rtlCol="false" tIns="50800" lIns="50800" bIns="50800" rIns="50800"/>
            <a:lstStyle/>
            <a:p>
              <a:pPr algn="ctr">
                <a:lnSpc>
                  <a:spcPts val="2520"/>
                </a:lnSpc>
              </a:pPr>
            </a:p>
          </p:txBody>
        </p:sp>
      </p:grpSp>
      <p:grpSp>
        <p:nvGrpSpPr>
          <p:cNvPr name="Group 6" id="6"/>
          <p:cNvGrpSpPr/>
          <p:nvPr/>
        </p:nvGrpSpPr>
        <p:grpSpPr>
          <a:xfrm rot="0">
            <a:off x="5171775" y="8198939"/>
            <a:ext cx="4497304" cy="1081542"/>
            <a:chOff x="0" y="0"/>
            <a:chExt cx="712248" cy="171286"/>
          </a:xfrm>
        </p:grpSpPr>
        <p:sp>
          <p:nvSpPr>
            <p:cNvPr name="Freeform 7" id="7"/>
            <p:cNvSpPr/>
            <p:nvPr/>
          </p:nvSpPr>
          <p:spPr>
            <a:xfrm flipH="false" flipV="false" rot="0">
              <a:off x="0" y="0"/>
              <a:ext cx="712248" cy="171286"/>
            </a:xfrm>
            <a:custGeom>
              <a:avLst/>
              <a:gdLst/>
              <a:ahLst/>
              <a:cxnLst/>
              <a:rect r="r" b="b" t="t" l="l"/>
              <a:pathLst>
                <a:path h="171286" w="712248">
                  <a:moveTo>
                    <a:pt x="0" y="0"/>
                  </a:moveTo>
                  <a:lnTo>
                    <a:pt x="712248" y="0"/>
                  </a:lnTo>
                  <a:lnTo>
                    <a:pt x="712248" y="171286"/>
                  </a:lnTo>
                  <a:lnTo>
                    <a:pt x="0" y="171286"/>
                  </a:lnTo>
                  <a:close/>
                </a:path>
              </a:pathLst>
            </a:custGeom>
            <a:solidFill>
              <a:srgbClr val="232627"/>
            </a:solidFill>
          </p:spPr>
        </p:sp>
        <p:sp>
          <p:nvSpPr>
            <p:cNvPr name="TextBox 8" id="8"/>
            <p:cNvSpPr txBox="true"/>
            <p:nvPr/>
          </p:nvSpPr>
          <p:spPr>
            <a:xfrm>
              <a:off x="0" y="-38100"/>
              <a:ext cx="712248" cy="209386"/>
            </a:xfrm>
            <a:prstGeom prst="rect">
              <a:avLst/>
            </a:prstGeom>
          </p:spPr>
          <p:txBody>
            <a:bodyPr anchor="ctr" rtlCol="false" tIns="50800" lIns="50800" bIns="50800" rIns="50800"/>
            <a:lstStyle/>
            <a:p>
              <a:pPr algn="ctr">
                <a:lnSpc>
                  <a:spcPts val="2520"/>
                </a:lnSpc>
              </a:pPr>
            </a:p>
          </p:txBody>
        </p:sp>
      </p:grpSp>
      <p:grpSp>
        <p:nvGrpSpPr>
          <p:cNvPr name="Group 9" id="9"/>
          <p:cNvGrpSpPr/>
          <p:nvPr/>
        </p:nvGrpSpPr>
        <p:grpSpPr>
          <a:xfrm rot="-5400000">
            <a:off x="2698768" y="5725933"/>
            <a:ext cx="1817556" cy="1081542"/>
            <a:chOff x="0" y="0"/>
            <a:chExt cx="287850" cy="171286"/>
          </a:xfrm>
        </p:grpSpPr>
        <p:sp>
          <p:nvSpPr>
            <p:cNvPr name="Freeform 10" id="10"/>
            <p:cNvSpPr/>
            <p:nvPr/>
          </p:nvSpPr>
          <p:spPr>
            <a:xfrm flipH="false" flipV="false" rot="0">
              <a:off x="0" y="0"/>
              <a:ext cx="287850" cy="171286"/>
            </a:xfrm>
            <a:custGeom>
              <a:avLst/>
              <a:gdLst/>
              <a:ahLst/>
              <a:cxnLst/>
              <a:rect r="r" b="b" t="t" l="l"/>
              <a:pathLst>
                <a:path h="171286" w="287850">
                  <a:moveTo>
                    <a:pt x="0" y="0"/>
                  </a:moveTo>
                  <a:lnTo>
                    <a:pt x="287850" y="0"/>
                  </a:lnTo>
                  <a:lnTo>
                    <a:pt x="287850" y="171286"/>
                  </a:lnTo>
                  <a:lnTo>
                    <a:pt x="0" y="171286"/>
                  </a:lnTo>
                  <a:close/>
                </a:path>
              </a:pathLst>
            </a:custGeom>
            <a:solidFill>
              <a:srgbClr val="232627"/>
            </a:solidFill>
          </p:spPr>
        </p:sp>
        <p:sp>
          <p:nvSpPr>
            <p:cNvPr name="TextBox 11" id="11"/>
            <p:cNvSpPr txBox="true"/>
            <p:nvPr/>
          </p:nvSpPr>
          <p:spPr>
            <a:xfrm>
              <a:off x="0" y="-38100"/>
              <a:ext cx="287850" cy="209386"/>
            </a:xfrm>
            <a:prstGeom prst="rect">
              <a:avLst/>
            </a:prstGeom>
          </p:spPr>
          <p:txBody>
            <a:bodyPr anchor="ctr" rtlCol="false" tIns="50800" lIns="50800" bIns="50800" rIns="50800"/>
            <a:lstStyle/>
            <a:p>
              <a:pPr algn="ctr">
                <a:lnSpc>
                  <a:spcPts val="2520"/>
                </a:lnSpc>
              </a:pPr>
            </a:p>
          </p:txBody>
        </p:sp>
      </p:grpSp>
      <p:grpSp>
        <p:nvGrpSpPr>
          <p:cNvPr name="Group 12" id="12"/>
          <p:cNvGrpSpPr/>
          <p:nvPr/>
        </p:nvGrpSpPr>
        <p:grpSpPr>
          <a:xfrm rot="5400000">
            <a:off x="2027477" y="3247729"/>
            <a:ext cx="2120840" cy="2120840"/>
            <a:chOff x="0" y="0"/>
            <a:chExt cx="558800" cy="558800"/>
          </a:xfrm>
        </p:grpSpPr>
        <p:sp>
          <p:nvSpPr>
            <p:cNvPr name="Freeform 13" id="13"/>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solidFill>
              <a:srgbClr val="232627"/>
            </a:solidFill>
          </p:spPr>
        </p:sp>
        <p:sp>
          <p:nvSpPr>
            <p:cNvPr name="TextBox 14" id="14"/>
            <p:cNvSpPr txBox="true"/>
            <p:nvPr/>
          </p:nvSpPr>
          <p:spPr>
            <a:xfrm>
              <a:off x="127000" y="88900"/>
              <a:ext cx="431800" cy="469900"/>
            </a:xfrm>
            <a:prstGeom prst="rect">
              <a:avLst/>
            </a:prstGeom>
          </p:spPr>
          <p:txBody>
            <a:bodyPr anchor="ctr" rtlCol="false" tIns="50800" lIns="50800" bIns="50800" rIns="50800"/>
            <a:lstStyle/>
            <a:p>
              <a:pPr algn="ctr">
                <a:lnSpc>
                  <a:spcPts val="2520"/>
                </a:lnSpc>
              </a:pPr>
            </a:p>
          </p:txBody>
        </p:sp>
      </p:grpSp>
      <p:grpSp>
        <p:nvGrpSpPr>
          <p:cNvPr name="Group 15" id="15"/>
          <p:cNvGrpSpPr/>
          <p:nvPr/>
        </p:nvGrpSpPr>
        <p:grpSpPr>
          <a:xfrm rot="5400000">
            <a:off x="9466052" y="8198939"/>
            <a:ext cx="2120840" cy="2120840"/>
            <a:chOff x="0" y="0"/>
            <a:chExt cx="558800" cy="558800"/>
          </a:xfrm>
        </p:grpSpPr>
        <p:sp>
          <p:nvSpPr>
            <p:cNvPr name="Freeform 16" id="16"/>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solidFill>
              <a:srgbClr val="232627"/>
            </a:solidFill>
          </p:spPr>
        </p:sp>
        <p:sp>
          <p:nvSpPr>
            <p:cNvPr name="TextBox 17" id="17"/>
            <p:cNvSpPr txBox="true"/>
            <p:nvPr/>
          </p:nvSpPr>
          <p:spPr>
            <a:xfrm>
              <a:off x="127000" y="88900"/>
              <a:ext cx="431800" cy="469900"/>
            </a:xfrm>
            <a:prstGeom prst="rect">
              <a:avLst/>
            </a:prstGeom>
          </p:spPr>
          <p:txBody>
            <a:bodyPr anchor="ctr" rtlCol="false" tIns="50800" lIns="50800" bIns="50800" rIns="50800"/>
            <a:lstStyle/>
            <a:p>
              <a:pPr algn="ctr">
                <a:lnSpc>
                  <a:spcPts val="2520"/>
                </a:lnSpc>
              </a:pPr>
            </a:p>
          </p:txBody>
        </p:sp>
      </p:grpSp>
      <p:grpSp>
        <p:nvGrpSpPr>
          <p:cNvPr name="Group 18" id="18"/>
          <p:cNvGrpSpPr/>
          <p:nvPr/>
        </p:nvGrpSpPr>
        <p:grpSpPr>
          <a:xfrm rot="-5400000">
            <a:off x="3066775" y="7159641"/>
            <a:ext cx="2120840" cy="2120840"/>
            <a:chOff x="0" y="0"/>
            <a:chExt cx="558800" cy="558800"/>
          </a:xfrm>
        </p:grpSpPr>
        <p:sp>
          <p:nvSpPr>
            <p:cNvPr name="Freeform 19" id="19"/>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solidFill>
              <a:srgbClr val="232627"/>
            </a:solidFill>
          </p:spPr>
        </p:sp>
        <p:sp>
          <p:nvSpPr>
            <p:cNvPr name="TextBox 20" id="20"/>
            <p:cNvSpPr txBox="true"/>
            <p:nvPr/>
          </p:nvSpPr>
          <p:spPr>
            <a:xfrm>
              <a:off x="127000" y="88900"/>
              <a:ext cx="431800" cy="469900"/>
            </a:xfrm>
            <a:prstGeom prst="rect">
              <a:avLst/>
            </a:prstGeom>
          </p:spPr>
          <p:txBody>
            <a:bodyPr anchor="ctr" rtlCol="false" tIns="50800" lIns="50800" bIns="50800" rIns="50800"/>
            <a:lstStyle/>
            <a:p>
              <a:pPr algn="ctr">
                <a:lnSpc>
                  <a:spcPts val="2520"/>
                </a:lnSpc>
              </a:pPr>
            </a:p>
          </p:txBody>
        </p:sp>
      </p:grpSp>
      <p:sp>
        <p:nvSpPr>
          <p:cNvPr name="AutoShape 21" id="21"/>
          <p:cNvSpPr/>
          <p:nvPr/>
        </p:nvSpPr>
        <p:spPr>
          <a:xfrm>
            <a:off x="-1193224" y="3788500"/>
            <a:ext cx="3220701" cy="0"/>
          </a:xfrm>
          <a:prstGeom prst="line">
            <a:avLst/>
          </a:prstGeom>
          <a:ln cap="flat" w="28575">
            <a:solidFill>
              <a:srgbClr val="FFFFFF"/>
            </a:solidFill>
            <a:prstDash val="lgDash"/>
            <a:headEnd type="none" len="sm" w="sm"/>
            <a:tailEnd type="none" len="sm" w="sm"/>
          </a:ln>
        </p:spPr>
      </p:sp>
      <p:sp>
        <p:nvSpPr>
          <p:cNvPr name="AutoShape 22" id="22"/>
          <p:cNvSpPr/>
          <p:nvPr/>
        </p:nvSpPr>
        <p:spPr>
          <a:xfrm flipV="true">
            <a:off x="5171775" y="8739710"/>
            <a:ext cx="4294277" cy="0"/>
          </a:xfrm>
          <a:prstGeom prst="line">
            <a:avLst/>
          </a:prstGeom>
          <a:ln cap="flat" w="28575">
            <a:solidFill>
              <a:srgbClr val="FFFFFF"/>
            </a:solidFill>
            <a:prstDash val="lgDash"/>
            <a:headEnd type="none" len="sm" w="sm"/>
            <a:tailEnd type="none" len="sm" w="sm"/>
          </a:ln>
        </p:spPr>
      </p:sp>
      <p:sp>
        <p:nvSpPr>
          <p:cNvPr name="AutoShape 23" id="23"/>
          <p:cNvSpPr/>
          <p:nvPr/>
        </p:nvSpPr>
        <p:spPr>
          <a:xfrm>
            <a:off x="3607546" y="5357925"/>
            <a:ext cx="0" cy="1801716"/>
          </a:xfrm>
          <a:prstGeom prst="line">
            <a:avLst/>
          </a:prstGeom>
          <a:ln cap="flat" w="28575">
            <a:solidFill>
              <a:srgbClr val="FFFFFF"/>
            </a:solidFill>
            <a:prstDash val="lgDash"/>
            <a:headEnd type="none" len="sm" w="sm"/>
            <a:tailEnd type="none" len="sm" w="sm"/>
          </a:ln>
        </p:spPr>
      </p:sp>
      <p:sp>
        <p:nvSpPr>
          <p:cNvPr name="Freeform 24" id="24"/>
          <p:cNvSpPr/>
          <p:nvPr/>
        </p:nvSpPr>
        <p:spPr>
          <a:xfrm>
            <a:off x="3607546" y="7175481"/>
            <a:ext cx="1564229" cy="1564229"/>
          </a:xfrm>
          <a:custGeom>
            <a:avLst/>
            <a:gdLst/>
            <a:ahLst/>
            <a:cxnLst/>
            <a:rect r="r" b="b" t="t" l="l"/>
            <a:pathLst>
              <a:path h="1564229" w="1564229">
                <a:moveTo>
                  <a:pt x="0" y="0"/>
                </a:moveTo>
                <a:quadBezTo>
                  <a:pt x="62042" y="1502187"/>
                  <a:pt x="1564229" y="1564229"/>
                </a:quadBezTo>
              </a:path>
            </a:pathLst>
          </a:custGeom>
          <a:ln cap="flat" w="28575">
            <a:solidFill>
              <a:srgbClr val="FFFFFF"/>
            </a:solidFill>
            <a:prstDash val="lgDash"/>
            <a:headEnd type="none" len="sm" w="sm"/>
            <a:tailEnd type="none" len="sm" w="sm"/>
          </a:ln>
        </p:spPr>
      </p:sp>
      <p:sp>
        <p:nvSpPr>
          <p:cNvPr name="Freeform 25" id="25"/>
          <p:cNvSpPr/>
          <p:nvPr/>
        </p:nvSpPr>
        <p:spPr>
          <a:xfrm>
            <a:off x="9466052" y="8739710"/>
            <a:ext cx="1580069" cy="1564229"/>
          </a:xfrm>
          <a:custGeom>
            <a:avLst/>
            <a:gdLst/>
            <a:ahLst/>
            <a:cxnLst/>
            <a:rect r="r" b="b" t="t" l="l"/>
            <a:pathLst>
              <a:path h="1564229" w="1580069">
                <a:moveTo>
                  <a:pt x="0" y="0"/>
                </a:moveTo>
                <a:quadBezTo>
                  <a:pt x="1493930" y="71090"/>
                  <a:pt x="1580069" y="1564229"/>
                </a:quadBezTo>
              </a:path>
            </a:pathLst>
          </a:custGeom>
          <a:ln cap="flat" w="28575">
            <a:solidFill>
              <a:srgbClr val="FFFFFF"/>
            </a:solidFill>
            <a:prstDash val="lgDash"/>
            <a:headEnd type="none" len="sm" w="sm"/>
            <a:tailEnd type="none" len="sm" w="sm"/>
          </a:ln>
        </p:spPr>
      </p:sp>
      <p:sp>
        <p:nvSpPr>
          <p:cNvPr name="Freeform 26" id="26"/>
          <p:cNvSpPr/>
          <p:nvPr/>
        </p:nvSpPr>
        <p:spPr>
          <a:xfrm>
            <a:off x="2047056" y="3788499"/>
            <a:ext cx="1560553" cy="1569426"/>
          </a:xfrm>
          <a:custGeom>
            <a:avLst/>
            <a:gdLst/>
            <a:ahLst/>
            <a:cxnLst/>
            <a:rect r="r" b="b" t="t" l="l"/>
            <a:pathLst>
              <a:path h="1569426" w="1560553">
                <a:moveTo>
                  <a:pt x="0" y="1"/>
                </a:moveTo>
                <a:quadBezTo>
                  <a:pt x="1570493" y="-1036"/>
                  <a:pt x="1560490" y="1569426"/>
                </a:quadBezTo>
              </a:path>
            </a:pathLst>
          </a:custGeom>
          <a:ln cap="flat" w="28575">
            <a:solidFill>
              <a:srgbClr val="FFFFFF"/>
            </a:solidFill>
            <a:prstDash val="lgDash"/>
            <a:headEnd type="none" len="sm" w="sm"/>
            <a:tailEnd type="none" len="sm" w="sm"/>
          </a:ln>
        </p:spPr>
      </p:sp>
      <p:sp>
        <p:nvSpPr>
          <p:cNvPr name="Freeform 27" id="27"/>
          <p:cNvSpPr/>
          <p:nvPr/>
        </p:nvSpPr>
        <p:spPr>
          <a:xfrm flipH="false" flipV="false" rot="0">
            <a:off x="1616041" y="1383194"/>
            <a:ext cx="1450734" cy="2485682"/>
          </a:xfrm>
          <a:custGeom>
            <a:avLst/>
            <a:gdLst/>
            <a:ahLst/>
            <a:cxnLst/>
            <a:rect r="r" b="b" t="t" l="l"/>
            <a:pathLst>
              <a:path h="2485682" w="1450734">
                <a:moveTo>
                  <a:pt x="0" y="0"/>
                </a:moveTo>
                <a:lnTo>
                  <a:pt x="1450734" y="0"/>
                </a:lnTo>
                <a:lnTo>
                  <a:pt x="1450734" y="2485682"/>
                </a:lnTo>
                <a:lnTo>
                  <a:pt x="0" y="24856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8" id="28"/>
          <p:cNvSpPr/>
          <p:nvPr/>
        </p:nvSpPr>
        <p:spPr>
          <a:xfrm flipH="false" flipV="false" rot="0">
            <a:off x="2882179" y="4008166"/>
            <a:ext cx="1450734" cy="2485682"/>
          </a:xfrm>
          <a:custGeom>
            <a:avLst/>
            <a:gdLst/>
            <a:ahLst/>
            <a:cxnLst/>
            <a:rect r="r" b="b" t="t" l="l"/>
            <a:pathLst>
              <a:path h="2485682" w="1450734">
                <a:moveTo>
                  <a:pt x="0" y="0"/>
                </a:moveTo>
                <a:lnTo>
                  <a:pt x="1450734" y="0"/>
                </a:lnTo>
                <a:lnTo>
                  <a:pt x="1450734" y="2485682"/>
                </a:lnTo>
                <a:lnTo>
                  <a:pt x="0" y="24856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9" id="29"/>
          <p:cNvSpPr/>
          <p:nvPr/>
        </p:nvSpPr>
        <p:spPr>
          <a:xfrm flipH="false" flipV="false" rot="0">
            <a:off x="4612854" y="6318994"/>
            <a:ext cx="1450734" cy="2485682"/>
          </a:xfrm>
          <a:custGeom>
            <a:avLst/>
            <a:gdLst/>
            <a:ahLst/>
            <a:cxnLst/>
            <a:rect r="r" b="b" t="t" l="l"/>
            <a:pathLst>
              <a:path h="2485682" w="1450734">
                <a:moveTo>
                  <a:pt x="0" y="0"/>
                </a:moveTo>
                <a:lnTo>
                  <a:pt x="1450734" y="0"/>
                </a:lnTo>
                <a:lnTo>
                  <a:pt x="1450734" y="2485682"/>
                </a:lnTo>
                <a:lnTo>
                  <a:pt x="0" y="24856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0" id="30"/>
          <p:cNvSpPr/>
          <p:nvPr/>
        </p:nvSpPr>
        <p:spPr>
          <a:xfrm flipH="false" flipV="false" rot="0">
            <a:off x="7448604" y="6329718"/>
            <a:ext cx="1450734" cy="2485682"/>
          </a:xfrm>
          <a:custGeom>
            <a:avLst/>
            <a:gdLst/>
            <a:ahLst/>
            <a:cxnLst/>
            <a:rect r="r" b="b" t="t" l="l"/>
            <a:pathLst>
              <a:path h="2485682" w="1450734">
                <a:moveTo>
                  <a:pt x="0" y="0"/>
                </a:moveTo>
                <a:lnTo>
                  <a:pt x="1450734" y="0"/>
                </a:lnTo>
                <a:lnTo>
                  <a:pt x="1450734" y="2485682"/>
                </a:lnTo>
                <a:lnTo>
                  <a:pt x="0" y="248568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1" id="31"/>
          <p:cNvSpPr/>
          <p:nvPr/>
        </p:nvSpPr>
        <p:spPr>
          <a:xfrm flipH="false" flipV="false" rot="0">
            <a:off x="10020166" y="6930301"/>
            <a:ext cx="1450734" cy="2485682"/>
          </a:xfrm>
          <a:custGeom>
            <a:avLst/>
            <a:gdLst/>
            <a:ahLst/>
            <a:cxnLst/>
            <a:rect r="r" b="b" t="t" l="l"/>
            <a:pathLst>
              <a:path h="2485682" w="1450734">
                <a:moveTo>
                  <a:pt x="0" y="0"/>
                </a:moveTo>
                <a:lnTo>
                  <a:pt x="1450734" y="0"/>
                </a:lnTo>
                <a:lnTo>
                  <a:pt x="1450734" y="2485682"/>
                </a:lnTo>
                <a:lnTo>
                  <a:pt x="0" y="248568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2" id="32"/>
          <p:cNvSpPr/>
          <p:nvPr/>
        </p:nvSpPr>
        <p:spPr>
          <a:xfrm flipH="false" flipV="false" rot="0">
            <a:off x="12001500" y="2318298"/>
            <a:ext cx="5524500" cy="316403"/>
          </a:xfrm>
          <a:custGeom>
            <a:avLst/>
            <a:gdLst/>
            <a:ahLst/>
            <a:cxnLst/>
            <a:rect r="r" b="b" t="t" l="l"/>
            <a:pathLst>
              <a:path h="316403" w="5524500">
                <a:moveTo>
                  <a:pt x="0" y="0"/>
                </a:moveTo>
                <a:lnTo>
                  <a:pt x="5524500" y="0"/>
                </a:lnTo>
                <a:lnTo>
                  <a:pt x="5524500" y="316404"/>
                </a:lnTo>
                <a:lnTo>
                  <a:pt x="0" y="316404"/>
                </a:lnTo>
                <a:lnTo>
                  <a:pt x="0" y="0"/>
                </a:lnTo>
                <a:close/>
              </a:path>
            </a:pathLst>
          </a:custGeom>
          <a:blipFill>
            <a:blip r:embed="rId14">
              <a:alphaModFix amt="80000"/>
            </a:blip>
            <a:stretch>
              <a:fillRect l="0" t="-100000" r="0" b="0"/>
            </a:stretch>
          </a:blipFill>
        </p:spPr>
      </p:sp>
      <p:sp>
        <p:nvSpPr>
          <p:cNvPr name="Freeform 33" id="33"/>
          <p:cNvSpPr/>
          <p:nvPr/>
        </p:nvSpPr>
        <p:spPr>
          <a:xfrm flipH="false" flipV="false" rot="0">
            <a:off x="12001500" y="4032798"/>
            <a:ext cx="5524500" cy="316403"/>
          </a:xfrm>
          <a:custGeom>
            <a:avLst/>
            <a:gdLst/>
            <a:ahLst/>
            <a:cxnLst/>
            <a:rect r="r" b="b" t="t" l="l"/>
            <a:pathLst>
              <a:path h="316403" w="5524500">
                <a:moveTo>
                  <a:pt x="0" y="0"/>
                </a:moveTo>
                <a:lnTo>
                  <a:pt x="5524500" y="0"/>
                </a:lnTo>
                <a:lnTo>
                  <a:pt x="5524500" y="316404"/>
                </a:lnTo>
                <a:lnTo>
                  <a:pt x="0" y="316404"/>
                </a:lnTo>
                <a:lnTo>
                  <a:pt x="0" y="0"/>
                </a:lnTo>
                <a:close/>
              </a:path>
            </a:pathLst>
          </a:custGeom>
          <a:blipFill>
            <a:blip r:embed="rId14">
              <a:alphaModFix amt="80000"/>
            </a:blip>
            <a:stretch>
              <a:fillRect l="0" t="-100000" r="0" b="0"/>
            </a:stretch>
          </a:blipFill>
        </p:spPr>
      </p:sp>
      <p:grpSp>
        <p:nvGrpSpPr>
          <p:cNvPr name="Group 34" id="34"/>
          <p:cNvGrpSpPr/>
          <p:nvPr/>
        </p:nvGrpSpPr>
        <p:grpSpPr>
          <a:xfrm rot="0">
            <a:off x="12001500" y="952500"/>
            <a:ext cx="5524500" cy="1524000"/>
            <a:chOff x="0" y="0"/>
            <a:chExt cx="1455012" cy="401383"/>
          </a:xfrm>
        </p:grpSpPr>
        <p:sp>
          <p:nvSpPr>
            <p:cNvPr name="Freeform 35" id="35"/>
            <p:cNvSpPr/>
            <p:nvPr/>
          </p:nvSpPr>
          <p:spPr>
            <a:xfrm flipH="false" flipV="false" rot="0">
              <a:off x="0" y="0"/>
              <a:ext cx="1455012" cy="401383"/>
            </a:xfrm>
            <a:custGeom>
              <a:avLst/>
              <a:gdLst/>
              <a:ahLst/>
              <a:cxnLst/>
              <a:rect r="r" b="b" t="t" l="l"/>
              <a:pathLst>
                <a:path h="401383" w="1455012">
                  <a:moveTo>
                    <a:pt x="14014" y="0"/>
                  </a:moveTo>
                  <a:lnTo>
                    <a:pt x="1440999" y="0"/>
                  </a:lnTo>
                  <a:cubicBezTo>
                    <a:pt x="1448738" y="0"/>
                    <a:pt x="1455012" y="6274"/>
                    <a:pt x="1455012" y="14014"/>
                  </a:cubicBezTo>
                  <a:lnTo>
                    <a:pt x="1455012" y="387369"/>
                  </a:lnTo>
                  <a:cubicBezTo>
                    <a:pt x="1455012" y="395109"/>
                    <a:pt x="1448738" y="401383"/>
                    <a:pt x="1440999" y="401383"/>
                  </a:cubicBezTo>
                  <a:lnTo>
                    <a:pt x="14014" y="401383"/>
                  </a:lnTo>
                  <a:cubicBezTo>
                    <a:pt x="6274" y="401383"/>
                    <a:pt x="0" y="395109"/>
                    <a:pt x="0" y="387369"/>
                  </a:cubicBezTo>
                  <a:lnTo>
                    <a:pt x="0" y="14014"/>
                  </a:lnTo>
                  <a:cubicBezTo>
                    <a:pt x="0" y="6274"/>
                    <a:pt x="6274" y="0"/>
                    <a:pt x="14014" y="0"/>
                  </a:cubicBezTo>
                  <a:close/>
                </a:path>
              </a:pathLst>
            </a:custGeom>
            <a:solidFill>
              <a:srgbClr val="FFFFFF"/>
            </a:solidFill>
          </p:spPr>
        </p:sp>
        <p:sp>
          <p:nvSpPr>
            <p:cNvPr name="TextBox 36" id="36"/>
            <p:cNvSpPr txBox="true"/>
            <p:nvPr/>
          </p:nvSpPr>
          <p:spPr>
            <a:xfrm>
              <a:off x="0" y="-38100"/>
              <a:ext cx="1455012" cy="439483"/>
            </a:xfrm>
            <a:prstGeom prst="rect">
              <a:avLst/>
            </a:prstGeom>
          </p:spPr>
          <p:txBody>
            <a:bodyPr anchor="ctr" rtlCol="false" tIns="50800" lIns="50800" bIns="50800" rIns="50800"/>
            <a:lstStyle/>
            <a:p>
              <a:pPr algn="ctr">
                <a:lnSpc>
                  <a:spcPts val="2520"/>
                </a:lnSpc>
              </a:pPr>
            </a:p>
          </p:txBody>
        </p:sp>
      </p:grpSp>
      <p:grpSp>
        <p:nvGrpSpPr>
          <p:cNvPr name="Group 37" id="37"/>
          <p:cNvGrpSpPr/>
          <p:nvPr/>
        </p:nvGrpSpPr>
        <p:grpSpPr>
          <a:xfrm rot="0">
            <a:off x="12001500" y="2667000"/>
            <a:ext cx="5524500" cy="1524000"/>
            <a:chOff x="0" y="0"/>
            <a:chExt cx="1455012" cy="401383"/>
          </a:xfrm>
        </p:grpSpPr>
        <p:sp>
          <p:nvSpPr>
            <p:cNvPr name="Freeform 38" id="38"/>
            <p:cNvSpPr/>
            <p:nvPr/>
          </p:nvSpPr>
          <p:spPr>
            <a:xfrm flipH="false" flipV="false" rot="0">
              <a:off x="0" y="0"/>
              <a:ext cx="1455012" cy="401383"/>
            </a:xfrm>
            <a:custGeom>
              <a:avLst/>
              <a:gdLst/>
              <a:ahLst/>
              <a:cxnLst/>
              <a:rect r="r" b="b" t="t" l="l"/>
              <a:pathLst>
                <a:path h="401383" w="1455012">
                  <a:moveTo>
                    <a:pt x="14014" y="0"/>
                  </a:moveTo>
                  <a:lnTo>
                    <a:pt x="1440999" y="0"/>
                  </a:lnTo>
                  <a:cubicBezTo>
                    <a:pt x="1448738" y="0"/>
                    <a:pt x="1455012" y="6274"/>
                    <a:pt x="1455012" y="14014"/>
                  </a:cubicBezTo>
                  <a:lnTo>
                    <a:pt x="1455012" y="387369"/>
                  </a:lnTo>
                  <a:cubicBezTo>
                    <a:pt x="1455012" y="395109"/>
                    <a:pt x="1448738" y="401383"/>
                    <a:pt x="1440999" y="401383"/>
                  </a:cubicBezTo>
                  <a:lnTo>
                    <a:pt x="14014" y="401383"/>
                  </a:lnTo>
                  <a:cubicBezTo>
                    <a:pt x="6274" y="401383"/>
                    <a:pt x="0" y="395109"/>
                    <a:pt x="0" y="387369"/>
                  </a:cubicBezTo>
                  <a:lnTo>
                    <a:pt x="0" y="14014"/>
                  </a:lnTo>
                  <a:cubicBezTo>
                    <a:pt x="0" y="6274"/>
                    <a:pt x="6274" y="0"/>
                    <a:pt x="14014" y="0"/>
                  </a:cubicBezTo>
                  <a:close/>
                </a:path>
              </a:pathLst>
            </a:custGeom>
            <a:solidFill>
              <a:srgbClr val="FFFFFF"/>
            </a:solidFill>
          </p:spPr>
        </p:sp>
        <p:sp>
          <p:nvSpPr>
            <p:cNvPr name="TextBox 39" id="39"/>
            <p:cNvSpPr txBox="true"/>
            <p:nvPr/>
          </p:nvSpPr>
          <p:spPr>
            <a:xfrm>
              <a:off x="0" y="-38100"/>
              <a:ext cx="1455012" cy="439483"/>
            </a:xfrm>
            <a:prstGeom prst="rect">
              <a:avLst/>
            </a:prstGeom>
          </p:spPr>
          <p:txBody>
            <a:bodyPr anchor="ctr" rtlCol="false" tIns="50800" lIns="50800" bIns="50800" rIns="50800"/>
            <a:lstStyle/>
            <a:p>
              <a:pPr algn="ctr">
                <a:lnSpc>
                  <a:spcPts val="2520"/>
                </a:lnSpc>
              </a:pPr>
            </a:p>
          </p:txBody>
        </p:sp>
      </p:grpSp>
      <p:sp>
        <p:nvSpPr>
          <p:cNvPr name="Freeform 40" id="40"/>
          <p:cNvSpPr/>
          <p:nvPr/>
        </p:nvSpPr>
        <p:spPr>
          <a:xfrm flipH="false" flipV="false" rot="0">
            <a:off x="12378641" y="1229043"/>
            <a:ext cx="566661" cy="970915"/>
          </a:xfrm>
          <a:custGeom>
            <a:avLst/>
            <a:gdLst/>
            <a:ahLst/>
            <a:cxnLst/>
            <a:rect r="r" b="b" t="t" l="l"/>
            <a:pathLst>
              <a:path h="970915" w="566661">
                <a:moveTo>
                  <a:pt x="0" y="0"/>
                </a:moveTo>
                <a:lnTo>
                  <a:pt x="566661" y="0"/>
                </a:lnTo>
                <a:lnTo>
                  <a:pt x="566661" y="970914"/>
                </a:lnTo>
                <a:lnTo>
                  <a:pt x="0" y="9709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1" id="41"/>
          <p:cNvSpPr/>
          <p:nvPr/>
        </p:nvSpPr>
        <p:spPr>
          <a:xfrm flipH="false" flipV="false" rot="0">
            <a:off x="12378641" y="2943543"/>
            <a:ext cx="566661" cy="970915"/>
          </a:xfrm>
          <a:custGeom>
            <a:avLst/>
            <a:gdLst/>
            <a:ahLst/>
            <a:cxnLst/>
            <a:rect r="r" b="b" t="t" l="l"/>
            <a:pathLst>
              <a:path h="970915" w="566661">
                <a:moveTo>
                  <a:pt x="0" y="0"/>
                </a:moveTo>
                <a:lnTo>
                  <a:pt x="566661" y="0"/>
                </a:lnTo>
                <a:lnTo>
                  <a:pt x="566661" y="970914"/>
                </a:lnTo>
                <a:lnTo>
                  <a:pt x="0" y="9709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42" id="42"/>
          <p:cNvSpPr/>
          <p:nvPr/>
        </p:nvSpPr>
        <p:spPr>
          <a:xfrm flipH="false" flipV="false" rot="0">
            <a:off x="12001500" y="5747298"/>
            <a:ext cx="5524500" cy="316403"/>
          </a:xfrm>
          <a:custGeom>
            <a:avLst/>
            <a:gdLst/>
            <a:ahLst/>
            <a:cxnLst/>
            <a:rect r="r" b="b" t="t" l="l"/>
            <a:pathLst>
              <a:path h="316403" w="5524500">
                <a:moveTo>
                  <a:pt x="0" y="0"/>
                </a:moveTo>
                <a:lnTo>
                  <a:pt x="5524500" y="0"/>
                </a:lnTo>
                <a:lnTo>
                  <a:pt x="5524500" y="316404"/>
                </a:lnTo>
                <a:lnTo>
                  <a:pt x="0" y="316404"/>
                </a:lnTo>
                <a:lnTo>
                  <a:pt x="0" y="0"/>
                </a:lnTo>
                <a:close/>
              </a:path>
            </a:pathLst>
          </a:custGeom>
          <a:blipFill>
            <a:blip r:embed="rId14">
              <a:alphaModFix amt="80000"/>
            </a:blip>
            <a:stretch>
              <a:fillRect l="0" t="-100000" r="0" b="0"/>
            </a:stretch>
          </a:blipFill>
        </p:spPr>
      </p:sp>
      <p:sp>
        <p:nvSpPr>
          <p:cNvPr name="Freeform 43" id="43"/>
          <p:cNvSpPr/>
          <p:nvPr/>
        </p:nvSpPr>
        <p:spPr>
          <a:xfrm flipH="false" flipV="false" rot="0">
            <a:off x="12001500" y="7461798"/>
            <a:ext cx="5524500" cy="316403"/>
          </a:xfrm>
          <a:custGeom>
            <a:avLst/>
            <a:gdLst/>
            <a:ahLst/>
            <a:cxnLst/>
            <a:rect r="r" b="b" t="t" l="l"/>
            <a:pathLst>
              <a:path h="316403" w="5524500">
                <a:moveTo>
                  <a:pt x="0" y="0"/>
                </a:moveTo>
                <a:lnTo>
                  <a:pt x="5524500" y="0"/>
                </a:lnTo>
                <a:lnTo>
                  <a:pt x="5524500" y="316404"/>
                </a:lnTo>
                <a:lnTo>
                  <a:pt x="0" y="316404"/>
                </a:lnTo>
                <a:lnTo>
                  <a:pt x="0" y="0"/>
                </a:lnTo>
                <a:close/>
              </a:path>
            </a:pathLst>
          </a:custGeom>
          <a:blipFill>
            <a:blip r:embed="rId14">
              <a:alphaModFix amt="80000"/>
            </a:blip>
            <a:stretch>
              <a:fillRect l="0" t="-100000" r="0" b="0"/>
            </a:stretch>
          </a:blipFill>
        </p:spPr>
      </p:sp>
      <p:sp>
        <p:nvSpPr>
          <p:cNvPr name="Freeform 44" id="44"/>
          <p:cNvSpPr/>
          <p:nvPr/>
        </p:nvSpPr>
        <p:spPr>
          <a:xfrm flipH="false" flipV="false" rot="0">
            <a:off x="12001500" y="9176298"/>
            <a:ext cx="5524500" cy="316403"/>
          </a:xfrm>
          <a:custGeom>
            <a:avLst/>
            <a:gdLst/>
            <a:ahLst/>
            <a:cxnLst/>
            <a:rect r="r" b="b" t="t" l="l"/>
            <a:pathLst>
              <a:path h="316403" w="5524500">
                <a:moveTo>
                  <a:pt x="0" y="0"/>
                </a:moveTo>
                <a:lnTo>
                  <a:pt x="5524500" y="0"/>
                </a:lnTo>
                <a:lnTo>
                  <a:pt x="5524500" y="316404"/>
                </a:lnTo>
                <a:lnTo>
                  <a:pt x="0" y="316404"/>
                </a:lnTo>
                <a:lnTo>
                  <a:pt x="0" y="0"/>
                </a:lnTo>
                <a:close/>
              </a:path>
            </a:pathLst>
          </a:custGeom>
          <a:blipFill>
            <a:blip r:embed="rId14">
              <a:alphaModFix amt="80000"/>
            </a:blip>
            <a:stretch>
              <a:fillRect l="0" t="-100000" r="0" b="0"/>
            </a:stretch>
          </a:blipFill>
        </p:spPr>
      </p:sp>
      <p:grpSp>
        <p:nvGrpSpPr>
          <p:cNvPr name="Group 45" id="45"/>
          <p:cNvGrpSpPr/>
          <p:nvPr/>
        </p:nvGrpSpPr>
        <p:grpSpPr>
          <a:xfrm rot="0">
            <a:off x="12001500" y="4381500"/>
            <a:ext cx="5524500" cy="1524000"/>
            <a:chOff x="0" y="0"/>
            <a:chExt cx="1455012" cy="401383"/>
          </a:xfrm>
        </p:grpSpPr>
        <p:sp>
          <p:nvSpPr>
            <p:cNvPr name="Freeform 46" id="46"/>
            <p:cNvSpPr/>
            <p:nvPr/>
          </p:nvSpPr>
          <p:spPr>
            <a:xfrm flipH="false" flipV="false" rot="0">
              <a:off x="0" y="0"/>
              <a:ext cx="1455012" cy="401383"/>
            </a:xfrm>
            <a:custGeom>
              <a:avLst/>
              <a:gdLst/>
              <a:ahLst/>
              <a:cxnLst/>
              <a:rect r="r" b="b" t="t" l="l"/>
              <a:pathLst>
                <a:path h="401383" w="1455012">
                  <a:moveTo>
                    <a:pt x="14014" y="0"/>
                  </a:moveTo>
                  <a:lnTo>
                    <a:pt x="1440999" y="0"/>
                  </a:lnTo>
                  <a:cubicBezTo>
                    <a:pt x="1448738" y="0"/>
                    <a:pt x="1455012" y="6274"/>
                    <a:pt x="1455012" y="14014"/>
                  </a:cubicBezTo>
                  <a:lnTo>
                    <a:pt x="1455012" y="387369"/>
                  </a:lnTo>
                  <a:cubicBezTo>
                    <a:pt x="1455012" y="395109"/>
                    <a:pt x="1448738" y="401383"/>
                    <a:pt x="1440999" y="401383"/>
                  </a:cubicBezTo>
                  <a:lnTo>
                    <a:pt x="14014" y="401383"/>
                  </a:lnTo>
                  <a:cubicBezTo>
                    <a:pt x="6274" y="401383"/>
                    <a:pt x="0" y="395109"/>
                    <a:pt x="0" y="387369"/>
                  </a:cubicBezTo>
                  <a:lnTo>
                    <a:pt x="0" y="14014"/>
                  </a:lnTo>
                  <a:cubicBezTo>
                    <a:pt x="0" y="6274"/>
                    <a:pt x="6274" y="0"/>
                    <a:pt x="14014" y="0"/>
                  </a:cubicBezTo>
                  <a:close/>
                </a:path>
              </a:pathLst>
            </a:custGeom>
            <a:solidFill>
              <a:srgbClr val="D4FFD4"/>
            </a:solidFill>
            <a:ln w="66675" cap="sq">
              <a:solidFill>
                <a:srgbClr val="3CC027"/>
              </a:solidFill>
              <a:prstDash val="solid"/>
              <a:miter/>
            </a:ln>
          </p:spPr>
        </p:sp>
        <p:sp>
          <p:nvSpPr>
            <p:cNvPr name="TextBox 47" id="47"/>
            <p:cNvSpPr txBox="true"/>
            <p:nvPr/>
          </p:nvSpPr>
          <p:spPr>
            <a:xfrm>
              <a:off x="0" y="-38100"/>
              <a:ext cx="1455012" cy="439483"/>
            </a:xfrm>
            <a:prstGeom prst="rect">
              <a:avLst/>
            </a:prstGeom>
          </p:spPr>
          <p:txBody>
            <a:bodyPr anchor="ctr" rtlCol="false" tIns="50800" lIns="50800" bIns="50800" rIns="50800"/>
            <a:lstStyle/>
            <a:p>
              <a:pPr algn="ctr">
                <a:lnSpc>
                  <a:spcPts val="2520"/>
                </a:lnSpc>
              </a:pPr>
            </a:p>
          </p:txBody>
        </p:sp>
      </p:grpSp>
      <p:sp>
        <p:nvSpPr>
          <p:cNvPr name="Freeform 48" id="48"/>
          <p:cNvSpPr/>
          <p:nvPr/>
        </p:nvSpPr>
        <p:spPr>
          <a:xfrm flipH="false" flipV="false" rot="0">
            <a:off x="12378641" y="4658043"/>
            <a:ext cx="566661" cy="970915"/>
          </a:xfrm>
          <a:custGeom>
            <a:avLst/>
            <a:gdLst/>
            <a:ahLst/>
            <a:cxnLst/>
            <a:rect r="r" b="b" t="t" l="l"/>
            <a:pathLst>
              <a:path h="970915" w="566661">
                <a:moveTo>
                  <a:pt x="0" y="0"/>
                </a:moveTo>
                <a:lnTo>
                  <a:pt x="566661" y="0"/>
                </a:lnTo>
                <a:lnTo>
                  <a:pt x="566661" y="970914"/>
                </a:lnTo>
                <a:lnTo>
                  <a:pt x="0" y="9709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grpSp>
        <p:nvGrpSpPr>
          <p:cNvPr name="Group 49" id="49"/>
          <p:cNvGrpSpPr/>
          <p:nvPr/>
        </p:nvGrpSpPr>
        <p:grpSpPr>
          <a:xfrm rot="0">
            <a:off x="12001500" y="6096000"/>
            <a:ext cx="5524500" cy="1524000"/>
            <a:chOff x="0" y="0"/>
            <a:chExt cx="1455012" cy="401383"/>
          </a:xfrm>
        </p:grpSpPr>
        <p:sp>
          <p:nvSpPr>
            <p:cNvPr name="Freeform 50" id="50"/>
            <p:cNvSpPr/>
            <p:nvPr/>
          </p:nvSpPr>
          <p:spPr>
            <a:xfrm flipH="false" flipV="false" rot="0">
              <a:off x="0" y="0"/>
              <a:ext cx="1455012" cy="401383"/>
            </a:xfrm>
            <a:custGeom>
              <a:avLst/>
              <a:gdLst/>
              <a:ahLst/>
              <a:cxnLst/>
              <a:rect r="r" b="b" t="t" l="l"/>
              <a:pathLst>
                <a:path h="401383" w="1455012">
                  <a:moveTo>
                    <a:pt x="14014" y="0"/>
                  </a:moveTo>
                  <a:lnTo>
                    <a:pt x="1440999" y="0"/>
                  </a:lnTo>
                  <a:cubicBezTo>
                    <a:pt x="1448738" y="0"/>
                    <a:pt x="1455012" y="6274"/>
                    <a:pt x="1455012" y="14014"/>
                  </a:cubicBezTo>
                  <a:lnTo>
                    <a:pt x="1455012" y="387369"/>
                  </a:lnTo>
                  <a:cubicBezTo>
                    <a:pt x="1455012" y="395109"/>
                    <a:pt x="1448738" y="401383"/>
                    <a:pt x="1440999" y="401383"/>
                  </a:cubicBezTo>
                  <a:lnTo>
                    <a:pt x="14014" y="401383"/>
                  </a:lnTo>
                  <a:cubicBezTo>
                    <a:pt x="6274" y="401383"/>
                    <a:pt x="0" y="395109"/>
                    <a:pt x="0" y="387369"/>
                  </a:cubicBezTo>
                  <a:lnTo>
                    <a:pt x="0" y="14014"/>
                  </a:lnTo>
                  <a:cubicBezTo>
                    <a:pt x="0" y="6274"/>
                    <a:pt x="6274" y="0"/>
                    <a:pt x="14014" y="0"/>
                  </a:cubicBezTo>
                  <a:close/>
                </a:path>
              </a:pathLst>
            </a:custGeom>
            <a:solidFill>
              <a:srgbClr val="FFFFFF"/>
            </a:solidFill>
          </p:spPr>
        </p:sp>
        <p:sp>
          <p:nvSpPr>
            <p:cNvPr name="TextBox 51" id="51"/>
            <p:cNvSpPr txBox="true"/>
            <p:nvPr/>
          </p:nvSpPr>
          <p:spPr>
            <a:xfrm>
              <a:off x="0" y="-38100"/>
              <a:ext cx="1455012" cy="439483"/>
            </a:xfrm>
            <a:prstGeom prst="rect">
              <a:avLst/>
            </a:prstGeom>
          </p:spPr>
          <p:txBody>
            <a:bodyPr anchor="ctr" rtlCol="false" tIns="50800" lIns="50800" bIns="50800" rIns="50800"/>
            <a:lstStyle/>
            <a:p>
              <a:pPr algn="ctr">
                <a:lnSpc>
                  <a:spcPts val="2520"/>
                </a:lnSpc>
              </a:pPr>
            </a:p>
          </p:txBody>
        </p:sp>
      </p:grpSp>
      <p:sp>
        <p:nvSpPr>
          <p:cNvPr name="Freeform 52" id="52"/>
          <p:cNvSpPr/>
          <p:nvPr/>
        </p:nvSpPr>
        <p:spPr>
          <a:xfrm flipH="false" flipV="false" rot="0">
            <a:off x="12378641" y="6372543"/>
            <a:ext cx="566661" cy="970915"/>
          </a:xfrm>
          <a:custGeom>
            <a:avLst/>
            <a:gdLst/>
            <a:ahLst/>
            <a:cxnLst/>
            <a:rect r="r" b="b" t="t" l="l"/>
            <a:pathLst>
              <a:path h="970915" w="566661">
                <a:moveTo>
                  <a:pt x="0" y="0"/>
                </a:moveTo>
                <a:lnTo>
                  <a:pt x="566661" y="0"/>
                </a:lnTo>
                <a:lnTo>
                  <a:pt x="566661" y="970914"/>
                </a:lnTo>
                <a:lnTo>
                  <a:pt x="0" y="97091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grpSp>
        <p:nvGrpSpPr>
          <p:cNvPr name="Group 53" id="53"/>
          <p:cNvGrpSpPr/>
          <p:nvPr/>
        </p:nvGrpSpPr>
        <p:grpSpPr>
          <a:xfrm rot="0">
            <a:off x="12001500" y="7810500"/>
            <a:ext cx="5524500" cy="1524000"/>
            <a:chOff x="0" y="0"/>
            <a:chExt cx="1455012" cy="401383"/>
          </a:xfrm>
        </p:grpSpPr>
        <p:sp>
          <p:nvSpPr>
            <p:cNvPr name="Freeform 54" id="54"/>
            <p:cNvSpPr/>
            <p:nvPr/>
          </p:nvSpPr>
          <p:spPr>
            <a:xfrm flipH="false" flipV="false" rot="0">
              <a:off x="0" y="0"/>
              <a:ext cx="1455012" cy="401383"/>
            </a:xfrm>
            <a:custGeom>
              <a:avLst/>
              <a:gdLst/>
              <a:ahLst/>
              <a:cxnLst/>
              <a:rect r="r" b="b" t="t" l="l"/>
              <a:pathLst>
                <a:path h="401383" w="1455012">
                  <a:moveTo>
                    <a:pt x="14014" y="0"/>
                  </a:moveTo>
                  <a:lnTo>
                    <a:pt x="1440999" y="0"/>
                  </a:lnTo>
                  <a:cubicBezTo>
                    <a:pt x="1448738" y="0"/>
                    <a:pt x="1455012" y="6274"/>
                    <a:pt x="1455012" y="14014"/>
                  </a:cubicBezTo>
                  <a:lnTo>
                    <a:pt x="1455012" y="387369"/>
                  </a:lnTo>
                  <a:cubicBezTo>
                    <a:pt x="1455012" y="395109"/>
                    <a:pt x="1448738" y="401383"/>
                    <a:pt x="1440999" y="401383"/>
                  </a:cubicBezTo>
                  <a:lnTo>
                    <a:pt x="14014" y="401383"/>
                  </a:lnTo>
                  <a:cubicBezTo>
                    <a:pt x="6274" y="401383"/>
                    <a:pt x="0" y="395109"/>
                    <a:pt x="0" y="387369"/>
                  </a:cubicBezTo>
                  <a:lnTo>
                    <a:pt x="0" y="14014"/>
                  </a:lnTo>
                  <a:cubicBezTo>
                    <a:pt x="0" y="6274"/>
                    <a:pt x="6274" y="0"/>
                    <a:pt x="14014" y="0"/>
                  </a:cubicBezTo>
                  <a:close/>
                </a:path>
              </a:pathLst>
            </a:custGeom>
            <a:solidFill>
              <a:srgbClr val="FFFFFF"/>
            </a:solidFill>
          </p:spPr>
        </p:sp>
        <p:sp>
          <p:nvSpPr>
            <p:cNvPr name="TextBox 55" id="55"/>
            <p:cNvSpPr txBox="true"/>
            <p:nvPr/>
          </p:nvSpPr>
          <p:spPr>
            <a:xfrm>
              <a:off x="0" y="-38100"/>
              <a:ext cx="1455012" cy="439483"/>
            </a:xfrm>
            <a:prstGeom prst="rect">
              <a:avLst/>
            </a:prstGeom>
          </p:spPr>
          <p:txBody>
            <a:bodyPr anchor="ctr" rtlCol="false" tIns="50800" lIns="50800" bIns="50800" rIns="50800"/>
            <a:lstStyle/>
            <a:p>
              <a:pPr algn="ctr">
                <a:lnSpc>
                  <a:spcPts val="2520"/>
                </a:lnSpc>
              </a:pPr>
            </a:p>
          </p:txBody>
        </p:sp>
      </p:grpSp>
      <p:sp>
        <p:nvSpPr>
          <p:cNvPr name="Freeform 56" id="56"/>
          <p:cNvSpPr/>
          <p:nvPr/>
        </p:nvSpPr>
        <p:spPr>
          <a:xfrm flipH="false" flipV="false" rot="0">
            <a:off x="12378641" y="8087043"/>
            <a:ext cx="566661" cy="970915"/>
          </a:xfrm>
          <a:custGeom>
            <a:avLst/>
            <a:gdLst/>
            <a:ahLst/>
            <a:cxnLst/>
            <a:rect r="r" b="b" t="t" l="l"/>
            <a:pathLst>
              <a:path h="970915" w="566661">
                <a:moveTo>
                  <a:pt x="0" y="0"/>
                </a:moveTo>
                <a:lnTo>
                  <a:pt x="566661" y="0"/>
                </a:lnTo>
                <a:lnTo>
                  <a:pt x="566661" y="970914"/>
                </a:lnTo>
                <a:lnTo>
                  <a:pt x="0" y="97091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57" id="57"/>
          <p:cNvSpPr/>
          <p:nvPr/>
        </p:nvSpPr>
        <p:spPr>
          <a:xfrm flipH="false" flipV="false" rot="0">
            <a:off x="2140068" y="1715659"/>
            <a:ext cx="402681" cy="536257"/>
          </a:xfrm>
          <a:custGeom>
            <a:avLst/>
            <a:gdLst/>
            <a:ahLst/>
            <a:cxnLst/>
            <a:rect r="r" b="b" t="t" l="l"/>
            <a:pathLst>
              <a:path h="536257" w="402681">
                <a:moveTo>
                  <a:pt x="0" y="0"/>
                </a:moveTo>
                <a:lnTo>
                  <a:pt x="402680" y="0"/>
                </a:lnTo>
                <a:lnTo>
                  <a:pt x="402680" y="536258"/>
                </a:lnTo>
                <a:lnTo>
                  <a:pt x="0" y="53625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58" id="58"/>
          <p:cNvSpPr/>
          <p:nvPr/>
        </p:nvSpPr>
        <p:spPr>
          <a:xfrm flipH="false" flipV="false" rot="0">
            <a:off x="3393530" y="4340608"/>
            <a:ext cx="428031" cy="536257"/>
          </a:xfrm>
          <a:custGeom>
            <a:avLst/>
            <a:gdLst/>
            <a:ahLst/>
            <a:cxnLst/>
            <a:rect r="r" b="b" t="t" l="l"/>
            <a:pathLst>
              <a:path h="536257" w="428031">
                <a:moveTo>
                  <a:pt x="0" y="0"/>
                </a:moveTo>
                <a:lnTo>
                  <a:pt x="428031" y="0"/>
                </a:lnTo>
                <a:lnTo>
                  <a:pt x="428031" y="536257"/>
                </a:lnTo>
                <a:lnTo>
                  <a:pt x="0" y="536257"/>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59" id="59"/>
          <p:cNvSpPr/>
          <p:nvPr/>
        </p:nvSpPr>
        <p:spPr>
          <a:xfrm flipH="false" flipV="false" rot="0">
            <a:off x="5073992" y="6651436"/>
            <a:ext cx="528457" cy="536258"/>
          </a:xfrm>
          <a:custGeom>
            <a:avLst/>
            <a:gdLst/>
            <a:ahLst/>
            <a:cxnLst/>
            <a:rect r="r" b="b" t="t" l="l"/>
            <a:pathLst>
              <a:path h="536258" w="528457">
                <a:moveTo>
                  <a:pt x="0" y="0"/>
                </a:moveTo>
                <a:lnTo>
                  <a:pt x="528457" y="0"/>
                </a:lnTo>
                <a:lnTo>
                  <a:pt x="528457" y="536257"/>
                </a:lnTo>
                <a:lnTo>
                  <a:pt x="0" y="536257"/>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60" id="60"/>
          <p:cNvSpPr/>
          <p:nvPr/>
        </p:nvSpPr>
        <p:spPr>
          <a:xfrm flipH="false" flipV="false" rot="0">
            <a:off x="7929243" y="6662160"/>
            <a:ext cx="489457" cy="536258"/>
          </a:xfrm>
          <a:custGeom>
            <a:avLst/>
            <a:gdLst/>
            <a:ahLst/>
            <a:cxnLst/>
            <a:rect r="r" b="b" t="t" l="l"/>
            <a:pathLst>
              <a:path h="536258" w="489457">
                <a:moveTo>
                  <a:pt x="0" y="0"/>
                </a:moveTo>
                <a:lnTo>
                  <a:pt x="489456" y="0"/>
                </a:lnTo>
                <a:lnTo>
                  <a:pt x="489456" y="536258"/>
                </a:lnTo>
                <a:lnTo>
                  <a:pt x="0" y="536258"/>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TextBox 61" id="61"/>
          <p:cNvSpPr txBox="true"/>
          <p:nvPr/>
        </p:nvSpPr>
        <p:spPr>
          <a:xfrm rot="0">
            <a:off x="4279583" y="885825"/>
            <a:ext cx="6246888" cy="1889760"/>
          </a:xfrm>
          <a:prstGeom prst="rect">
            <a:avLst/>
          </a:prstGeom>
        </p:spPr>
        <p:txBody>
          <a:bodyPr anchor="t" rtlCol="false" tIns="0" lIns="0" bIns="0" rIns="0">
            <a:spAutoFit/>
          </a:bodyPr>
          <a:lstStyle/>
          <a:p>
            <a:pPr algn="l">
              <a:lnSpc>
                <a:spcPts val="5039"/>
              </a:lnSpc>
              <a:spcBef>
                <a:spcPct val="0"/>
              </a:spcBef>
            </a:pPr>
            <a:r>
              <a:rPr lang="en-US" sz="3599" b="true">
                <a:solidFill>
                  <a:srgbClr val="000000"/>
                </a:solidFill>
                <a:latin typeface="DM Sans Bold"/>
                <a:ea typeface="DM Sans Bold"/>
                <a:cs typeface="DM Sans Bold"/>
                <a:sym typeface="DM Sans Bold"/>
              </a:rPr>
              <a:t>Provider Onboarding and multi stage approval pipeline</a:t>
            </a:r>
          </a:p>
        </p:txBody>
      </p:sp>
      <p:sp>
        <p:nvSpPr>
          <p:cNvPr name="TextBox 62" id="62"/>
          <p:cNvSpPr txBox="true"/>
          <p:nvPr/>
        </p:nvSpPr>
        <p:spPr>
          <a:xfrm rot="0">
            <a:off x="13446479" y="1608369"/>
            <a:ext cx="4079521" cy="681355"/>
          </a:xfrm>
          <a:prstGeom prst="rect">
            <a:avLst/>
          </a:prstGeom>
        </p:spPr>
        <p:txBody>
          <a:bodyPr anchor="t" rtlCol="false" tIns="0" lIns="0" bIns="0" rIns="0">
            <a:spAutoFit/>
          </a:bodyPr>
          <a:lstStyle/>
          <a:p>
            <a:pPr algn="l" marL="0" indent="0" lvl="0">
              <a:lnSpc>
                <a:spcPts val="1820"/>
              </a:lnSpc>
              <a:spcBef>
                <a:spcPct val="0"/>
              </a:spcBef>
            </a:pPr>
            <a:r>
              <a:rPr lang="en-US" sz="1300">
                <a:solidFill>
                  <a:srgbClr val="000000"/>
                </a:solidFill>
                <a:latin typeface="DM Sans"/>
                <a:ea typeface="DM Sans"/>
                <a:cs typeface="DM Sans"/>
                <a:sym typeface="DM Sans"/>
              </a:rPr>
              <a:t>Provider enters </a:t>
            </a:r>
            <a:r>
              <a:rPr lang="en-US" sz="1300">
                <a:solidFill>
                  <a:srgbClr val="000000"/>
                </a:solidFill>
                <a:latin typeface="DM Sans"/>
                <a:ea typeface="DM Sans"/>
                <a:cs typeface="DM Sans"/>
                <a:sym typeface="DM Sans"/>
              </a:rPr>
              <a:t>r</a:t>
            </a:r>
            <a:r>
              <a:rPr lang="en-US" sz="1300" strike="noStrike" u="none">
                <a:solidFill>
                  <a:srgbClr val="000000"/>
                </a:solidFill>
                <a:latin typeface="DM Sans"/>
                <a:ea typeface="DM Sans"/>
                <a:cs typeface="DM Sans"/>
                <a:sym typeface="DM Sans"/>
              </a:rPr>
              <a:t>egistration data. Choice of independent practitioner or </a:t>
            </a:r>
            <a:r>
              <a:rPr lang="en-US" sz="1300" strike="noStrike" u="none">
                <a:solidFill>
                  <a:srgbClr val="000000"/>
                </a:solidFill>
                <a:latin typeface="DM Sans"/>
                <a:ea typeface="DM Sans"/>
                <a:cs typeface="DM Sans"/>
                <a:sym typeface="DM Sans"/>
              </a:rPr>
              <a:t>asso</a:t>
            </a:r>
            <a:r>
              <a:rPr lang="en-US" sz="1300" strike="noStrike" u="none">
                <a:solidFill>
                  <a:srgbClr val="000000"/>
                </a:solidFill>
                <a:latin typeface="DM Sans"/>
                <a:ea typeface="DM Sans"/>
                <a:cs typeface="DM Sans"/>
                <a:sym typeface="DM Sans"/>
              </a:rPr>
              <a:t>c</a:t>
            </a:r>
            <a:r>
              <a:rPr lang="en-US" sz="1300" strike="noStrike" u="none">
                <a:solidFill>
                  <a:srgbClr val="000000"/>
                </a:solidFill>
                <a:latin typeface="DM Sans"/>
                <a:ea typeface="DM Sans"/>
                <a:cs typeface="DM Sans"/>
                <a:sym typeface="DM Sans"/>
              </a:rPr>
              <a:t>i</a:t>
            </a:r>
            <a:r>
              <a:rPr lang="en-US" sz="1300" strike="noStrike" u="none">
                <a:solidFill>
                  <a:srgbClr val="000000"/>
                </a:solidFill>
                <a:latin typeface="DM Sans"/>
                <a:ea typeface="DM Sans"/>
                <a:cs typeface="DM Sans"/>
                <a:sym typeface="DM Sans"/>
              </a:rPr>
              <a:t>a</a:t>
            </a:r>
            <a:r>
              <a:rPr lang="en-US" sz="1300" strike="noStrike" u="none">
                <a:solidFill>
                  <a:srgbClr val="000000"/>
                </a:solidFill>
                <a:latin typeface="DM Sans"/>
                <a:ea typeface="DM Sans"/>
                <a:cs typeface="DM Sans"/>
                <a:sym typeface="DM Sans"/>
              </a:rPr>
              <a:t>ting w</a:t>
            </a:r>
            <a:r>
              <a:rPr lang="en-US" sz="1300" strike="noStrike" u="none">
                <a:solidFill>
                  <a:srgbClr val="000000"/>
                </a:solidFill>
                <a:latin typeface="DM Sans"/>
                <a:ea typeface="DM Sans"/>
                <a:cs typeface="DM Sans"/>
                <a:sym typeface="DM Sans"/>
              </a:rPr>
              <a:t>ith an </a:t>
            </a:r>
            <a:r>
              <a:rPr lang="en-US" sz="1300" strike="noStrike" u="none">
                <a:solidFill>
                  <a:srgbClr val="000000"/>
                </a:solidFill>
                <a:latin typeface="DM Sans"/>
                <a:ea typeface="DM Sans"/>
                <a:cs typeface="DM Sans"/>
                <a:sym typeface="DM Sans"/>
              </a:rPr>
              <a:t>active cor</a:t>
            </a:r>
            <a:r>
              <a:rPr lang="en-US" sz="1300" strike="noStrike" u="none">
                <a:solidFill>
                  <a:srgbClr val="000000"/>
                </a:solidFill>
                <a:latin typeface="DM Sans"/>
                <a:ea typeface="DM Sans"/>
                <a:cs typeface="DM Sans"/>
                <a:sym typeface="DM Sans"/>
              </a:rPr>
              <a:t>po</a:t>
            </a:r>
            <a:r>
              <a:rPr lang="en-US" sz="1300" strike="noStrike" u="none">
                <a:solidFill>
                  <a:srgbClr val="000000"/>
                </a:solidFill>
                <a:latin typeface="DM Sans"/>
                <a:ea typeface="DM Sans"/>
                <a:cs typeface="DM Sans"/>
                <a:sym typeface="DM Sans"/>
              </a:rPr>
              <a:t>ra</a:t>
            </a:r>
            <a:r>
              <a:rPr lang="en-US" sz="1300" strike="noStrike" u="none">
                <a:solidFill>
                  <a:srgbClr val="000000"/>
                </a:solidFill>
                <a:latin typeface="DM Sans"/>
                <a:ea typeface="DM Sans"/>
                <a:cs typeface="DM Sans"/>
                <a:sym typeface="DM Sans"/>
              </a:rPr>
              <a:t>te organ</a:t>
            </a:r>
            <a:r>
              <a:rPr lang="en-US" sz="1300" strike="noStrike" u="none">
                <a:solidFill>
                  <a:srgbClr val="000000"/>
                </a:solidFill>
                <a:latin typeface="DM Sans"/>
                <a:ea typeface="DM Sans"/>
                <a:cs typeface="DM Sans"/>
                <a:sym typeface="DM Sans"/>
              </a:rPr>
              <a:t>iza</a:t>
            </a:r>
            <a:r>
              <a:rPr lang="en-US" sz="1300" strike="noStrike" u="none">
                <a:solidFill>
                  <a:srgbClr val="000000"/>
                </a:solidFill>
                <a:latin typeface="DM Sans"/>
                <a:ea typeface="DM Sans"/>
                <a:cs typeface="DM Sans"/>
                <a:sym typeface="DM Sans"/>
              </a:rPr>
              <a:t>ti</a:t>
            </a:r>
            <a:r>
              <a:rPr lang="en-US" sz="1300" strike="noStrike" u="none">
                <a:solidFill>
                  <a:srgbClr val="000000"/>
                </a:solidFill>
                <a:latin typeface="DM Sans"/>
                <a:ea typeface="DM Sans"/>
                <a:cs typeface="DM Sans"/>
                <a:sym typeface="DM Sans"/>
              </a:rPr>
              <a:t>on</a:t>
            </a:r>
            <a:r>
              <a:rPr lang="en-US" sz="1300" strike="noStrike" u="none">
                <a:solidFill>
                  <a:srgbClr val="000000"/>
                </a:solidFill>
                <a:latin typeface="DM Sans"/>
                <a:ea typeface="DM Sans"/>
                <a:cs typeface="DM Sans"/>
                <a:sym typeface="DM Sans"/>
              </a:rPr>
              <a:t> tenant.</a:t>
            </a:r>
          </a:p>
        </p:txBody>
      </p:sp>
      <p:sp>
        <p:nvSpPr>
          <p:cNvPr name="TextBox 63" id="63"/>
          <p:cNvSpPr txBox="true"/>
          <p:nvPr/>
        </p:nvSpPr>
        <p:spPr>
          <a:xfrm rot="0">
            <a:off x="13446479" y="1190943"/>
            <a:ext cx="3616564" cy="306705"/>
          </a:xfrm>
          <a:prstGeom prst="rect">
            <a:avLst/>
          </a:prstGeom>
        </p:spPr>
        <p:txBody>
          <a:bodyPr anchor="t" rtlCol="false" tIns="0" lIns="0" bIns="0" rIns="0">
            <a:spAutoFit/>
          </a:bodyPr>
          <a:lstStyle/>
          <a:p>
            <a:pPr algn="l" marL="0" indent="0" lvl="0">
              <a:lnSpc>
                <a:spcPts val="2520"/>
              </a:lnSpc>
              <a:spcBef>
                <a:spcPct val="0"/>
              </a:spcBef>
            </a:pPr>
            <a:r>
              <a:rPr lang="en-US" b="true" sz="1800">
                <a:solidFill>
                  <a:srgbClr val="000000"/>
                </a:solidFill>
                <a:latin typeface="DM Sans Bold"/>
                <a:ea typeface="DM Sans Bold"/>
                <a:cs typeface="DM Sans Bold"/>
                <a:sym typeface="DM Sans Bold"/>
              </a:rPr>
              <a:t>Sign up and Profile</a:t>
            </a:r>
          </a:p>
        </p:txBody>
      </p:sp>
      <p:sp>
        <p:nvSpPr>
          <p:cNvPr name="TextBox 64" id="64"/>
          <p:cNvSpPr txBox="true"/>
          <p:nvPr/>
        </p:nvSpPr>
        <p:spPr>
          <a:xfrm rot="0">
            <a:off x="12378641" y="1339349"/>
            <a:ext cx="566661" cy="266700"/>
          </a:xfrm>
          <a:prstGeom prst="rect">
            <a:avLst/>
          </a:prstGeom>
        </p:spPr>
        <p:txBody>
          <a:bodyPr anchor="t" rtlCol="false" tIns="0" lIns="0" bIns="0" rIns="0">
            <a:spAutoFit/>
          </a:bodyPr>
          <a:lstStyle/>
          <a:p>
            <a:pPr algn="ctr" marL="0" indent="0" lvl="0">
              <a:lnSpc>
                <a:spcPts val="2100"/>
              </a:lnSpc>
              <a:spcBef>
                <a:spcPct val="0"/>
              </a:spcBef>
            </a:pPr>
            <a:r>
              <a:rPr lang="en-US" b="true" sz="1500">
                <a:solidFill>
                  <a:srgbClr val="000000"/>
                </a:solidFill>
                <a:latin typeface="DM Sans Bold"/>
                <a:ea typeface="DM Sans Bold"/>
                <a:cs typeface="DM Sans Bold"/>
                <a:sym typeface="DM Sans Bold"/>
              </a:rPr>
              <a:t>01</a:t>
            </a:r>
          </a:p>
        </p:txBody>
      </p:sp>
      <p:sp>
        <p:nvSpPr>
          <p:cNvPr name="TextBox 65" id="65"/>
          <p:cNvSpPr txBox="true"/>
          <p:nvPr/>
        </p:nvSpPr>
        <p:spPr>
          <a:xfrm rot="0">
            <a:off x="12378641" y="3057525"/>
            <a:ext cx="566661" cy="266700"/>
          </a:xfrm>
          <a:prstGeom prst="rect">
            <a:avLst/>
          </a:prstGeom>
        </p:spPr>
        <p:txBody>
          <a:bodyPr anchor="t" rtlCol="false" tIns="0" lIns="0" bIns="0" rIns="0">
            <a:spAutoFit/>
          </a:bodyPr>
          <a:lstStyle/>
          <a:p>
            <a:pPr algn="ctr" marL="0" indent="0" lvl="0">
              <a:lnSpc>
                <a:spcPts val="2100"/>
              </a:lnSpc>
              <a:spcBef>
                <a:spcPct val="0"/>
              </a:spcBef>
            </a:pPr>
            <a:r>
              <a:rPr lang="en-US" b="true" sz="1500">
                <a:solidFill>
                  <a:srgbClr val="000000"/>
                </a:solidFill>
                <a:latin typeface="DM Sans Bold"/>
                <a:ea typeface="DM Sans Bold"/>
                <a:cs typeface="DM Sans Bold"/>
                <a:sym typeface="DM Sans Bold"/>
              </a:rPr>
              <a:t>02</a:t>
            </a:r>
          </a:p>
        </p:txBody>
      </p:sp>
      <p:sp>
        <p:nvSpPr>
          <p:cNvPr name="TextBox 66" id="66"/>
          <p:cNvSpPr txBox="true"/>
          <p:nvPr/>
        </p:nvSpPr>
        <p:spPr>
          <a:xfrm rot="0">
            <a:off x="13446479" y="3295650"/>
            <a:ext cx="4079521" cy="909955"/>
          </a:xfrm>
          <a:prstGeom prst="rect">
            <a:avLst/>
          </a:prstGeom>
        </p:spPr>
        <p:txBody>
          <a:bodyPr anchor="t" rtlCol="false" tIns="0" lIns="0" bIns="0" rIns="0">
            <a:spAutoFit/>
          </a:bodyPr>
          <a:lstStyle/>
          <a:p>
            <a:pPr algn="l" marL="0" indent="0" lvl="0">
              <a:lnSpc>
                <a:spcPts val="1820"/>
              </a:lnSpc>
              <a:spcBef>
                <a:spcPct val="0"/>
              </a:spcBef>
            </a:pPr>
            <a:r>
              <a:rPr lang="en-US" sz="1300">
                <a:solidFill>
                  <a:srgbClr val="000000"/>
                </a:solidFill>
                <a:latin typeface="DM Sans"/>
                <a:ea typeface="DM Sans"/>
                <a:cs typeface="DM Sans"/>
                <a:sym typeface="DM Sans"/>
              </a:rPr>
              <a:t>User uploads l</a:t>
            </a:r>
            <a:r>
              <a:rPr lang="en-US" sz="1300" strike="noStrike" u="none">
                <a:solidFill>
                  <a:srgbClr val="000000"/>
                </a:solidFill>
                <a:latin typeface="DM Sans"/>
                <a:ea typeface="DM Sans"/>
                <a:cs typeface="DM Sans"/>
                <a:sym typeface="DM Sans"/>
              </a:rPr>
              <a:t>ega</a:t>
            </a:r>
            <a:r>
              <a:rPr lang="en-US" sz="1300" strike="noStrike" u="none">
                <a:solidFill>
                  <a:srgbClr val="000000"/>
                </a:solidFill>
                <a:latin typeface="DM Sans"/>
                <a:ea typeface="DM Sans"/>
                <a:cs typeface="DM Sans"/>
                <a:sym typeface="DM Sans"/>
              </a:rPr>
              <a:t>l id</a:t>
            </a:r>
            <a:r>
              <a:rPr lang="en-US" sz="1300" strike="noStrike" u="none">
                <a:solidFill>
                  <a:srgbClr val="000000"/>
                </a:solidFill>
                <a:latin typeface="DM Sans"/>
                <a:ea typeface="DM Sans"/>
                <a:cs typeface="DM Sans"/>
                <a:sym typeface="DM Sans"/>
              </a:rPr>
              <a:t>entity (ID/passport) and p</a:t>
            </a:r>
            <a:r>
              <a:rPr lang="en-US" sz="1300" strike="noStrike" u="none">
                <a:solidFill>
                  <a:srgbClr val="000000"/>
                </a:solidFill>
                <a:latin typeface="DM Sans"/>
                <a:ea typeface="DM Sans"/>
                <a:cs typeface="DM Sans"/>
                <a:sym typeface="DM Sans"/>
              </a:rPr>
              <a:t>rof</a:t>
            </a:r>
            <a:r>
              <a:rPr lang="en-US" sz="1300" strike="noStrike" u="none">
                <a:solidFill>
                  <a:srgbClr val="000000"/>
                </a:solidFill>
                <a:latin typeface="DM Sans"/>
                <a:ea typeface="DM Sans"/>
                <a:cs typeface="DM Sans"/>
                <a:sym typeface="DM Sans"/>
              </a:rPr>
              <a:t>essi</a:t>
            </a:r>
            <a:r>
              <a:rPr lang="en-US" sz="1300" strike="noStrike" u="none">
                <a:solidFill>
                  <a:srgbClr val="000000"/>
                </a:solidFill>
                <a:latin typeface="DM Sans"/>
                <a:ea typeface="DM Sans"/>
                <a:cs typeface="DM Sans"/>
                <a:sym typeface="DM Sans"/>
              </a:rPr>
              <a:t>onal licenses </a:t>
            </a:r>
            <a:r>
              <a:rPr lang="en-US" sz="1300" strike="noStrike" u="none">
                <a:solidFill>
                  <a:srgbClr val="000000"/>
                </a:solidFill>
                <a:latin typeface="DM Sans"/>
                <a:ea typeface="DM Sans"/>
                <a:cs typeface="DM Sans"/>
                <a:sym typeface="DM Sans"/>
              </a:rPr>
              <a:t>or certifications (PDF/images) directly to secure MySQL database.</a:t>
            </a:r>
          </a:p>
          <a:p>
            <a:pPr algn="l" marL="0" indent="0" lvl="0">
              <a:lnSpc>
                <a:spcPts val="1820"/>
              </a:lnSpc>
              <a:spcBef>
                <a:spcPct val="0"/>
              </a:spcBef>
            </a:pPr>
          </a:p>
        </p:txBody>
      </p:sp>
      <p:sp>
        <p:nvSpPr>
          <p:cNvPr name="TextBox 67" id="67"/>
          <p:cNvSpPr txBox="true"/>
          <p:nvPr/>
        </p:nvSpPr>
        <p:spPr>
          <a:xfrm rot="0">
            <a:off x="13446479" y="2905443"/>
            <a:ext cx="3616564" cy="306705"/>
          </a:xfrm>
          <a:prstGeom prst="rect">
            <a:avLst/>
          </a:prstGeom>
        </p:spPr>
        <p:txBody>
          <a:bodyPr anchor="t" rtlCol="false" tIns="0" lIns="0" bIns="0" rIns="0">
            <a:spAutoFit/>
          </a:bodyPr>
          <a:lstStyle/>
          <a:p>
            <a:pPr algn="l" marL="0" indent="0" lvl="0">
              <a:lnSpc>
                <a:spcPts val="2520"/>
              </a:lnSpc>
              <a:spcBef>
                <a:spcPct val="0"/>
              </a:spcBef>
            </a:pPr>
            <a:r>
              <a:rPr lang="en-US" b="true" sz="1800">
                <a:solidFill>
                  <a:srgbClr val="000000"/>
                </a:solidFill>
                <a:latin typeface="DM Sans Bold"/>
                <a:ea typeface="DM Sans Bold"/>
                <a:cs typeface="DM Sans Bold"/>
                <a:sym typeface="DM Sans Bold"/>
              </a:rPr>
              <a:t>Doc Upload</a:t>
            </a:r>
          </a:p>
        </p:txBody>
      </p:sp>
      <p:sp>
        <p:nvSpPr>
          <p:cNvPr name="TextBox 68" id="68"/>
          <p:cNvSpPr txBox="true"/>
          <p:nvPr/>
        </p:nvSpPr>
        <p:spPr>
          <a:xfrm rot="0">
            <a:off x="13446479" y="5002530"/>
            <a:ext cx="3616564" cy="953770"/>
          </a:xfrm>
          <a:prstGeom prst="rect">
            <a:avLst/>
          </a:prstGeom>
        </p:spPr>
        <p:txBody>
          <a:bodyPr anchor="t" rtlCol="false" tIns="0" lIns="0" bIns="0" rIns="0">
            <a:spAutoFit/>
          </a:bodyPr>
          <a:lstStyle/>
          <a:p>
            <a:pPr algn="l" marL="0" indent="0" lvl="0">
              <a:lnSpc>
                <a:spcPts val="1820"/>
              </a:lnSpc>
              <a:spcBef>
                <a:spcPct val="0"/>
              </a:spcBef>
            </a:pPr>
            <a:r>
              <a:rPr lang="en-US" sz="1300">
                <a:solidFill>
                  <a:srgbClr val="000000"/>
                </a:solidFill>
                <a:latin typeface="DM Sans"/>
                <a:ea typeface="DM Sans"/>
                <a:cs typeface="DM Sans"/>
                <a:sym typeface="DM Sans"/>
              </a:rPr>
              <a:t>Groq + La</a:t>
            </a:r>
            <a:r>
              <a:rPr lang="en-US" sz="1300" strike="noStrike" u="none">
                <a:solidFill>
                  <a:srgbClr val="000000"/>
                </a:solidFill>
                <a:latin typeface="DM Sans"/>
                <a:ea typeface="DM Sans"/>
                <a:cs typeface="DM Sans"/>
                <a:sym typeface="DM Sans"/>
              </a:rPr>
              <a:t>n</a:t>
            </a:r>
            <a:r>
              <a:rPr lang="en-US" sz="1300" strike="noStrike" u="none">
                <a:solidFill>
                  <a:srgbClr val="000000"/>
                </a:solidFill>
                <a:latin typeface="DM Sans"/>
                <a:ea typeface="DM Sans"/>
                <a:cs typeface="DM Sans"/>
                <a:sym typeface="DM Sans"/>
              </a:rPr>
              <a:t>gGraph process</a:t>
            </a:r>
            <a:r>
              <a:rPr lang="en-US" sz="1300" strike="noStrike" u="none">
                <a:solidFill>
                  <a:srgbClr val="000000"/>
                </a:solidFill>
                <a:latin typeface="DM Sans"/>
                <a:ea typeface="DM Sans"/>
                <a:cs typeface="DM Sans"/>
                <a:sym typeface="DM Sans"/>
              </a:rPr>
              <a:t>e</a:t>
            </a:r>
            <a:r>
              <a:rPr lang="en-US" sz="1300" strike="noStrike" u="none">
                <a:solidFill>
                  <a:srgbClr val="000000"/>
                </a:solidFill>
                <a:latin typeface="DM Sans"/>
                <a:ea typeface="DM Sans"/>
                <a:cs typeface="DM Sans"/>
                <a:sym typeface="DM Sans"/>
              </a:rPr>
              <a:t>s</a:t>
            </a:r>
            <a:r>
              <a:rPr lang="en-US" sz="1300" strike="noStrike" u="none">
                <a:solidFill>
                  <a:srgbClr val="000000"/>
                </a:solidFill>
                <a:latin typeface="DM Sans"/>
                <a:ea typeface="DM Sans"/>
                <a:cs typeface="DM Sans"/>
                <a:sym typeface="DM Sans"/>
              </a:rPr>
              <a:t> documents. Ext</a:t>
            </a:r>
            <a:r>
              <a:rPr lang="en-US" sz="1300" strike="noStrike" u="none">
                <a:solidFill>
                  <a:srgbClr val="000000"/>
                </a:solidFill>
                <a:latin typeface="DM Sans"/>
                <a:ea typeface="DM Sans"/>
                <a:cs typeface="DM Sans"/>
                <a:sym typeface="DM Sans"/>
              </a:rPr>
              <a:t>r</a:t>
            </a:r>
            <a:r>
              <a:rPr lang="en-US" sz="1300" strike="noStrike" u="none">
                <a:solidFill>
                  <a:srgbClr val="000000"/>
                </a:solidFill>
                <a:latin typeface="DM Sans"/>
                <a:ea typeface="DM Sans"/>
                <a:cs typeface="DM Sans"/>
                <a:sym typeface="DM Sans"/>
              </a:rPr>
              <a:t>a</a:t>
            </a:r>
            <a:r>
              <a:rPr lang="en-US" sz="1300" strike="noStrike" u="none">
                <a:solidFill>
                  <a:srgbClr val="000000"/>
                </a:solidFill>
                <a:latin typeface="DM Sans"/>
                <a:ea typeface="DM Sans"/>
                <a:cs typeface="DM Sans"/>
                <a:sym typeface="DM Sans"/>
              </a:rPr>
              <a:t>c</a:t>
            </a:r>
            <a:r>
              <a:rPr lang="en-US" sz="1300" strike="noStrike" u="none">
                <a:solidFill>
                  <a:srgbClr val="000000"/>
                </a:solidFill>
                <a:latin typeface="DM Sans"/>
                <a:ea typeface="DM Sans"/>
                <a:cs typeface="DM Sans"/>
                <a:sym typeface="DM Sans"/>
              </a:rPr>
              <a:t>ts credentials, c</a:t>
            </a:r>
            <a:r>
              <a:rPr lang="en-US" sz="1300" strike="noStrike" u="none">
                <a:solidFill>
                  <a:srgbClr val="000000"/>
                </a:solidFill>
                <a:latin typeface="DM Sans"/>
                <a:ea typeface="DM Sans"/>
                <a:cs typeface="DM Sans"/>
                <a:sym typeface="DM Sans"/>
              </a:rPr>
              <a:t>heck</a:t>
            </a:r>
            <a:r>
              <a:rPr lang="en-US" sz="1300" strike="noStrike" u="none">
                <a:solidFill>
                  <a:srgbClr val="000000"/>
                </a:solidFill>
                <a:latin typeface="DM Sans"/>
                <a:ea typeface="DM Sans"/>
                <a:cs typeface="DM Sans"/>
                <a:sym typeface="DM Sans"/>
              </a:rPr>
              <a:t>s</a:t>
            </a:r>
            <a:r>
              <a:rPr lang="en-US" sz="1300" strike="noStrike" u="none">
                <a:solidFill>
                  <a:srgbClr val="000000"/>
                </a:solidFill>
                <a:latin typeface="DM Sans"/>
                <a:ea typeface="DM Sans"/>
                <a:cs typeface="DM Sans"/>
                <a:sym typeface="DM Sans"/>
              </a:rPr>
              <a:t> expira</a:t>
            </a:r>
            <a:r>
              <a:rPr lang="en-US" sz="1300" strike="noStrike" u="none">
                <a:solidFill>
                  <a:srgbClr val="000000"/>
                </a:solidFill>
                <a:latin typeface="DM Sans"/>
                <a:ea typeface="DM Sans"/>
                <a:cs typeface="DM Sans"/>
                <a:sym typeface="DM Sans"/>
              </a:rPr>
              <a:t>tion dates</a:t>
            </a:r>
            <a:r>
              <a:rPr lang="en-US" sz="1300" strike="noStrike" u="none">
                <a:solidFill>
                  <a:srgbClr val="000000"/>
                </a:solidFill>
                <a:latin typeface="DM Sans"/>
                <a:ea typeface="DM Sans"/>
                <a:cs typeface="DM Sans"/>
                <a:sym typeface="DM Sans"/>
              </a:rPr>
              <a:t>,</a:t>
            </a:r>
            <a:r>
              <a:rPr lang="en-US" sz="1300" strike="noStrike" u="none">
                <a:solidFill>
                  <a:srgbClr val="000000"/>
                </a:solidFill>
                <a:latin typeface="DM Sans"/>
                <a:ea typeface="DM Sans"/>
                <a:cs typeface="DM Sans"/>
                <a:sym typeface="DM Sans"/>
              </a:rPr>
              <a:t> and quer</a:t>
            </a:r>
            <a:r>
              <a:rPr lang="en-US" sz="1300" strike="noStrike" u="none">
                <a:solidFill>
                  <a:srgbClr val="000000"/>
                </a:solidFill>
                <a:latin typeface="DM Sans"/>
                <a:ea typeface="DM Sans"/>
                <a:cs typeface="DM Sans"/>
                <a:sym typeface="DM Sans"/>
              </a:rPr>
              <a:t>i</a:t>
            </a:r>
            <a:r>
              <a:rPr lang="en-US" sz="1300" strike="noStrike" u="none">
                <a:solidFill>
                  <a:srgbClr val="000000"/>
                </a:solidFill>
                <a:latin typeface="DM Sans"/>
                <a:ea typeface="DM Sans"/>
                <a:cs typeface="DM Sans"/>
                <a:sym typeface="DM Sans"/>
              </a:rPr>
              <a:t>es o</a:t>
            </a:r>
            <a:r>
              <a:rPr lang="en-US" sz="1300" strike="noStrike" u="none">
                <a:solidFill>
                  <a:srgbClr val="000000"/>
                </a:solidFill>
                <a:latin typeface="DM Sans"/>
                <a:ea typeface="DM Sans"/>
                <a:cs typeface="DM Sans"/>
                <a:sym typeface="DM Sans"/>
              </a:rPr>
              <a:t>ffi</a:t>
            </a:r>
            <a:r>
              <a:rPr lang="en-US" sz="1300" strike="noStrike" u="none">
                <a:solidFill>
                  <a:srgbClr val="000000"/>
                </a:solidFill>
                <a:latin typeface="DM Sans"/>
                <a:ea typeface="DM Sans"/>
                <a:cs typeface="DM Sans"/>
                <a:sym typeface="DM Sans"/>
              </a:rPr>
              <a:t>c</a:t>
            </a:r>
            <a:r>
              <a:rPr lang="en-US" sz="1300" strike="noStrike" u="none">
                <a:solidFill>
                  <a:srgbClr val="000000"/>
                </a:solidFill>
                <a:latin typeface="DM Sans"/>
                <a:ea typeface="DM Sans"/>
                <a:cs typeface="DM Sans"/>
                <a:sym typeface="DM Sans"/>
              </a:rPr>
              <a:t>i</a:t>
            </a:r>
            <a:r>
              <a:rPr lang="en-US" sz="1300" strike="noStrike" u="none">
                <a:solidFill>
                  <a:srgbClr val="000000"/>
                </a:solidFill>
                <a:latin typeface="DM Sans"/>
                <a:ea typeface="DM Sans"/>
                <a:cs typeface="DM Sans"/>
                <a:sym typeface="DM Sans"/>
              </a:rPr>
              <a:t>al</a:t>
            </a:r>
            <a:r>
              <a:rPr lang="en-US" sz="1300" strike="noStrike" u="none">
                <a:solidFill>
                  <a:srgbClr val="000000"/>
                </a:solidFill>
                <a:latin typeface="DM Sans"/>
                <a:ea typeface="DM Sans"/>
                <a:cs typeface="DM Sans"/>
                <a:sym typeface="DM Sans"/>
              </a:rPr>
              <a:t> pub</a:t>
            </a:r>
            <a:r>
              <a:rPr lang="en-US" sz="1300" strike="noStrike" u="none">
                <a:solidFill>
                  <a:srgbClr val="000000"/>
                </a:solidFill>
                <a:latin typeface="DM Sans"/>
                <a:ea typeface="DM Sans"/>
                <a:cs typeface="DM Sans"/>
                <a:sym typeface="DM Sans"/>
              </a:rPr>
              <a:t>lic regist</a:t>
            </a:r>
            <a:r>
              <a:rPr lang="en-US" sz="1300" strike="noStrike" u="none">
                <a:solidFill>
                  <a:srgbClr val="000000"/>
                </a:solidFill>
                <a:latin typeface="DM Sans"/>
                <a:ea typeface="DM Sans"/>
                <a:cs typeface="DM Sans"/>
                <a:sym typeface="DM Sans"/>
              </a:rPr>
              <a:t>ri</a:t>
            </a:r>
            <a:r>
              <a:rPr lang="en-US" sz="1300" strike="noStrike" u="none">
                <a:solidFill>
                  <a:srgbClr val="000000"/>
                </a:solidFill>
                <a:latin typeface="DM Sans"/>
                <a:ea typeface="DM Sans"/>
                <a:cs typeface="DM Sans"/>
                <a:sym typeface="DM Sans"/>
              </a:rPr>
              <a:t>es instantl</a:t>
            </a:r>
            <a:r>
              <a:rPr lang="en-US" sz="1300" strike="noStrike" u="none">
                <a:solidFill>
                  <a:srgbClr val="000000"/>
                </a:solidFill>
                <a:latin typeface="DM Sans"/>
                <a:ea typeface="DM Sans"/>
                <a:cs typeface="DM Sans"/>
                <a:sym typeface="DM Sans"/>
              </a:rPr>
              <a:t>y</a:t>
            </a:r>
            <a:r>
              <a:rPr lang="en-US" sz="1300" strike="noStrike" u="none">
                <a:solidFill>
                  <a:srgbClr val="000000"/>
                </a:solidFill>
                <a:latin typeface="DM Sans"/>
                <a:ea typeface="DM Sans"/>
                <a:cs typeface="DM Sans"/>
                <a:sym typeface="DM Sans"/>
              </a:rPr>
              <a:t>.</a:t>
            </a:r>
          </a:p>
          <a:p>
            <a:pPr algn="l" marL="0" indent="0" lvl="0">
              <a:lnSpc>
                <a:spcPts val="2239"/>
              </a:lnSpc>
              <a:spcBef>
                <a:spcPct val="0"/>
              </a:spcBef>
            </a:pPr>
          </a:p>
        </p:txBody>
      </p:sp>
      <p:sp>
        <p:nvSpPr>
          <p:cNvPr name="TextBox 69" id="69"/>
          <p:cNvSpPr txBox="true"/>
          <p:nvPr/>
        </p:nvSpPr>
        <p:spPr>
          <a:xfrm rot="0">
            <a:off x="13446479" y="4619943"/>
            <a:ext cx="3616564" cy="306705"/>
          </a:xfrm>
          <a:prstGeom prst="rect">
            <a:avLst/>
          </a:prstGeom>
        </p:spPr>
        <p:txBody>
          <a:bodyPr anchor="t" rtlCol="false" tIns="0" lIns="0" bIns="0" rIns="0">
            <a:spAutoFit/>
          </a:bodyPr>
          <a:lstStyle/>
          <a:p>
            <a:pPr algn="l" marL="0" indent="0" lvl="0">
              <a:lnSpc>
                <a:spcPts val="2520"/>
              </a:lnSpc>
              <a:spcBef>
                <a:spcPct val="0"/>
              </a:spcBef>
            </a:pPr>
            <a:r>
              <a:rPr lang="en-US" b="true" sz="1800">
                <a:solidFill>
                  <a:srgbClr val="000000"/>
                </a:solidFill>
                <a:latin typeface="DM Sans Bold"/>
                <a:ea typeface="DM Sans Bold"/>
                <a:cs typeface="DM Sans Bold"/>
                <a:sym typeface="DM Sans Bold"/>
              </a:rPr>
              <a:t>Automated Checks</a:t>
            </a:r>
          </a:p>
        </p:txBody>
      </p:sp>
      <p:sp>
        <p:nvSpPr>
          <p:cNvPr name="TextBox 70" id="70"/>
          <p:cNvSpPr txBox="true"/>
          <p:nvPr/>
        </p:nvSpPr>
        <p:spPr>
          <a:xfrm rot="0">
            <a:off x="13446479" y="6717347"/>
            <a:ext cx="3616564" cy="681355"/>
          </a:xfrm>
          <a:prstGeom prst="rect">
            <a:avLst/>
          </a:prstGeom>
        </p:spPr>
        <p:txBody>
          <a:bodyPr anchor="t" rtlCol="false" tIns="0" lIns="0" bIns="0" rIns="0">
            <a:spAutoFit/>
          </a:bodyPr>
          <a:lstStyle/>
          <a:p>
            <a:pPr algn="l" marL="0" indent="0" lvl="0">
              <a:lnSpc>
                <a:spcPts val="1820"/>
              </a:lnSpc>
              <a:spcBef>
                <a:spcPct val="0"/>
              </a:spcBef>
            </a:pPr>
            <a:r>
              <a:rPr lang="en-US" sz="1300">
                <a:solidFill>
                  <a:srgbClr val="000000"/>
                </a:solidFill>
                <a:latin typeface="DM Sans"/>
                <a:ea typeface="DM Sans"/>
                <a:cs typeface="DM Sans"/>
                <a:sym typeface="DM Sans"/>
              </a:rPr>
              <a:t>Org</a:t>
            </a:r>
            <a:r>
              <a:rPr lang="en-US" sz="1300" strike="noStrike" u="none">
                <a:solidFill>
                  <a:srgbClr val="000000"/>
                </a:solidFill>
                <a:latin typeface="DM Sans"/>
                <a:ea typeface="DM Sans"/>
                <a:cs typeface="DM Sans"/>
                <a:sym typeface="DM Sans"/>
              </a:rPr>
              <a:t>anization Manager or Platform Admin receives AI verification insights, reviewing flagged alerts before granting final active state.</a:t>
            </a:r>
          </a:p>
        </p:txBody>
      </p:sp>
      <p:sp>
        <p:nvSpPr>
          <p:cNvPr name="TextBox 71" id="71"/>
          <p:cNvSpPr txBox="true"/>
          <p:nvPr/>
        </p:nvSpPr>
        <p:spPr>
          <a:xfrm rot="0">
            <a:off x="13446479" y="6334443"/>
            <a:ext cx="3616564" cy="306705"/>
          </a:xfrm>
          <a:prstGeom prst="rect">
            <a:avLst/>
          </a:prstGeom>
        </p:spPr>
        <p:txBody>
          <a:bodyPr anchor="t" rtlCol="false" tIns="0" lIns="0" bIns="0" rIns="0">
            <a:spAutoFit/>
          </a:bodyPr>
          <a:lstStyle/>
          <a:p>
            <a:pPr algn="l" marL="0" indent="0" lvl="0">
              <a:lnSpc>
                <a:spcPts val="2520"/>
              </a:lnSpc>
              <a:spcBef>
                <a:spcPct val="0"/>
              </a:spcBef>
            </a:pPr>
            <a:r>
              <a:rPr lang="en-US" b="true" sz="1800">
                <a:solidFill>
                  <a:srgbClr val="000000"/>
                </a:solidFill>
                <a:latin typeface="DM Sans Bold"/>
                <a:ea typeface="DM Sans Bold"/>
                <a:cs typeface="DM Sans Bold"/>
                <a:sym typeface="DM Sans Bold"/>
              </a:rPr>
              <a:t>Final Approval </a:t>
            </a:r>
          </a:p>
        </p:txBody>
      </p:sp>
      <p:sp>
        <p:nvSpPr>
          <p:cNvPr name="TextBox 72" id="72"/>
          <p:cNvSpPr txBox="true"/>
          <p:nvPr/>
        </p:nvSpPr>
        <p:spPr>
          <a:xfrm rot="0">
            <a:off x="13446479" y="8428672"/>
            <a:ext cx="3616564" cy="1229995"/>
          </a:xfrm>
          <a:prstGeom prst="rect">
            <a:avLst/>
          </a:prstGeom>
        </p:spPr>
        <p:txBody>
          <a:bodyPr anchor="t" rtlCol="false" tIns="0" lIns="0" bIns="0" rIns="0">
            <a:spAutoFit/>
          </a:bodyPr>
          <a:lstStyle/>
          <a:p>
            <a:pPr algn="l" marL="0" indent="0" lvl="0">
              <a:lnSpc>
                <a:spcPts val="1820"/>
              </a:lnSpc>
              <a:spcBef>
                <a:spcPct val="0"/>
              </a:spcBef>
            </a:pPr>
            <a:r>
              <a:rPr lang="en-US" sz="1300">
                <a:solidFill>
                  <a:srgbClr val="000000"/>
                </a:solidFill>
                <a:latin typeface="DM Sans"/>
                <a:ea typeface="DM Sans"/>
                <a:cs typeface="DM Sans"/>
                <a:sym typeface="DM Sans"/>
              </a:rPr>
              <a:t>Provid</a:t>
            </a:r>
            <a:r>
              <a:rPr lang="en-US" sz="1300" strike="noStrike" u="none">
                <a:solidFill>
                  <a:srgbClr val="000000"/>
                </a:solidFill>
                <a:latin typeface="DM Sans"/>
                <a:ea typeface="DM Sans"/>
                <a:cs typeface="DM Sans"/>
                <a:sym typeface="DM Sans"/>
              </a:rPr>
              <a:t>er's calendar is unlocked. They configure slots, serv</a:t>
            </a:r>
            <a:r>
              <a:rPr lang="en-US" sz="1300" strike="noStrike" u="none">
                <a:solidFill>
                  <a:srgbClr val="000000"/>
                </a:solidFill>
                <a:latin typeface="DM Sans"/>
                <a:ea typeface="DM Sans"/>
                <a:cs typeface="DM Sans"/>
                <a:sym typeface="DM Sans"/>
              </a:rPr>
              <a:t>ice type</a:t>
            </a:r>
            <a:r>
              <a:rPr lang="en-US" sz="1300" strike="noStrike" u="none">
                <a:solidFill>
                  <a:srgbClr val="000000"/>
                </a:solidFill>
                <a:latin typeface="DM Sans"/>
                <a:ea typeface="DM Sans"/>
                <a:cs typeface="DM Sans"/>
                <a:sym typeface="DM Sans"/>
              </a:rPr>
              <a:t>s, and </a:t>
            </a:r>
            <a:r>
              <a:rPr lang="en-US" sz="1300" strike="noStrike" u="none">
                <a:solidFill>
                  <a:srgbClr val="000000"/>
                </a:solidFill>
                <a:latin typeface="DM Sans"/>
                <a:ea typeface="DM Sans"/>
                <a:cs typeface="DM Sans"/>
                <a:sym typeface="DM Sans"/>
              </a:rPr>
              <a:t>become query</a:t>
            </a:r>
            <a:r>
              <a:rPr lang="en-US" sz="1300" strike="noStrike" u="none">
                <a:solidFill>
                  <a:srgbClr val="000000"/>
                </a:solidFill>
                <a:latin typeface="DM Sans"/>
                <a:ea typeface="DM Sans"/>
                <a:cs typeface="DM Sans"/>
                <a:sym typeface="DM Sans"/>
              </a:rPr>
              <a:t>a</a:t>
            </a:r>
            <a:r>
              <a:rPr lang="en-US" sz="1300" strike="noStrike" u="none">
                <a:solidFill>
                  <a:srgbClr val="000000"/>
                </a:solidFill>
                <a:latin typeface="DM Sans"/>
                <a:ea typeface="DM Sans"/>
                <a:cs typeface="DM Sans"/>
                <a:sym typeface="DM Sans"/>
              </a:rPr>
              <a:t>b</a:t>
            </a:r>
            <a:r>
              <a:rPr lang="en-US" sz="1300" strike="noStrike" u="none">
                <a:solidFill>
                  <a:srgbClr val="000000"/>
                </a:solidFill>
                <a:latin typeface="DM Sans"/>
                <a:ea typeface="DM Sans"/>
                <a:cs typeface="DM Sans"/>
                <a:sym typeface="DM Sans"/>
              </a:rPr>
              <a:t>le by both web users a</a:t>
            </a:r>
            <a:r>
              <a:rPr lang="en-US" sz="1300" strike="noStrike" u="none">
                <a:solidFill>
                  <a:srgbClr val="000000"/>
                </a:solidFill>
                <a:latin typeface="DM Sans"/>
                <a:ea typeface="DM Sans"/>
                <a:cs typeface="DM Sans"/>
                <a:sym typeface="DM Sans"/>
              </a:rPr>
              <a:t>nd</a:t>
            </a:r>
            <a:r>
              <a:rPr lang="en-US" sz="1300" strike="noStrike" u="none">
                <a:solidFill>
                  <a:srgbClr val="000000"/>
                </a:solidFill>
                <a:latin typeface="DM Sans"/>
                <a:ea typeface="DM Sans"/>
                <a:cs typeface="DM Sans"/>
                <a:sym typeface="DM Sans"/>
              </a:rPr>
              <a:t> the AI Assistant.</a:t>
            </a:r>
          </a:p>
          <a:p>
            <a:pPr algn="l" marL="0" indent="0" lvl="0">
              <a:lnSpc>
                <a:spcPts val="2239"/>
              </a:lnSpc>
              <a:spcBef>
                <a:spcPct val="0"/>
              </a:spcBef>
            </a:pPr>
          </a:p>
          <a:p>
            <a:pPr algn="l" marL="0" indent="0" lvl="0">
              <a:lnSpc>
                <a:spcPts val="2239"/>
              </a:lnSpc>
              <a:spcBef>
                <a:spcPct val="0"/>
              </a:spcBef>
            </a:pPr>
          </a:p>
        </p:txBody>
      </p:sp>
      <p:sp>
        <p:nvSpPr>
          <p:cNvPr name="TextBox 73" id="73"/>
          <p:cNvSpPr txBox="true"/>
          <p:nvPr/>
        </p:nvSpPr>
        <p:spPr>
          <a:xfrm rot="0">
            <a:off x="13446479" y="8048943"/>
            <a:ext cx="3616564" cy="306705"/>
          </a:xfrm>
          <a:prstGeom prst="rect">
            <a:avLst/>
          </a:prstGeom>
        </p:spPr>
        <p:txBody>
          <a:bodyPr anchor="t" rtlCol="false" tIns="0" lIns="0" bIns="0" rIns="0">
            <a:spAutoFit/>
          </a:bodyPr>
          <a:lstStyle/>
          <a:p>
            <a:pPr algn="l" marL="0" indent="0" lvl="0">
              <a:lnSpc>
                <a:spcPts val="2520"/>
              </a:lnSpc>
              <a:spcBef>
                <a:spcPct val="0"/>
              </a:spcBef>
            </a:pPr>
            <a:r>
              <a:rPr lang="en-US" b="true" sz="1800">
                <a:solidFill>
                  <a:srgbClr val="000000"/>
                </a:solidFill>
                <a:latin typeface="DM Sans Bold"/>
                <a:ea typeface="DM Sans Bold"/>
                <a:cs typeface="DM Sans Bold"/>
                <a:sym typeface="DM Sans Bold"/>
              </a:rPr>
              <a:t>Go Live</a:t>
            </a:r>
          </a:p>
        </p:txBody>
      </p:sp>
      <p:sp>
        <p:nvSpPr>
          <p:cNvPr name="TextBox 74" id="74"/>
          <p:cNvSpPr txBox="true"/>
          <p:nvPr/>
        </p:nvSpPr>
        <p:spPr>
          <a:xfrm rot="0">
            <a:off x="12378641" y="4764405"/>
            <a:ext cx="566661" cy="266700"/>
          </a:xfrm>
          <a:prstGeom prst="rect">
            <a:avLst/>
          </a:prstGeom>
        </p:spPr>
        <p:txBody>
          <a:bodyPr anchor="t" rtlCol="false" tIns="0" lIns="0" bIns="0" rIns="0">
            <a:spAutoFit/>
          </a:bodyPr>
          <a:lstStyle/>
          <a:p>
            <a:pPr algn="ctr" marL="0" indent="0" lvl="0">
              <a:lnSpc>
                <a:spcPts val="2100"/>
              </a:lnSpc>
              <a:spcBef>
                <a:spcPct val="0"/>
              </a:spcBef>
            </a:pPr>
            <a:r>
              <a:rPr lang="en-US" b="true" sz="1500">
                <a:solidFill>
                  <a:srgbClr val="000000"/>
                </a:solidFill>
                <a:latin typeface="DM Sans Bold"/>
                <a:ea typeface="DM Sans Bold"/>
                <a:cs typeface="DM Sans Bold"/>
                <a:sym typeface="DM Sans Bold"/>
              </a:rPr>
              <a:t>03</a:t>
            </a:r>
          </a:p>
        </p:txBody>
      </p:sp>
      <p:sp>
        <p:nvSpPr>
          <p:cNvPr name="TextBox 75" id="75"/>
          <p:cNvSpPr txBox="true"/>
          <p:nvPr/>
        </p:nvSpPr>
        <p:spPr>
          <a:xfrm rot="0">
            <a:off x="12378641" y="6488430"/>
            <a:ext cx="566661" cy="266700"/>
          </a:xfrm>
          <a:prstGeom prst="rect">
            <a:avLst/>
          </a:prstGeom>
        </p:spPr>
        <p:txBody>
          <a:bodyPr anchor="t" rtlCol="false" tIns="0" lIns="0" bIns="0" rIns="0">
            <a:spAutoFit/>
          </a:bodyPr>
          <a:lstStyle/>
          <a:p>
            <a:pPr algn="ctr" marL="0" indent="0" lvl="0">
              <a:lnSpc>
                <a:spcPts val="2100"/>
              </a:lnSpc>
              <a:spcBef>
                <a:spcPct val="0"/>
              </a:spcBef>
            </a:pPr>
            <a:r>
              <a:rPr lang="en-US" b="true" sz="1500">
                <a:solidFill>
                  <a:srgbClr val="000000"/>
                </a:solidFill>
                <a:latin typeface="DM Sans Bold"/>
                <a:ea typeface="DM Sans Bold"/>
                <a:cs typeface="DM Sans Bold"/>
                <a:sym typeface="DM Sans Bold"/>
              </a:rPr>
              <a:t>04</a:t>
            </a:r>
          </a:p>
        </p:txBody>
      </p:sp>
      <p:sp>
        <p:nvSpPr>
          <p:cNvPr name="TextBox 76" id="76"/>
          <p:cNvSpPr txBox="true"/>
          <p:nvPr/>
        </p:nvSpPr>
        <p:spPr>
          <a:xfrm rot="0">
            <a:off x="12378641" y="8202930"/>
            <a:ext cx="566661" cy="266700"/>
          </a:xfrm>
          <a:prstGeom prst="rect">
            <a:avLst/>
          </a:prstGeom>
        </p:spPr>
        <p:txBody>
          <a:bodyPr anchor="t" rtlCol="false" tIns="0" lIns="0" bIns="0" rIns="0">
            <a:spAutoFit/>
          </a:bodyPr>
          <a:lstStyle/>
          <a:p>
            <a:pPr algn="ctr" marL="0" indent="0" lvl="0">
              <a:lnSpc>
                <a:spcPts val="2100"/>
              </a:lnSpc>
              <a:spcBef>
                <a:spcPct val="0"/>
              </a:spcBef>
            </a:pPr>
            <a:r>
              <a:rPr lang="en-US" b="true" sz="1500">
                <a:solidFill>
                  <a:srgbClr val="000000"/>
                </a:solidFill>
                <a:latin typeface="DM Sans Bold"/>
                <a:ea typeface="DM Sans Bold"/>
                <a:cs typeface="DM Sans Bold"/>
                <a:sym typeface="DM Sans Bold"/>
              </a:rPr>
              <a:t>05</a:t>
            </a:r>
          </a:p>
        </p:txBody>
      </p:sp>
      <p:sp>
        <p:nvSpPr>
          <p:cNvPr name="Freeform 77" id="77"/>
          <p:cNvSpPr/>
          <p:nvPr/>
        </p:nvSpPr>
        <p:spPr>
          <a:xfrm flipH="false" flipV="false" rot="0">
            <a:off x="10477393" y="7262743"/>
            <a:ext cx="536258" cy="536258"/>
          </a:xfrm>
          <a:custGeom>
            <a:avLst/>
            <a:gdLst/>
            <a:ahLst/>
            <a:cxnLst/>
            <a:rect r="r" b="b" t="t" l="l"/>
            <a:pathLst>
              <a:path h="536258" w="536258">
                <a:moveTo>
                  <a:pt x="0" y="0"/>
                </a:moveTo>
                <a:lnTo>
                  <a:pt x="536257" y="0"/>
                </a:lnTo>
                <a:lnTo>
                  <a:pt x="536257" y="536257"/>
                </a:lnTo>
                <a:lnTo>
                  <a:pt x="0" y="536257"/>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AutoShape 78" id="78"/>
          <p:cNvSpPr/>
          <p:nvPr/>
        </p:nvSpPr>
        <p:spPr>
          <a:xfrm>
            <a:off x="3985153" y="3011657"/>
            <a:ext cx="6492240" cy="0"/>
          </a:xfrm>
          <a:prstGeom prst="line">
            <a:avLst/>
          </a:prstGeom>
          <a:ln cap="flat" w="38100">
            <a:solidFill>
              <a:srgbClr val="E44650"/>
            </a:solidFill>
            <a:prstDash val="solid"/>
            <a:headEnd type="none" len="sm" w="sm"/>
            <a:tailEnd type="none" len="sm" w="sm"/>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2FFFD"/>
        </a:solidFill>
      </p:bgPr>
    </p:bg>
    <p:spTree>
      <p:nvGrpSpPr>
        <p:cNvPr id="1" name=""/>
        <p:cNvGrpSpPr/>
        <p:nvPr/>
      </p:nvGrpSpPr>
      <p:grpSpPr>
        <a:xfrm>
          <a:off x="0" y="0"/>
          <a:ext cx="0" cy="0"/>
          <a:chOff x="0" y="0"/>
          <a:chExt cx="0" cy="0"/>
        </a:xfrm>
      </p:grpSpPr>
      <p:sp>
        <p:nvSpPr>
          <p:cNvPr name="AutoShape 2" id="2"/>
          <p:cNvSpPr/>
          <p:nvPr/>
        </p:nvSpPr>
        <p:spPr>
          <a:xfrm>
            <a:off x="471786" y="2419932"/>
            <a:ext cx="6492240" cy="0"/>
          </a:xfrm>
          <a:prstGeom prst="line">
            <a:avLst/>
          </a:prstGeom>
          <a:ln cap="flat" w="38100">
            <a:solidFill>
              <a:srgbClr val="E44650"/>
            </a:solidFill>
            <a:prstDash val="solid"/>
            <a:headEnd type="none" len="sm" w="sm"/>
            <a:tailEnd type="none" len="sm" w="sm"/>
          </a:ln>
        </p:spPr>
      </p:sp>
      <p:sp>
        <p:nvSpPr>
          <p:cNvPr name="Freeform 3" id="3"/>
          <p:cNvSpPr/>
          <p:nvPr/>
        </p:nvSpPr>
        <p:spPr>
          <a:xfrm flipH="false" flipV="false" rot="0">
            <a:off x="297628" y="3145125"/>
            <a:ext cx="17872404" cy="5752781"/>
          </a:xfrm>
          <a:custGeom>
            <a:avLst/>
            <a:gdLst/>
            <a:ahLst/>
            <a:cxnLst/>
            <a:rect r="r" b="b" t="t" l="l"/>
            <a:pathLst>
              <a:path h="5752781" w="17872404">
                <a:moveTo>
                  <a:pt x="0" y="0"/>
                </a:moveTo>
                <a:lnTo>
                  <a:pt x="17872405" y="0"/>
                </a:lnTo>
                <a:lnTo>
                  <a:pt x="17872405" y="5752781"/>
                </a:lnTo>
                <a:lnTo>
                  <a:pt x="0" y="5752781"/>
                </a:lnTo>
                <a:lnTo>
                  <a:pt x="0" y="0"/>
                </a:lnTo>
                <a:close/>
              </a:path>
            </a:pathLst>
          </a:custGeom>
          <a:blipFill>
            <a:blip r:embed="rId2"/>
            <a:stretch>
              <a:fillRect l="0" t="0" r="0" b="0"/>
            </a:stretch>
          </a:blipFill>
        </p:spPr>
      </p:sp>
      <p:sp>
        <p:nvSpPr>
          <p:cNvPr name="TextBox 4" id="4"/>
          <p:cNvSpPr txBox="true"/>
          <p:nvPr/>
        </p:nvSpPr>
        <p:spPr>
          <a:xfrm rot="0">
            <a:off x="717137" y="1477550"/>
            <a:ext cx="6246888" cy="613410"/>
          </a:xfrm>
          <a:prstGeom prst="rect">
            <a:avLst/>
          </a:prstGeom>
        </p:spPr>
        <p:txBody>
          <a:bodyPr anchor="t" rtlCol="false" tIns="0" lIns="0" bIns="0" rIns="0">
            <a:spAutoFit/>
          </a:bodyPr>
          <a:lstStyle/>
          <a:p>
            <a:pPr algn="l">
              <a:lnSpc>
                <a:spcPts val="5039"/>
              </a:lnSpc>
              <a:spcBef>
                <a:spcPct val="0"/>
              </a:spcBef>
            </a:pPr>
            <a:r>
              <a:rPr lang="en-US" sz="3599" b="true">
                <a:solidFill>
                  <a:srgbClr val="000000"/>
                </a:solidFill>
                <a:latin typeface="DM Sans Bold"/>
                <a:ea typeface="DM Sans Bold"/>
                <a:cs typeface="DM Sans Bold"/>
                <a:sym typeface="DM Sans Bold"/>
              </a:rPr>
              <a:t>LangGraph Architecture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DF3F6"/>
        </a:solidFill>
      </p:bgPr>
    </p:bg>
    <p:spTree>
      <p:nvGrpSpPr>
        <p:cNvPr id="1" name=""/>
        <p:cNvGrpSpPr/>
        <p:nvPr/>
      </p:nvGrpSpPr>
      <p:grpSpPr>
        <a:xfrm>
          <a:off x="0" y="0"/>
          <a:ext cx="0" cy="0"/>
          <a:chOff x="0" y="0"/>
          <a:chExt cx="0" cy="0"/>
        </a:xfrm>
      </p:grpSpPr>
      <p:sp>
        <p:nvSpPr>
          <p:cNvPr name="Freeform 2" id="2"/>
          <p:cNvSpPr/>
          <p:nvPr/>
        </p:nvSpPr>
        <p:spPr>
          <a:xfrm flipH="true" flipV="false" rot="0">
            <a:off x="857250" y="4763700"/>
            <a:ext cx="7503009" cy="4666050"/>
          </a:xfrm>
          <a:custGeom>
            <a:avLst/>
            <a:gdLst/>
            <a:ahLst/>
            <a:cxnLst/>
            <a:rect r="r" b="b" t="t" l="l"/>
            <a:pathLst>
              <a:path h="4666050" w="7503009">
                <a:moveTo>
                  <a:pt x="7503009" y="0"/>
                </a:moveTo>
                <a:lnTo>
                  <a:pt x="0" y="0"/>
                </a:lnTo>
                <a:lnTo>
                  <a:pt x="0" y="4666050"/>
                </a:lnTo>
                <a:lnTo>
                  <a:pt x="7503009" y="4666050"/>
                </a:lnTo>
                <a:lnTo>
                  <a:pt x="7503009"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true" flipV="false" rot="0">
            <a:off x="1303347" y="4051140"/>
            <a:ext cx="6610815" cy="4111203"/>
          </a:xfrm>
          <a:custGeom>
            <a:avLst/>
            <a:gdLst/>
            <a:ahLst/>
            <a:cxnLst/>
            <a:rect r="r" b="b" t="t" l="l"/>
            <a:pathLst>
              <a:path h="4111203" w="6610815">
                <a:moveTo>
                  <a:pt x="6610815" y="0"/>
                </a:moveTo>
                <a:lnTo>
                  <a:pt x="0" y="0"/>
                </a:lnTo>
                <a:lnTo>
                  <a:pt x="0" y="4111203"/>
                </a:lnTo>
                <a:lnTo>
                  <a:pt x="6610815" y="4111203"/>
                </a:lnTo>
                <a:lnTo>
                  <a:pt x="6610815"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true" flipV="false" rot="0">
            <a:off x="1924388" y="3448835"/>
            <a:ext cx="5368733" cy="3338764"/>
          </a:xfrm>
          <a:custGeom>
            <a:avLst/>
            <a:gdLst/>
            <a:ahLst/>
            <a:cxnLst/>
            <a:rect r="r" b="b" t="t" l="l"/>
            <a:pathLst>
              <a:path h="3338764" w="5368733">
                <a:moveTo>
                  <a:pt x="5368733" y="0"/>
                </a:moveTo>
                <a:lnTo>
                  <a:pt x="0" y="0"/>
                </a:lnTo>
                <a:lnTo>
                  <a:pt x="0" y="3338764"/>
                </a:lnTo>
                <a:lnTo>
                  <a:pt x="5368733" y="3338764"/>
                </a:lnTo>
                <a:lnTo>
                  <a:pt x="5368733"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true" flipV="false" rot="0">
            <a:off x="2481510" y="2889684"/>
            <a:ext cx="4254489" cy="2645826"/>
          </a:xfrm>
          <a:custGeom>
            <a:avLst/>
            <a:gdLst/>
            <a:ahLst/>
            <a:cxnLst/>
            <a:rect r="r" b="b" t="t" l="l"/>
            <a:pathLst>
              <a:path h="2645826" w="4254489">
                <a:moveTo>
                  <a:pt x="4254489" y="0"/>
                </a:moveTo>
                <a:lnTo>
                  <a:pt x="0" y="0"/>
                </a:lnTo>
                <a:lnTo>
                  <a:pt x="0" y="2645826"/>
                </a:lnTo>
                <a:lnTo>
                  <a:pt x="4254489" y="2645826"/>
                </a:lnTo>
                <a:lnTo>
                  <a:pt x="4254489"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grpSp>
        <p:nvGrpSpPr>
          <p:cNvPr name="Group 6" id="6"/>
          <p:cNvGrpSpPr/>
          <p:nvPr/>
        </p:nvGrpSpPr>
        <p:grpSpPr>
          <a:xfrm rot="0">
            <a:off x="4304926" y="4550262"/>
            <a:ext cx="607656" cy="60765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28575" cap="sq">
              <a:solidFill>
                <a:srgbClr val="FFFFFF"/>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marL="0" indent="0" lvl="0">
                <a:lnSpc>
                  <a:spcPts val="2520"/>
                </a:lnSpc>
                <a:spcBef>
                  <a:spcPct val="0"/>
                </a:spcBef>
              </a:pPr>
              <a:r>
                <a:rPr lang="en-US" b="true" sz="1800" strike="noStrike" u="none">
                  <a:solidFill>
                    <a:srgbClr val="000000"/>
                  </a:solidFill>
                  <a:latin typeface="DM Sans Bold"/>
                  <a:ea typeface="DM Sans Bold"/>
                  <a:cs typeface="DM Sans Bold"/>
                  <a:sym typeface="DM Sans Bold"/>
                </a:rPr>
                <a:t>01</a:t>
              </a:r>
            </a:p>
          </p:txBody>
        </p:sp>
      </p:grpSp>
      <p:grpSp>
        <p:nvGrpSpPr>
          <p:cNvPr name="Group 9" id="9"/>
          <p:cNvGrpSpPr/>
          <p:nvPr/>
        </p:nvGrpSpPr>
        <p:grpSpPr>
          <a:xfrm rot="0">
            <a:off x="4304926" y="5745991"/>
            <a:ext cx="607656" cy="60765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28575" cap="sq">
              <a:solidFill>
                <a:srgbClr val="FFFFFF"/>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marL="0" indent="0" lvl="0">
                <a:lnSpc>
                  <a:spcPts val="2520"/>
                </a:lnSpc>
                <a:spcBef>
                  <a:spcPct val="0"/>
                </a:spcBef>
              </a:pPr>
              <a:r>
                <a:rPr lang="en-US" b="true" sz="1800" strike="noStrike" u="none">
                  <a:solidFill>
                    <a:srgbClr val="000000"/>
                  </a:solidFill>
                  <a:latin typeface="DM Sans Bold"/>
                  <a:ea typeface="DM Sans Bold"/>
                  <a:cs typeface="DM Sans Bold"/>
                  <a:sym typeface="DM Sans Bold"/>
                </a:rPr>
                <a:t>02</a:t>
              </a:r>
            </a:p>
          </p:txBody>
        </p:sp>
      </p:grpSp>
      <p:grpSp>
        <p:nvGrpSpPr>
          <p:cNvPr name="Group 12" id="12"/>
          <p:cNvGrpSpPr/>
          <p:nvPr/>
        </p:nvGrpSpPr>
        <p:grpSpPr>
          <a:xfrm rot="0">
            <a:off x="4304926" y="7074307"/>
            <a:ext cx="607656" cy="607656"/>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28575" cap="sq">
              <a:solidFill>
                <a:srgbClr val="FFFFFF"/>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520"/>
                </a:lnSpc>
                <a:spcBef>
                  <a:spcPct val="0"/>
                </a:spcBef>
              </a:pPr>
              <a:r>
                <a:rPr lang="en-US" b="true" sz="1800" strike="noStrike" u="none">
                  <a:solidFill>
                    <a:srgbClr val="000000"/>
                  </a:solidFill>
                  <a:latin typeface="DM Sans Bold"/>
                  <a:ea typeface="DM Sans Bold"/>
                  <a:cs typeface="DM Sans Bold"/>
                  <a:sym typeface="DM Sans Bold"/>
                </a:rPr>
                <a:t>03</a:t>
              </a:r>
            </a:p>
          </p:txBody>
        </p:sp>
      </p:grpSp>
      <p:grpSp>
        <p:nvGrpSpPr>
          <p:cNvPr name="Group 15" id="15"/>
          <p:cNvGrpSpPr/>
          <p:nvPr/>
        </p:nvGrpSpPr>
        <p:grpSpPr>
          <a:xfrm rot="0">
            <a:off x="4304926" y="8272513"/>
            <a:ext cx="607656" cy="607656"/>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28575" cap="sq">
              <a:solidFill>
                <a:srgbClr val="FFFFFF"/>
              </a:solidFill>
              <a:prstDash val="solid"/>
              <a:miter/>
            </a:ln>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marL="0" indent="0" lvl="0">
                <a:lnSpc>
                  <a:spcPts val="2520"/>
                </a:lnSpc>
                <a:spcBef>
                  <a:spcPct val="0"/>
                </a:spcBef>
              </a:pPr>
              <a:r>
                <a:rPr lang="en-US" b="true" sz="1800" strike="noStrike" u="none">
                  <a:solidFill>
                    <a:srgbClr val="000000"/>
                  </a:solidFill>
                  <a:latin typeface="DM Sans Bold"/>
                  <a:ea typeface="DM Sans Bold"/>
                  <a:cs typeface="DM Sans Bold"/>
                  <a:sym typeface="DM Sans Bold"/>
                </a:rPr>
                <a:t>04</a:t>
              </a:r>
            </a:p>
          </p:txBody>
        </p:sp>
      </p:grpSp>
      <p:grpSp>
        <p:nvGrpSpPr>
          <p:cNvPr name="Group 18" id="18"/>
          <p:cNvGrpSpPr/>
          <p:nvPr/>
        </p:nvGrpSpPr>
        <p:grpSpPr>
          <a:xfrm rot="0">
            <a:off x="5210565" y="5682325"/>
            <a:ext cx="4165112" cy="734989"/>
            <a:chOff x="0" y="0"/>
            <a:chExt cx="1096984" cy="193577"/>
          </a:xfrm>
        </p:grpSpPr>
        <p:sp>
          <p:nvSpPr>
            <p:cNvPr name="Freeform 19" id="19"/>
            <p:cNvSpPr/>
            <p:nvPr/>
          </p:nvSpPr>
          <p:spPr>
            <a:xfrm flipH="false" flipV="false" rot="0">
              <a:off x="0" y="0"/>
              <a:ext cx="1096984" cy="193577"/>
            </a:xfrm>
            <a:custGeom>
              <a:avLst/>
              <a:gdLst/>
              <a:ahLst/>
              <a:cxnLst/>
              <a:rect r="r" b="b" t="t" l="l"/>
              <a:pathLst>
                <a:path h="193577" w="1096984">
                  <a:moveTo>
                    <a:pt x="18588" y="0"/>
                  </a:moveTo>
                  <a:lnTo>
                    <a:pt x="1078397" y="0"/>
                  </a:lnTo>
                  <a:cubicBezTo>
                    <a:pt x="1088662" y="0"/>
                    <a:pt x="1096984" y="8322"/>
                    <a:pt x="1096984" y="18588"/>
                  </a:cubicBezTo>
                  <a:lnTo>
                    <a:pt x="1096984" y="174990"/>
                  </a:lnTo>
                  <a:cubicBezTo>
                    <a:pt x="1096984" y="179919"/>
                    <a:pt x="1095026" y="184647"/>
                    <a:pt x="1091540" y="188133"/>
                  </a:cubicBezTo>
                  <a:cubicBezTo>
                    <a:pt x="1088054" y="191619"/>
                    <a:pt x="1083326" y="193577"/>
                    <a:pt x="1078397" y="193577"/>
                  </a:cubicBezTo>
                  <a:lnTo>
                    <a:pt x="18588" y="193577"/>
                  </a:lnTo>
                  <a:cubicBezTo>
                    <a:pt x="13658" y="193577"/>
                    <a:pt x="8930" y="191619"/>
                    <a:pt x="5444" y="188133"/>
                  </a:cubicBezTo>
                  <a:cubicBezTo>
                    <a:pt x="1958" y="184647"/>
                    <a:pt x="0" y="179919"/>
                    <a:pt x="0" y="174990"/>
                  </a:cubicBezTo>
                  <a:lnTo>
                    <a:pt x="0" y="18588"/>
                  </a:lnTo>
                  <a:cubicBezTo>
                    <a:pt x="0" y="13658"/>
                    <a:pt x="1958" y="8930"/>
                    <a:pt x="5444" y="5444"/>
                  </a:cubicBezTo>
                  <a:cubicBezTo>
                    <a:pt x="8930" y="1958"/>
                    <a:pt x="13658" y="0"/>
                    <a:pt x="18588" y="0"/>
                  </a:cubicBezTo>
                  <a:close/>
                </a:path>
              </a:pathLst>
            </a:custGeom>
            <a:solidFill>
              <a:srgbClr val="FFFFFF"/>
            </a:solidFill>
          </p:spPr>
        </p:sp>
        <p:sp>
          <p:nvSpPr>
            <p:cNvPr name="TextBox 20" id="20"/>
            <p:cNvSpPr txBox="true"/>
            <p:nvPr/>
          </p:nvSpPr>
          <p:spPr>
            <a:xfrm>
              <a:off x="0" y="-38100"/>
              <a:ext cx="1096984" cy="231677"/>
            </a:xfrm>
            <a:prstGeom prst="rect">
              <a:avLst/>
            </a:prstGeom>
          </p:spPr>
          <p:txBody>
            <a:bodyPr anchor="ctr" rtlCol="false" tIns="50800" lIns="50800" bIns="50800" rIns="50800"/>
            <a:lstStyle/>
            <a:p>
              <a:pPr algn="ctr">
                <a:lnSpc>
                  <a:spcPts val="2520"/>
                </a:lnSpc>
              </a:pPr>
            </a:p>
          </p:txBody>
        </p:sp>
      </p:grpSp>
      <p:grpSp>
        <p:nvGrpSpPr>
          <p:cNvPr name="Group 21" id="21"/>
          <p:cNvGrpSpPr/>
          <p:nvPr/>
        </p:nvGrpSpPr>
        <p:grpSpPr>
          <a:xfrm rot="0">
            <a:off x="5210565" y="7010641"/>
            <a:ext cx="4165112" cy="734989"/>
            <a:chOff x="0" y="0"/>
            <a:chExt cx="1096984" cy="193577"/>
          </a:xfrm>
        </p:grpSpPr>
        <p:sp>
          <p:nvSpPr>
            <p:cNvPr name="Freeform 22" id="22"/>
            <p:cNvSpPr/>
            <p:nvPr/>
          </p:nvSpPr>
          <p:spPr>
            <a:xfrm flipH="false" flipV="false" rot="0">
              <a:off x="0" y="0"/>
              <a:ext cx="1096984" cy="193577"/>
            </a:xfrm>
            <a:custGeom>
              <a:avLst/>
              <a:gdLst/>
              <a:ahLst/>
              <a:cxnLst/>
              <a:rect r="r" b="b" t="t" l="l"/>
              <a:pathLst>
                <a:path h="193577" w="1096984">
                  <a:moveTo>
                    <a:pt x="18588" y="0"/>
                  </a:moveTo>
                  <a:lnTo>
                    <a:pt x="1078397" y="0"/>
                  </a:lnTo>
                  <a:cubicBezTo>
                    <a:pt x="1088662" y="0"/>
                    <a:pt x="1096984" y="8322"/>
                    <a:pt x="1096984" y="18588"/>
                  </a:cubicBezTo>
                  <a:lnTo>
                    <a:pt x="1096984" y="174990"/>
                  </a:lnTo>
                  <a:cubicBezTo>
                    <a:pt x="1096984" y="179919"/>
                    <a:pt x="1095026" y="184647"/>
                    <a:pt x="1091540" y="188133"/>
                  </a:cubicBezTo>
                  <a:cubicBezTo>
                    <a:pt x="1088054" y="191619"/>
                    <a:pt x="1083326" y="193577"/>
                    <a:pt x="1078397" y="193577"/>
                  </a:cubicBezTo>
                  <a:lnTo>
                    <a:pt x="18588" y="193577"/>
                  </a:lnTo>
                  <a:cubicBezTo>
                    <a:pt x="13658" y="193577"/>
                    <a:pt x="8930" y="191619"/>
                    <a:pt x="5444" y="188133"/>
                  </a:cubicBezTo>
                  <a:cubicBezTo>
                    <a:pt x="1958" y="184647"/>
                    <a:pt x="0" y="179919"/>
                    <a:pt x="0" y="174990"/>
                  </a:cubicBezTo>
                  <a:lnTo>
                    <a:pt x="0" y="18588"/>
                  </a:lnTo>
                  <a:cubicBezTo>
                    <a:pt x="0" y="13658"/>
                    <a:pt x="1958" y="8930"/>
                    <a:pt x="5444" y="5444"/>
                  </a:cubicBezTo>
                  <a:cubicBezTo>
                    <a:pt x="8930" y="1958"/>
                    <a:pt x="13658" y="0"/>
                    <a:pt x="18588" y="0"/>
                  </a:cubicBezTo>
                  <a:close/>
                </a:path>
              </a:pathLst>
            </a:custGeom>
            <a:solidFill>
              <a:srgbClr val="FFFFFF"/>
            </a:solidFill>
          </p:spPr>
        </p:sp>
        <p:sp>
          <p:nvSpPr>
            <p:cNvPr name="TextBox 23" id="23"/>
            <p:cNvSpPr txBox="true"/>
            <p:nvPr/>
          </p:nvSpPr>
          <p:spPr>
            <a:xfrm>
              <a:off x="0" y="-38100"/>
              <a:ext cx="1096984" cy="231677"/>
            </a:xfrm>
            <a:prstGeom prst="rect">
              <a:avLst/>
            </a:prstGeom>
          </p:spPr>
          <p:txBody>
            <a:bodyPr anchor="ctr" rtlCol="false" tIns="50800" lIns="50800" bIns="50800" rIns="50800"/>
            <a:lstStyle/>
            <a:p>
              <a:pPr algn="ctr">
                <a:lnSpc>
                  <a:spcPts val="2520"/>
                </a:lnSpc>
              </a:pPr>
              <a:r>
                <a:rPr lang="en-US" b="true" sz="1800">
                  <a:solidFill>
                    <a:srgbClr val="000000"/>
                  </a:solidFill>
                  <a:latin typeface="DM Sans Bold"/>
                  <a:ea typeface="DM Sans Bold"/>
                  <a:cs typeface="DM Sans Bold"/>
                  <a:sym typeface="DM Sans Bold"/>
                </a:rPr>
                <a:t>API Augmented Real time Lookups</a:t>
              </a:r>
            </a:p>
          </p:txBody>
        </p:sp>
      </p:grpSp>
      <p:grpSp>
        <p:nvGrpSpPr>
          <p:cNvPr name="Group 24" id="24"/>
          <p:cNvGrpSpPr/>
          <p:nvPr/>
        </p:nvGrpSpPr>
        <p:grpSpPr>
          <a:xfrm rot="0">
            <a:off x="5210565" y="8338956"/>
            <a:ext cx="4165112" cy="734989"/>
            <a:chOff x="0" y="0"/>
            <a:chExt cx="1096984" cy="193577"/>
          </a:xfrm>
        </p:grpSpPr>
        <p:sp>
          <p:nvSpPr>
            <p:cNvPr name="Freeform 25" id="25"/>
            <p:cNvSpPr/>
            <p:nvPr/>
          </p:nvSpPr>
          <p:spPr>
            <a:xfrm flipH="false" flipV="false" rot="0">
              <a:off x="0" y="0"/>
              <a:ext cx="1096984" cy="193577"/>
            </a:xfrm>
            <a:custGeom>
              <a:avLst/>
              <a:gdLst/>
              <a:ahLst/>
              <a:cxnLst/>
              <a:rect r="r" b="b" t="t" l="l"/>
              <a:pathLst>
                <a:path h="193577" w="1096984">
                  <a:moveTo>
                    <a:pt x="18588" y="0"/>
                  </a:moveTo>
                  <a:lnTo>
                    <a:pt x="1078397" y="0"/>
                  </a:lnTo>
                  <a:cubicBezTo>
                    <a:pt x="1088662" y="0"/>
                    <a:pt x="1096984" y="8322"/>
                    <a:pt x="1096984" y="18588"/>
                  </a:cubicBezTo>
                  <a:lnTo>
                    <a:pt x="1096984" y="174990"/>
                  </a:lnTo>
                  <a:cubicBezTo>
                    <a:pt x="1096984" y="179919"/>
                    <a:pt x="1095026" y="184647"/>
                    <a:pt x="1091540" y="188133"/>
                  </a:cubicBezTo>
                  <a:cubicBezTo>
                    <a:pt x="1088054" y="191619"/>
                    <a:pt x="1083326" y="193577"/>
                    <a:pt x="1078397" y="193577"/>
                  </a:cubicBezTo>
                  <a:lnTo>
                    <a:pt x="18588" y="193577"/>
                  </a:lnTo>
                  <a:cubicBezTo>
                    <a:pt x="13658" y="193577"/>
                    <a:pt x="8930" y="191619"/>
                    <a:pt x="5444" y="188133"/>
                  </a:cubicBezTo>
                  <a:cubicBezTo>
                    <a:pt x="1958" y="184647"/>
                    <a:pt x="0" y="179919"/>
                    <a:pt x="0" y="174990"/>
                  </a:cubicBezTo>
                  <a:lnTo>
                    <a:pt x="0" y="18588"/>
                  </a:lnTo>
                  <a:cubicBezTo>
                    <a:pt x="0" y="13658"/>
                    <a:pt x="1958" y="8930"/>
                    <a:pt x="5444" y="5444"/>
                  </a:cubicBezTo>
                  <a:cubicBezTo>
                    <a:pt x="8930" y="1958"/>
                    <a:pt x="13658" y="0"/>
                    <a:pt x="18588" y="0"/>
                  </a:cubicBezTo>
                  <a:close/>
                </a:path>
              </a:pathLst>
            </a:custGeom>
            <a:solidFill>
              <a:srgbClr val="FFFFFF"/>
            </a:solidFill>
          </p:spPr>
        </p:sp>
        <p:sp>
          <p:nvSpPr>
            <p:cNvPr name="TextBox 26" id="26"/>
            <p:cNvSpPr txBox="true"/>
            <p:nvPr/>
          </p:nvSpPr>
          <p:spPr>
            <a:xfrm>
              <a:off x="0" y="-38100"/>
              <a:ext cx="1096984" cy="231677"/>
            </a:xfrm>
            <a:prstGeom prst="rect">
              <a:avLst/>
            </a:prstGeom>
          </p:spPr>
          <p:txBody>
            <a:bodyPr anchor="ctr" rtlCol="false" tIns="50800" lIns="50800" bIns="50800" rIns="50800"/>
            <a:lstStyle/>
            <a:p>
              <a:pPr algn="ctr">
                <a:lnSpc>
                  <a:spcPts val="2520"/>
                </a:lnSpc>
              </a:pPr>
            </a:p>
          </p:txBody>
        </p:sp>
      </p:grpSp>
      <p:grpSp>
        <p:nvGrpSpPr>
          <p:cNvPr name="Group 27" id="27"/>
          <p:cNvGrpSpPr/>
          <p:nvPr/>
        </p:nvGrpSpPr>
        <p:grpSpPr>
          <a:xfrm rot="0">
            <a:off x="5210565" y="4396205"/>
            <a:ext cx="4165112" cy="734989"/>
            <a:chOff x="0" y="0"/>
            <a:chExt cx="1096984" cy="193577"/>
          </a:xfrm>
        </p:grpSpPr>
        <p:sp>
          <p:nvSpPr>
            <p:cNvPr name="Freeform 28" id="28"/>
            <p:cNvSpPr/>
            <p:nvPr/>
          </p:nvSpPr>
          <p:spPr>
            <a:xfrm flipH="false" flipV="false" rot="0">
              <a:off x="0" y="0"/>
              <a:ext cx="1096984" cy="193577"/>
            </a:xfrm>
            <a:custGeom>
              <a:avLst/>
              <a:gdLst/>
              <a:ahLst/>
              <a:cxnLst/>
              <a:rect r="r" b="b" t="t" l="l"/>
              <a:pathLst>
                <a:path h="193577" w="1096984">
                  <a:moveTo>
                    <a:pt x="18588" y="0"/>
                  </a:moveTo>
                  <a:lnTo>
                    <a:pt x="1078397" y="0"/>
                  </a:lnTo>
                  <a:cubicBezTo>
                    <a:pt x="1088662" y="0"/>
                    <a:pt x="1096984" y="8322"/>
                    <a:pt x="1096984" y="18588"/>
                  </a:cubicBezTo>
                  <a:lnTo>
                    <a:pt x="1096984" y="174990"/>
                  </a:lnTo>
                  <a:cubicBezTo>
                    <a:pt x="1096984" y="179919"/>
                    <a:pt x="1095026" y="184647"/>
                    <a:pt x="1091540" y="188133"/>
                  </a:cubicBezTo>
                  <a:cubicBezTo>
                    <a:pt x="1088054" y="191619"/>
                    <a:pt x="1083326" y="193577"/>
                    <a:pt x="1078397" y="193577"/>
                  </a:cubicBezTo>
                  <a:lnTo>
                    <a:pt x="18588" y="193577"/>
                  </a:lnTo>
                  <a:cubicBezTo>
                    <a:pt x="13658" y="193577"/>
                    <a:pt x="8930" y="191619"/>
                    <a:pt x="5444" y="188133"/>
                  </a:cubicBezTo>
                  <a:cubicBezTo>
                    <a:pt x="1958" y="184647"/>
                    <a:pt x="0" y="179919"/>
                    <a:pt x="0" y="174990"/>
                  </a:cubicBezTo>
                  <a:lnTo>
                    <a:pt x="0" y="18588"/>
                  </a:lnTo>
                  <a:cubicBezTo>
                    <a:pt x="0" y="13658"/>
                    <a:pt x="1958" y="8930"/>
                    <a:pt x="5444" y="5444"/>
                  </a:cubicBezTo>
                  <a:cubicBezTo>
                    <a:pt x="8930" y="1958"/>
                    <a:pt x="13658" y="0"/>
                    <a:pt x="18588" y="0"/>
                  </a:cubicBezTo>
                  <a:close/>
                </a:path>
              </a:pathLst>
            </a:custGeom>
            <a:solidFill>
              <a:srgbClr val="FFFFFF"/>
            </a:solidFill>
          </p:spPr>
        </p:sp>
        <p:sp>
          <p:nvSpPr>
            <p:cNvPr name="TextBox 29" id="29"/>
            <p:cNvSpPr txBox="true"/>
            <p:nvPr/>
          </p:nvSpPr>
          <p:spPr>
            <a:xfrm>
              <a:off x="0" y="-38100"/>
              <a:ext cx="1096984" cy="231677"/>
            </a:xfrm>
            <a:prstGeom prst="rect">
              <a:avLst/>
            </a:prstGeom>
          </p:spPr>
          <p:txBody>
            <a:bodyPr anchor="ctr" rtlCol="false" tIns="50800" lIns="50800" bIns="50800" rIns="50800"/>
            <a:lstStyle/>
            <a:p>
              <a:pPr algn="ctr">
                <a:lnSpc>
                  <a:spcPts val="2520"/>
                </a:lnSpc>
              </a:pPr>
            </a:p>
          </p:txBody>
        </p:sp>
      </p:grpSp>
      <p:sp>
        <p:nvSpPr>
          <p:cNvPr name="AutoShape 30" id="30"/>
          <p:cNvSpPr/>
          <p:nvPr/>
        </p:nvSpPr>
        <p:spPr>
          <a:xfrm>
            <a:off x="409687" y="1984809"/>
            <a:ext cx="6492240" cy="0"/>
          </a:xfrm>
          <a:prstGeom prst="line">
            <a:avLst/>
          </a:prstGeom>
          <a:ln cap="flat" w="38100">
            <a:solidFill>
              <a:srgbClr val="E44650"/>
            </a:solidFill>
            <a:prstDash val="solid"/>
            <a:headEnd type="none" len="sm" w="sm"/>
            <a:tailEnd type="none" len="sm" w="sm"/>
          </a:ln>
        </p:spPr>
      </p:sp>
      <p:sp>
        <p:nvSpPr>
          <p:cNvPr name="Freeform 31" id="31"/>
          <p:cNvSpPr/>
          <p:nvPr/>
        </p:nvSpPr>
        <p:spPr>
          <a:xfrm flipH="false" flipV="false" rot="0">
            <a:off x="10256416" y="238159"/>
            <a:ext cx="7002884" cy="9760116"/>
          </a:xfrm>
          <a:custGeom>
            <a:avLst/>
            <a:gdLst/>
            <a:ahLst/>
            <a:cxnLst/>
            <a:rect r="r" b="b" t="t" l="l"/>
            <a:pathLst>
              <a:path h="9760116" w="7002884">
                <a:moveTo>
                  <a:pt x="0" y="0"/>
                </a:moveTo>
                <a:lnTo>
                  <a:pt x="7002884" y="0"/>
                </a:lnTo>
                <a:lnTo>
                  <a:pt x="7002884" y="9760116"/>
                </a:lnTo>
                <a:lnTo>
                  <a:pt x="0" y="9760116"/>
                </a:lnTo>
                <a:lnTo>
                  <a:pt x="0" y="0"/>
                </a:lnTo>
                <a:close/>
              </a:path>
            </a:pathLst>
          </a:custGeom>
          <a:blipFill>
            <a:blip r:embed="rId10"/>
            <a:stretch>
              <a:fillRect l="0" t="0" r="0" b="0"/>
            </a:stretch>
          </a:blipFill>
        </p:spPr>
      </p:sp>
      <p:sp>
        <p:nvSpPr>
          <p:cNvPr name="TextBox 32" id="32"/>
          <p:cNvSpPr txBox="true"/>
          <p:nvPr/>
        </p:nvSpPr>
        <p:spPr>
          <a:xfrm rot="0">
            <a:off x="952500" y="247650"/>
            <a:ext cx="6595305" cy="1251585"/>
          </a:xfrm>
          <a:prstGeom prst="rect">
            <a:avLst/>
          </a:prstGeom>
        </p:spPr>
        <p:txBody>
          <a:bodyPr anchor="t" rtlCol="false" tIns="0" lIns="0" bIns="0" rIns="0">
            <a:spAutoFit/>
          </a:bodyPr>
          <a:lstStyle/>
          <a:p>
            <a:pPr algn="l">
              <a:lnSpc>
                <a:spcPts val="5039"/>
              </a:lnSpc>
              <a:spcBef>
                <a:spcPct val="0"/>
              </a:spcBef>
            </a:pPr>
            <a:r>
              <a:rPr lang="en-US" sz="3599" b="true">
                <a:solidFill>
                  <a:srgbClr val="000000"/>
                </a:solidFill>
                <a:latin typeface="DM Sans Bold"/>
                <a:ea typeface="DM Sans Bold"/>
                <a:cs typeface="DM Sans Bold"/>
                <a:sym typeface="DM Sans Bold"/>
              </a:rPr>
              <a:t>RAG Based AI Analysis And Insights</a:t>
            </a:r>
          </a:p>
        </p:txBody>
      </p:sp>
      <p:sp>
        <p:nvSpPr>
          <p:cNvPr name="TextBox 33" id="33"/>
          <p:cNvSpPr txBox="true"/>
          <p:nvPr/>
        </p:nvSpPr>
        <p:spPr>
          <a:xfrm rot="0">
            <a:off x="5210565" y="4625841"/>
            <a:ext cx="4165112" cy="306705"/>
          </a:xfrm>
          <a:prstGeom prst="rect">
            <a:avLst/>
          </a:prstGeom>
        </p:spPr>
        <p:txBody>
          <a:bodyPr anchor="t" rtlCol="false" tIns="0" lIns="0" bIns="0" rIns="0">
            <a:spAutoFit/>
          </a:bodyPr>
          <a:lstStyle/>
          <a:p>
            <a:pPr algn="ctr">
              <a:lnSpc>
                <a:spcPts val="2520"/>
              </a:lnSpc>
              <a:spcBef>
                <a:spcPct val="0"/>
              </a:spcBef>
            </a:pPr>
            <a:r>
              <a:rPr lang="en-US" b="true" sz="1800">
                <a:solidFill>
                  <a:srgbClr val="000000"/>
                </a:solidFill>
                <a:latin typeface="DM Sans Bold"/>
                <a:ea typeface="DM Sans Bold"/>
                <a:cs typeface="DM Sans Bold"/>
                <a:sym typeface="DM Sans Bold"/>
              </a:rPr>
              <a:t>Direct NLP Intent classification</a:t>
            </a:r>
          </a:p>
        </p:txBody>
      </p:sp>
      <p:sp>
        <p:nvSpPr>
          <p:cNvPr name="TextBox 34" id="34"/>
          <p:cNvSpPr txBox="true"/>
          <p:nvPr/>
        </p:nvSpPr>
        <p:spPr>
          <a:xfrm rot="0">
            <a:off x="5111396" y="5877417"/>
            <a:ext cx="4165112" cy="306705"/>
          </a:xfrm>
          <a:prstGeom prst="rect">
            <a:avLst/>
          </a:prstGeom>
        </p:spPr>
        <p:txBody>
          <a:bodyPr anchor="t" rtlCol="false" tIns="0" lIns="0" bIns="0" rIns="0">
            <a:spAutoFit/>
          </a:bodyPr>
          <a:lstStyle/>
          <a:p>
            <a:pPr algn="ctr">
              <a:lnSpc>
                <a:spcPts val="2520"/>
              </a:lnSpc>
              <a:spcBef>
                <a:spcPct val="0"/>
              </a:spcBef>
            </a:pPr>
            <a:r>
              <a:rPr lang="en-US" b="true" sz="1800">
                <a:solidFill>
                  <a:srgbClr val="000000"/>
                </a:solidFill>
                <a:latin typeface="DM Sans Bold"/>
                <a:ea typeface="DM Sans Bold"/>
                <a:cs typeface="DM Sans Bold"/>
                <a:sym typeface="DM Sans Bold"/>
              </a:rPr>
              <a:t>Dynamic Vector Search </a:t>
            </a:r>
          </a:p>
        </p:txBody>
      </p:sp>
      <p:sp>
        <p:nvSpPr>
          <p:cNvPr name="TextBox 35" id="35"/>
          <p:cNvSpPr txBox="true"/>
          <p:nvPr/>
        </p:nvSpPr>
        <p:spPr>
          <a:xfrm rot="0">
            <a:off x="5111396" y="8376886"/>
            <a:ext cx="4165112" cy="621030"/>
          </a:xfrm>
          <a:prstGeom prst="rect">
            <a:avLst/>
          </a:prstGeom>
        </p:spPr>
        <p:txBody>
          <a:bodyPr anchor="t" rtlCol="false" tIns="0" lIns="0" bIns="0" rIns="0">
            <a:spAutoFit/>
          </a:bodyPr>
          <a:lstStyle/>
          <a:p>
            <a:pPr algn="ctr">
              <a:lnSpc>
                <a:spcPts val="2520"/>
              </a:lnSpc>
              <a:spcBef>
                <a:spcPct val="0"/>
              </a:spcBef>
            </a:pPr>
            <a:r>
              <a:rPr lang="en-US" b="true" sz="1800">
                <a:solidFill>
                  <a:srgbClr val="000000"/>
                </a:solidFill>
                <a:latin typeface="DM Sans Bold"/>
                <a:ea typeface="DM Sans Bold"/>
                <a:cs typeface="DM Sans Bold"/>
                <a:sym typeface="DM Sans Bold"/>
              </a:rPr>
              <a:t>Transaction Executin and State Updates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DF3F6"/>
        </a:solidFill>
      </p:bgPr>
    </p:bg>
    <p:spTree>
      <p:nvGrpSpPr>
        <p:cNvPr id="1" name=""/>
        <p:cNvGrpSpPr/>
        <p:nvPr/>
      </p:nvGrpSpPr>
      <p:grpSpPr>
        <a:xfrm>
          <a:off x="0" y="0"/>
          <a:ext cx="0" cy="0"/>
          <a:chOff x="0" y="0"/>
          <a:chExt cx="0" cy="0"/>
        </a:xfrm>
      </p:grpSpPr>
      <p:sp>
        <p:nvSpPr>
          <p:cNvPr name="Freeform 2" id="2"/>
          <p:cNvSpPr/>
          <p:nvPr/>
        </p:nvSpPr>
        <p:spPr>
          <a:xfrm flipH="false" flipV="false" rot="0">
            <a:off x="415483" y="856532"/>
            <a:ext cx="11248840" cy="9023794"/>
          </a:xfrm>
          <a:custGeom>
            <a:avLst/>
            <a:gdLst/>
            <a:ahLst/>
            <a:cxnLst/>
            <a:rect r="r" b="b" t="t" l="l"/>
            <a:pathLst>
              <a:path h="9023794" w="11248840">
                <a:moveTo>
                  <a:pt x="0" y="0"/>
                </a:moveTo>
                <a:lnTo>
                  <a:pt x="11248840" y="0"/>
                </a:lnTo>
                <a:lnTo>
                  <a:pt x="11248840" y="9023794"/>
                </a:lnTo>
                <a:lnTo>
                  <a:pt x="0" y="90237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384225" y="269988"/>
            <a:ext cx="12325027" cy="360158"/>
          </a:xfrm>
          <a:prstGeom prst="rect">
            <a:avLst/>
          </a:prstGeom>
        </p:spPr>
        <p:txBody>
          <a:bodyPr anchor="t" rtlCol="false" tIns="0" lIns="0" bIns="0" rIns="0">
            <a:spAutoFit/>
          </a:bodyPr>
          <a:lstStyle/>
          <a:p>
            <a:pPr algn="ctr">
              <a:lnSpc>
                <a:spcPts val="2932"/>
              </a:lnSpc>
              <a:spcBef>
                <a:spcPct val="0"/>
              </a:spcBef>
            </a:pPr>
            <a:r>
              <a:rPr lang="en-US" b="true" sz="2094">
                <a:solidFill>
                  <a:srgbClr val="000000"/>
                </a:solidFill>
                <a:latin typeface="DM Sans Bold"/>
                <a:ea typeface="DM Sans Bold"/>
                <a:cs typeface="DM Sans Bold"/>
                <a:sym typeface="DM Sans Bold"/>
              </a:rPr>
              <a:t>RAG and Chatbot architecture </a:t>
            </a:r>
          </a:p>
        </p:txBody>
      </p:sp>
      <p:sp>
        <p:nvSpPr>
          <p:cNvPr name="TextBox 4" id="4"/>
          <p:cNvSpPr txBox="true"/>
          <p:nvPr/>
        </p:nvSpPr>
        <p:spPr>
          <a:xfrm rot="0">
            <a:off x="11664323" y="808907"/>
            <a:ext cx="6623677" cy="9191516"/>
          </a:xfrm>
          <a:prstGeom prst="rect">
            <a:avLst/>
          </a:prstGeom>
        </p:spPr>
        <p:txBody>
          <a:bodyPr anchor="t" rtlCol="false" tIns="0" lIns="0" bIns="0" rIns="0">
            <a:spAutoFit/>
          </a:bodyPr>
          <a:lstStyle/>
          <a:p>
            <a:pPr algn="l">
              <a:lnSpc>
                <a:spcPts val="3156"/>
              </a:lnSpc>
            </a:pPr>
            <a:r>
              <a:rPr lang="en-US" sz="2254" b="true">
                <a:solidFill>
                  <a:srgbClr val="FF3131"/>
                </a:solidFill>
                <a:latin typeface="DM Sans Bold"/>
                <a:ea typeface="DM Sans Bold"/>
                <a:cs typeface="DM Sans Bold"/>
                <a:sym typeface="DM Sans Bold"/>
              </a:rPr>
              <a:t>1. Security gates everything upstream</a:t>
            </a:r>
            <a:r>
              <a:rPr lang="en-US" sz="2254" b="true">
                <a:solidFill>
                  <a:srgbClr val="000000"/>
                </a:solidFill>
                <a:latin typeface="DM Sans Bold"/>
                <a:ea typeface="DM Sans Bold"/>
                <a:cs typeface="DM Sans Bold"/>
                <a:sym typeface="DM Sans Bold"/>
              </a:rPr>
              <a:t> — injection guard + convo check run before any business logic touches the message.</a:t>
            </a:r>
          </a:p>
          <a:p>
            <a:pPr algn="l">
              <a:lnSpc>
                <a:spcPts val="3156"/>
              </a:lnSpc>
            </a:pPr>
          </a:p>
          <a:p>
            <a:pPr algn="l">
              <a:lnSpc>
                <a:spcPts val="3156"/>
              </a:lnSpc>
            </a:pPr>
            <a:r>
              <a:rPr lang="en-US" sz="2254" b="true">
                <a:solidFill>
                  <a:srgbClr val="FF3131"/>
                </a:solidFill>
                <a:latin typeface="DM Sans Bold"/>
                <a:ea typeface="DM Sans Bold"/>
                <a:cs typeface="DM Sans Bold"/>
                <a:sym typeface="DM Sans Bold"/>
              </a:rPr>
              <a:t>2. Three independent cache layers </a:t>
            </a:r>
            <a:r>
              <a:rPr lang="en-US" sz="2254" b="true">
                <a:solidFill>
                  <a:srgbClr val="000000"/>
                </a:solidFill>
                <a:latin typeface="DM Sans Bold"/>
                <a:ea typeface="DM Sans Bold"/>
                <a:cs typeface="DM Sans Bold"/>
                <a:sym typeface="DM Sans Bold"/>
              </a:rPr>
              <a:t>— Planning (TTL 300s), Routing (slot-cache + embeddings), and Generate (msg + context hash) each tuned to different staleness budgets.</a:t>
            </a:r>
          </a:p>
          <a:p>
            <a:pPr algn="l">
              <a:lnSpc>
                <a:spcPts val="3156"/>
              </a:lnSpc>
            </a:pPr>
          </a:p>
          <a:p>
            <a:pPr algn="l">
              <a:lnSpc>
                <a:spcPts val="3156"/>
              </a:lnSpc>
            </a:pPr>
            <a:r>
              <a:rPr lang="en-US" sz="2254" b="true">
                <a:solidFill>
                  <a:srgbClr val="FF5757"/>
                </a:solidFill>
                <a:latin typeface="DM Sans Bold"/>
                <a:ea typeface="DM Sans Bold"/>
                <a:cs typeface="DM Sans Bold"/>
                <a:sym typeface="DM Sans Bold"/>
              </a:rPr>
              <a:t>3. Routing resolves intent; Data fetches</a:t>
            </a:r>
            <a:r>
              <a:rPr lang="en-US" sz="2254" b="true">
                <a:solidFill>
                  <a:srgbClr val="000000"/>
                </a:solidFill>
                <a:latin typeface="DM Sans Bold"/>
                <a:ea typeface="DM Sans Bold"/>
                <a:cs typeface="DM Sans Bold"/>
                <a:sym typeface="DM Sans Bold"/>
              </a:rPr>
              <a:t> — clean lane separation means the classifier can be retrained without touching the API layer.</a:t>
            </a:r>
          </a:p>
          <a:p>
            <a:pPr algn="l">
              <a:lnSpc>
                <a:spcPts val="3156"/>
              </a:lnSpc>
            </a:pPr>
          </a:p>
          <a:p>
            <a:pPr algn="l">
              <a:lnSpc>
                <a:spcPts val="3156"/>
              </a:lnSpc>
            </a:pPr>
            <a:r>
              <a:rPr lang="en-US" sz="2254" b="true">
                <a:solidFill>
                  <a:srgbClr val="FF3131"/>
                </a:solidFill>
                <a:latin typeface="DM Sans Bold"/>
                <a:ea typeface="DM Sans Bold"/>
                <a:cs typeface="DM Sans Bold"/>
                <a:sym typeface="DM Sans Bold"/>
              </a:rPr>
              <a:t>4. Data lane sanitises in-flight </a:t>
            </a:r>
            <a:r>
              <a:rPr lang="en-US" sz="2254" b="true">
                <a:solidFill>
                  <a:srgbClr val="000000"/>
                </a:solidFill>
                <a:latin typeface="DM Sans Bold"/>
                <a:ea typeface="DM Sans Bold"/>
                <a:cs typeface="DM Sans Bold"/>
                <a:sym typeface="DM Sans Bold"/>
              </a:rPr>
              <a:t>— PII scrub and payload prune (15 appts, 5 reviews cap) happen before data ever reaches the generator.</a:t>
            </a:r>
          </a:p>
          <a:p>
            <a:pPr algn="l">
              <a:lnSpc>
                <a:spcPts val="3156"/>
              </a:lnSpc>
            </a:pPr>
          </a:p>
          <a:p>
            <a:pPr algn="l">
              <a:lnSpc>
                <a:spcPts val="3156"/>
              </a:lnSpc>
            </a:pPr>
            <a:r>
              <a:rPr lang="en-US" sz="2254" b="true">
                <a:solidFill>
                  <a:srgbClr val="FF3131"/>
                </a:solidFill>
                <a:latin typeface="DM Sans Bold"/>
                <a:ea typeface="DM Sans Bold"/>
                <a:cs typeface="DM Sans Bold"/>
                <a:sym typeface="DM Sans Bold"/>
              </a:rPr>
              <a:t>5. Amber nodes are the only fallback/warning signals </a:t>
            </a:r>
            <a:r>
              <a:rPr lang="en-US" sz="2254" b="true">
                <a:solidFill>
                  <a:srgbClr val="000000"/>
                </a:solidFill>
                <a:latin typeface="DM Sans Bold"/>
                <a:ea typeface="DM Sans Bold"/>
                <a:cs typeface="DM Sans Bold"/>
                <a:sym typeface="DM Sans Bold"/>
              </a:rPr>
              <a:t>— Weak watermark and Verifier (score ≥ 0.5) are the only two places the system can flag degraded confidence, making failure modes explicit and auditable.</a:t>
            </a:r>
          </a:p>
          <a:p>
            <a:pPr algn="l">
              <a:lnSpc>
                <a:spcPts val="3156"/>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DF3F6"/>
        </a:solidFill>
      </p:bgPr>
    </p:bg>
    <p:spTree>
      <p:nvGrpSpPr>
        <p:cNvPr id="1" name=""/>
        <p:cNvGrpSpPr/>
        <p:nvPr/>
      </p:nvGrpSpPr>
      <p:grpSpPr>
        <a:xfrm>
          <a:off x="0" y="0"/>
          <a:ext cx="0" cy="0"/>
          <a:chOff x="0" y="0"/>
          <a:chExt cx="0" cy="0"/>
        </a:xfrm>
      </p:grpSpPr>
      <p:sp>
        <p:nvSpPr>
          <p:cNvPr name="Freeform 2" id="2"/>
          <p:cNvSpPr/>
          <p:nvPr/>
        </p:nvSpPr>
        <p:spPr>
          <a:xfrm flipH="false" flipV="false" rot="0">
            <a:off x="1547608" y="899405"/>
            <a:ext cx="14356850" cy="8933151"/>
          </a:xfrm>
          <a:custGeom>
            <a:avLst/>
            <a:gdLst/>
            <a:ahLst/>
            <a:cxnLst/>
            <a:rect r="r" b="b" t="t" l="l"/>
            <a:pathLst>
              <a:path h="8933151" w="14356850">
                <a:moveTo>
                  <a:pt x="0" y="0"/>
                </a:moveTo>
                <a:lnTo>
                  <a:pt x="14356850" y="0"/>
                </a:lnTo>
                <a:lnTo>
                  <a:pt x="14356850" y="8933152"/>
                </a:lnTo>
                <a:lnTo>
                  <a:pt x="0" y="8933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DF3F6"/>
        </a:solidFill>
      </p:bgPr>
    </p:bg>
    <p:spTree>
      <p:nvGrpSpPr>
        <p:cNvPr id="1" name=""/>
        <p:cNvGrpSpPr/>
        <p:nvPr/>
      </p:nvGrpSpPr>
      <p:grpSpPr>
        <a:xfrm>
          <a:off x="0" y="0"/>
          <a:ext cx="0" cy="0"/>
          <a:chOff x="0" y="0"/>
          <a:chExt cx="0" cy="0"/>
        </a:xfrm>
      </p:grpSpPr>
      <p:sp>
        <p:nvSpPr>
          <p:cNvPr name="Freeform 2" id="2"/>
          <p:cNvSpPr/>
          <p:nvPr/>
        </p:nvSpPr>
        <p:spPr>
          <a:xfrm flipH="false" flipV="false" rot="0">
            <a:off x="12460389" y="2916315"/>
            <a:ext cx="4930585" cy="564776"/>
          </a:xfrm>
          <a:custGeom>
            <a:avLst/>
            <a:gdLst/>
            <a:ahLst/>
            <a:cxnLst/>
            <a:rect r="r" b="b" t="t" l="l"/>
            <a:pathLst>
              <a:path h="564776" w="4930585">
                <a:moveTo>
                  <a:pt x="0" y="0"/>
                </a:moveTo>
                <a:lnTo>
                  <a:pt x="4930585" y="0"/>
                </a:lnTo>
                <a:lnTo>
                  <a:pt x="4930585" y="564776"/>
                </a:lnTo>
                <a:lnTo>
                  <a:pt x="0" y="564776"/>
                </a:lnTo>
                <a:lnTo>
                  <a:pt x="0" y="0"/>
                </a:lnTo>
                <a:close/>
              </a:path>
            </a:pathLst>
          </a:custGeom>
          <a:blipFill>
            <a:blip r:embed="rId2">
              <a:alphaModFix amt="54000"/>
            </a:blip>
            <a:stretch>
              <a:fillRect l="0" t="0" r="0" b="0"/>
            </a:stretch>
          </a:blipFill>
        </p:spPr>
      </p:sp>
      <p:sp>
        <p:nvSpPr>
          <p:cNvPr name="Freeform 3" id="3"/>
          <p:cNvSpPr/>
          <p:nvPr/>
        </p:nvSpPr>
        <p:spPr>
          <a:xfrm flipH="false" flipV="false" rot="0">
            <a:off x="12460389" y="4420366"/>
            <a:ext cx="4930585" cy="564776"/>
          </a:xfrm>
          <a:custGeom>
            <a:avLst/>
            <a:gdLst/>
            <a:ahLst/>
            <a:cxnLst/>
            <a:rect r="r" b="b" t="t" l="l"/>
            <a:pathLst>
              <a:path h="564776" w="4930585">
                <a:moveTo>
                  <a:pt x="0" y="0"/>
                </a:moveTo>
                <a:lnTo>
                  <a:pt x="4930585" y="0"/>
                </a:lnTo>
                <a:lnTo>
                  <a:pt x="4930585" y="564776"/>
                </a:lnTo>
                <a:lnTo>
                  <a:pt x="0" y="564776"/>
                </a:lnTo>
                <a:lnTo>
                  <a:pt x="0" y="0"/>
                </a:lnTo>
                <a:close/>
              </a:path>
            </a:pathLst>
          </a:custGeom>
          <a:blipFill>
            <a:blip r:embed="rId2">
              <a:alphaModFix amt="54000"/>
            </a:blip>
            <a:stretch>
              <a:fillRect l="0" t="0" r="0" b="0"/>
            </a:stretch>
          </a:blipFill>
        </p:spPr>
      </p:sp>
      <p:sp>
        <p:nvSpPr>
          <p:cNvPr name="Freeform 4" id="4"/>
          <p:cNvSpPr/>
          <p:nvPr/>
        </p:nvSpPr>
        <p:spPr>
          <a:xfrm flipH="false" flipV="false" rot="0">
            <a:off x="12460389" y="5921260"/>
            <a:ext cx="4930585" cy="564776"/>
          </a:xfrm>
          <a:custGeom>
            <a:avLst/>
            <a:gdLst/>
            <a:ahLst/>
            <a:cxnLst/>
            <a:rect r="r" b="b" t="t" l="l"/>
            <a:pathLst>
              <a:path h="564776" w="4930585">
                <a:moveTo>
                  <a:pt x="0" y="0"/>
                </a:moveTo>
                <a:lnTo>
                  <a:pt x="4930585" y="0"/>
                </a:lnTo>
                <a:lnTo>
                  <a:pt x="4930585" y="564776"/>
                </a:lnTo>
                <a:lnTo>
                  <a:pt x="0" y="564776"/>
                </a:lnTo>
                <a:lnTo>
                  <a:pt x="0" y="0"/>
                </a:lnTo>
                <a:close/>
              </a:path>
            </a:pathLst>
          </a:custGeom>
          <a:blipFill>
            <a:blip r:embed="rId2">
              <a:alphaModFix amt="54000"/>
            </a:blip>
            <a:stretch>
              <a:fillRect l="0" t="0" r="0" b="0"/>
            </a:stretch>
          </a:blipFill>
        </p:spPr>
      </p:sp>
      <p:sp>
        <p:nvSpPr>
          <p:cNvPr name="Freeform 5" id="5"/>
          <p:cNvSpPr/>
          <p:nvPr/>
        </p:nvSpPr>
        <p:spPr>
          <a:xfrm flipH="false" flipV="false" rot="0">
            <a:off x="12460389" y="7424182"/>
            <a:ext cx="4930585" cy="564776"/>
          </a:xfrm>
          <a:custGeom>
            <a:avLst/>
            <a:gdLst/>
            <a:ahLst/>
            <a:cxnLst/>
            <a:rect r="r" b="b" t="t" l="l"/>
            <a:pathLst>
              <a:path h="564776" w="4930585">
                <a:moveTo>
                  <a:pt x="0" y="0"/>
                </a:moveTo>
                <a:lnTo>
                  <a:pt x="4930585" y="0"/>
                </a:lnTo>
                <a:lnTo>
                  <a:pt x="4930585" y="564776"/>
                </a:lnTo>
                <a:lnTo>
                  <a:pt x="0" y="564776"/>
                </a:lnTo>
                <a:lnTo>
                  <a:pt x="0" y="0"/>
                </a:lnTo>
                <a:close/>
              </a:path>
            </a:pathLst>
          </a:custGeom>
          <a:blipFill>
            <a:blip r:embed="rId2">
              <a:alphaModFix amt="54000"/>
            </a:blip>
            <a:stretch>
              <a:fillRect l="0" t="0" r="0" b="0"/>
            </a:stretch>
          </a:blipFill>
        </p:spPr>
      </p:sp>
      <p:sp>
        <p:nvSpPr>
          <p:cNvPr name="Freeform 6" id="6"/>
          <p:cNvSpPr/>
          <p:nvPr/>
        </p:nvSpPr>
        <p:spPr>
          <a:xfrm flipH="false" flipV="false" rot="0">
            <a:off x="12460389" y="8978929"/>
            <a:ext cx="4930585" cy="564776"/>
          </a:xfrm>
          <a:custGeom>
            <a:avLst/>
            <a:gdLst/>
            <a:ahLst/>
            <a:cxnLst/>
            <a:rect r="r" b="b" t="t" l="l"/>
            <a:pathLst>
              <a:path h="564776" w="4930585">
                <a:moveTo>
                  <a:pt x="0" y="0"/>
                </a:moveTo>
                <a:lnTo>
                  <a:pt x="4930585" y="0"/>
                </a:lnTo>
                <a:lnTo>
                  <a:pt x="4930585" y="564776"/>
                </a:lnTo>
                <a:lnTo>
                  <a:pt x="0" y="564776"/>
                </a:lnTo>
                <a:lnTo>
                  <a:pt x="0" y="0"/>
                </a:lnTo>
                <a:close/>
              </a:path>
            </a:pathLst>
          </a:custGeom>
          <a:blipFill>
            <a:blip r:embed="rId2">
              <a:alphaModFix amt="54000"/>
            </a:blip>
            <a:stretch>
              <a:fillRect l="0" t="0" r="0" b="0"/>
            </a:stretch>
          </a:blipFill>
        </p:spPr>
      </p:sp>
      <p:grpSp>
        <p:nvGrpSpPr>
          <p:cNvPr name="Group 7" id="7"/>
          <p:cNvGrpSpPr/>
          <p:nvPr/>
        </p:nvGrpSpPr>
        <p:grpSpPr>
          <a:xfrm rot="0">
            <a:off x="12460389" y="2137410"/>
            <a:ext cx="4930585" cy="1164072"/>
            <a:chOff x="0" y="0"/>
            <a:chExt cx="1298590" cy="306587"/>
          </a:xfrm>
        </p:grpSpPr>
        <p:sp>
          <p:nvSpPr>
            <p:cNvPr name="Freeform 8" id="8"/>
            <p:cNvSpPr/>
            <p:nvPr/>
          </p:nvSpPr>
          <p:spPr>
            <a:xfrm flipH="false" flipV="false" rot="0">
              <a:off x="0" y="0"/>
              <a:ext cx="1298590" cy="306587"/>
            </a:xfrm>
            <a:custGeom>
              <a:avLst/>
              <a:gdLst/>
              <a:ahLst/>
              <a:cxnLst/>
              <a:rect r="r" b="b" t="t" l="l"/>
              <a:pathLst>
                <a:path h="306587" w="1298590">
                  <a:moveTo>
                    <a:pt x="29833" y="0"/>
                  </a:moveTo>
                  <a:lnTo>
                    <a:pt x="1268757" y="0"/>
                  </a:lnTo>
                  <a:cubicBezTo>
                    <a:pt x="1285233" y="0"/>
                    <a:pt x="1298590" y="13357"/>
                    <a:pt x="1298590" y="29833"/>
                  </a:cubicBezTo>
                  <a:lnTo>
                    <a:pt x="1298590" y="276753"/>
                  </a:lnTo>
                  <a:cubicBezTo>
                    <a:pt x="1298590" y="284666"/>
                    <a:pt x="1295447" y="292254"/>
                    <a:pt x="1289852" y="297849"/>
                  </a:cubicBezTo>
                  <a:cubicBezTo>
                    <a:pt x="1284258" y="303444"/>
                    <a:pt x="1276669" y="306587"/>
                    <a:pt x="1268757" y="306587"/>
                  </a:cubicBezTo>
                  <a:lnTo>
                    <a:pt x="29833" y="306587"/>
                  </a:lnTo>
                  <a:cubicBezTo>
                    <a:pt x="21921" y="306587"/>
                    <a:pt x="14333" y="303444"/>
                    <a:pt x="8738" y="297849"/>
                  </a:cubicBezTo>
                  <a:cubicBezTo>
                    <a:pt x="3143" y="292254"/>
                    <a:pt x="0" y="284666"/>
                    <a:pt x="0" y="276753"/>
                  </a:cubicBezTo>
                  <a:lnTo>
                    <a:pt x="0" y="29833"/>
                  </a:lnTo>
                  <a:cubicBezTo>
                    <a:pt x="0" y="21921"/>
                    <a:pt x="3143" y="14333"/>
                    <a:pt x="8738" y="8738"/>
                  </a:cubicBezTo>
                  <a:cubicBezTo>
                    <a:pt x="14333" y="3143"/>
                    <a:pt x="21921" y="0"/>
                    <a:pt x="29833" y="0"/>
                  </a:cubicBezTo>
                  <a:close/>
                </a:path>
              </a:pathLst>
            </a:custGeom>
            <a:solidFill>
              <a:srgbClr val="FFFFFF"/>
            </a:solidFill>
          </p:spPr>
        </p:sp>
        <p:sp>
          <p:nvSpPr>
            <p:cNvPr name="TextBox 9" id="9"/>
            <p:cNvSpPr txBox="true"/>
            <p:nvPr/>
          </p:nvSpPr>
          <p:spPr>
            <a:xfrm>
              <a:off x="0" y="-38100"/>
              <a:ext cx="1298590" cy="344687"/>
            </a:xfrm>
            <a:prstGeom prst="rect">
              <a:avLst/>
            </a:prstGeom>
          </p:spPr>
          <p:txBody>
            <a:bodyPr anchor="ctr" rtlCol="false" tIns="50800" lIns="50800" bIns="50800" rIns="50800"/>
            <a:lstStyle/>
            <a:p>
              <a:pPr algn="ctr">
                <a:lnSpc>
                  <a:spcPts val="2520"/>
                </a:lnSpc>
              </a:pPr>
            </a:p>
          </p:txBody>
        </p:sp>
      </p:grpSp>
      <p:sp>
        <p:nvSpPr>
          <p:cNvPr name="Freeform 10" id="10"/>
          <p:cNvSpPr/>
          <p:nvPr/>
        </p:nvSpPr>
        <p:spPr>
          <a:xfrm flipH="false" flipV="false" rot="0">
            <a:off x="7460103" y="2916315"/>
            <a:ext cx="4750701" cy="544171"/>
          </a:xfrm>
          <a:custGeom>
            <a:avLst/>
            <a:gdLst/>
            <a:ahLst/>
            <a:cxnLst/>
            <a:rect r="r" b="b" t="t" l="l"/>
            <a:pathLst>
              <a:path h="544171" w="4750701">
                <a:moveTo>
                  <a:pt x="0" y="0"/>
                </a:moveTo>
                <a:lnTo>
                  <a:pt x="4750701" y="0"/>
                </a:lnTo>
                <a:lnTo>
                  <a:pt x="4750701" y="544171"/>
                </a:lnTo>
                <a:lnTo>
                  <a:pt x="0" y="544171"/>
                </a:lnTo>
                <a:lnTo>
                  <a:pt x="0" y="0"/>
                </a:lnTo>
                <a:close/>
              </a:path>
            </a:pathLst>
          </a:custGeom>
          <a:blipFill>
            <a:blip r:embed="rId2">
              <a:alphaModFix amt="28000"/>
            </a:blip>
            <a:stretch>
              <a:fillRect l="0" t="0" r="0" b="0"/>
            </a:stretch>
          </a:blipFill>
        </p:spPr>
      </p:sp>
      <p:sp>
        <p:nvSpPr>
          <p:cNvPr name="Freeform 11" id="11"/>
          <p:cNvSpPr/>
          <p:nvPr/>
        </p:nvSpPr>
        <p:spPr>
          <a:xfrm flipH="false" flipV="false" rot="0">
            <a:off x="7460103" y="4418461"/>
            <a:ext cx="4750701" cy="544171"/>
          </a:xfrm>
          <a:custGeom>
            <a:avLst/>
            <a:gdLst/>
            <a:ahLst/>
            <a:cxnLst/>
            <a:rect r="r" b="b" t="t" l="l"/>
            <a:pathLst>
              <a:path h="544171" w="4750701">
                <a:moveTo>
                  <a:pt x="0" y="0"/>
                </a:moveTo>
                <a:lnTo>
                  <a:pt x="4750701" y="0"/>
                </a:lnTo>
                <a:lnTo>
                  <a:pt x="4750701" y="544171"/>
                </a:lnTo>
                <a:lnTo>
                  <a:pt x="0" y="544171"/>
                </a:lnTo>
                <a:lnTo>
                  <a:pt x="0" y="0"/>
                </a:lnTo>
                <a:close/>
              </a:path>
            </a:pathLst>
          </a:custGeom>
          <a:blipFill>
            <a:blip r:embed="rId2">
              <a:alphaModFix amt="28000"/>
            </a:blip>
            <a:stretch>
              <a:fillRect l="0" t="0" r="0" b="0"/>
            </a:stretch>
          </a:blipFill>
        </p:spPr>
      </p:sp>
      <p:sp>
        <p:nvSpPr>
          <p:cNvPr name="Freeform 12" id="12"/>
          <p:cNvSpPr/>
          <p:nvPr/>
        </p:nvSpPr>
        <p:spPr>
          <a:xfrm flipH="false" flipV="false" rot="0">
            <a:off x="7460103" y="5920606"/>
            <a:ext cx="4750701" cy="544171"/>
          </a:xfrm>
          <a:custGeom>
            <a:avLst/>
            <a:gdLst/>
            <a:ahLst/>
            <a:cxnLst/>
            <a:rect r="r" b="b" t="t" l="l"/>
            <a:pathLst>
              <a:path h="544171" w="4750701">
                <a:moveTo>
                  <a:pt x="0" y="0"/>
                </a:moveTo>
                <a:lnTo>
                  <a:pt x="4750701" y="0"/>
                </a:lnTo>
                <a:lnTo>
                  <a:pt x="4750701" y="544171"/>
                </a:lnTo>
                <a:lnTo>
                  <a:pt x="0" y="544171"/>
                </a:lnTo>
                <a:lnTo>
                  <a:pt x="0" y="0"/>
                </a:lnTo>
                <a:close/>
              </a:path>
            </a:pathLst>
          </a:custGeom>
          <a:blipFill>
            <a:blip r:embed="rId2">
              <a:alphaModFix amt="28000"/>
            </a:blip>
            <a:stretch>
              <a:fillRect l="0" t="0" r="0" b="0"/>
            </a:stretch>
          </a:blipFill>
        </p:spPr>
      </p:sp>
      <p:sp>
        <p:nvSpPr>
          <p:cNvPr name="Freeform 13" id="13"/>
          <p:cNvSpPr/>
          <p:nvPr/>
        </p:nvSpPr>
        <p:spPr>
          <a:xfrm flipH="false" flipV="false" rot="0">
            <a:off x="7460103" y="7422752"/>
            <a:ext cx="4750701" cy="544171"/>
          </a:xfrm>
          <a:custGeom>
            <a:avLst/>
            <a:gdLst/>
            <a:ahLst/>
            <a:cxnLst/>
            <a:rect r="r" b="b" t="t" l="l"/>
            <a:pathLst>
              <a:path h="544171" w="4750701">
                <a:moveTo>
                  <a:pt x="0" y="0"/>
                </a:moveTo>
                <a:lnTo>
                  <a:pt x="4750701" y="0"/>
                </a:lnTo>
                <a:lnTo>
                  <a:pt x="4750701" y="544171"/>
                </a:lnTo>
                <a:lnTo>
                  <a:pt x="0" y="544171"/>
                </a:lnTo>
                <a:lnTo>
                  <a:pt x="0" y="0"/>
                </a:lnTo>
                <a:close/>
              </a:path>
            </a:pathLst>
          </a:custGeom>
          <a:blipFill>
            <a:blip r:embed="rId2">
              <a:alphaModFix amt="28000"/>
            </a:blip>
            <a:stretch>
              <a:fillRect l="0" t="0" r="0" b="0"/>
            </a:stretch>
          </a:blipFill>
        </p:spPr>
      </p:sp>
      <p:sp>
        <p:nvSpPr>
          <p:cNvPr name="Freeform 14" id="14"/>
          <p:cNvSpPr/>
          <p:nvPr/>
        </p:nvSpPr>
        <p:spPr>
          <a:xfrm flipH="false" flipV="false" rot="0">
            <a:off x="7460103" y="8924898"/>
            <a:ext cx="4750701" cy="544171"/>
          </a:xfrm>
          <a:custGeom>
            <a:avLst/>
            <a:gdLst/>
            <a:ahLst/>
            <a:cxnLst/>
            <a:rect r="r" b="b" t="t" l="l"/>
            <a:pathLst>
              <a:path h="544171" w="4750701">
                <a:moveTo>
                  <a:pt x="0" y="0"/>
                </a:moveTo>
                <a:lnTo>
                  <a:pt x="4750701" y="0"/>
                </a:lnTo>
                <a:lnTo>
                  <a:pt x="4750701" y="544171"/>
                </a:lnTo>
                <a:lnTo>
                  <a:pt x="0" y="544171"/>
                </a:lnTo>
                <a:lnTo>
                  <a:pt x="0" y="0"/>
                </a:lnTo>
                <a:close/>
              </a:path>
            </a:pathLst>
          </a:custGeom>
          <a:blipFill>
            <a:blip r:embed="rId2">
              <a:alphaModFix amt="28000"/>
            </a:blip>
            <a:stretch>
              <a:fillRect l="0" t="0" r="0" b="0"/>
            </a:stretch>
          </a:blipFill>
        </p:spPr>
      </p:sp>
      <p:sp>
        <p:nvSpPr>
          <p:cNvPr name="Freeform 15" id="15"/>
          <p:cNvSpPr/>
          <p:nvPr/>
        </p:nvSpPr>
        <p:spPr>
          <a:xfrm flipH="false" flipV="false" rot="0">
            <a:off x="6962940" y="2137410"/>
            <a:ext cx="5247864" cy="1164072"/>
          </a:xfrm>
          <a:custGeom>
            <a:avLst/>
            <a:gdLst/>
            <a:ahLst/>
            <a:cxnLst/>
            <a:rect r="r" b="b" t="t" l="l"/>
            <a:pathLst>
              <a:path h="1164072" w="5247864">
                <a:moveTo>
                  <a:pt x="0" y="0"/>
                </a:moveTo>
                <a:lnTo>
                  <a:pt x="5247864" y="0"/>
                </a:lnTo>
                <a:lnTo>
                  <a:pt x="5247864" y="1164072"/>
                </a:lnTo>
                <a:lnTo>
                  <a:pt x="0" y="11640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16" id="16"/>
          <p:cNvSpPr/>
          <p:nvPr/>
        </p:nvSpPr>
        <p:spPr>
          <a:xfrm>
            <a:off x="11949728" y="2719446"/>
            <a:ext cx="771736" cy="0"/>
          </a:xfrm>
          <a:prstGeom prst="line">
            <a:avLst/>
          </a:prstGeom>
          <a:ln cap="flat" w="38100">
            <a:solidFill>
              <a:srgbClr val="7678ED"/>
            </a:solidFill>
            <a:prstDash val="solid"/>
            <a:headEnd type="oval" len="lg" w="lg"/>
            <a:tailEnd type="oval" len="lg" w="lg"/>
          </a:ln>
        </p:spPr>
      </p:sp>
      <p:grpSp>
        <p:nvGrpSpPr>
          <p:cNvPr name="Group 17" id="17"/>
          <p:cNvGrpSpPr/>
          <p:nvPr/>
        </p:nvGrpSpPr>
        <p:grpSpPr>
          <a:xfrm rot="0">
            <a:off x="12460389" y="3638305"/>
            <a:ext cx="4930585" cy="1164072"/>
            <a:chOff x="0" y="0"/>
            <a:chExt cx="1298590" cy="306587"/>
          </a:xfrm>
        </p:grpSpPr>
        <p:sp>
          <p:nvSpPr>
            <p:cNvPr name="Freeform 18" id="18"/>
            <p:cNvSpPr/>
            <p:nvPr/>
          </p:nvSpPr>
          <p:spPr>
            <a:xfrm flipH="false" flipV="false" rot="0">
              <a:off x="0" y="0"/>
              <a:ext cx="1298590" cy="306587"/>
            </a:xfrm>
            <a:custGeom>
              <a:avLst/>
              <a:gdLst/>
              <a:ahLst/>
              <a:cxnLst/>
              <a:rect r="r" b="b" t="t" l="l"/>
              <a:pathLst>
                <a:path h="306587" w="1298590">
                  <a:moveTo>
                    <a:pt x="29833" y="0"/>
                  </a:moveTo>
                  <a:lnTo>
                    <a:pt x="1268757" y="0"/>
                  </a:lnTo>
                  <a:cubicBezTo>
                    <a:pt x="1285233" y="0"/>
                    <a:pt x="1298590" y="13357"/>
                    <a:pt x="1298590" y="29833"/>
                  </a:cubicBezTo>
                  <a:lnTo>
                    <a:pt x="1298590" y="276753"/>
                  </a:lnTo>
                  <a:cubicBezTo>
                    <a:pt x="1298590" y="284666"/>
                    <a:pt x="1295447" y="292254"/>
                    <a:pt x="1289852" y="297849"/>
                  </a:cubicBezTo>
                  <a:cubicBezTo>
                    <a:pt x="1284258" y="303444"/>
                    <a:pt x="1276669" y="306587"/>
                    <a:pt x="1268757" y="306587"/>
                  </a:cubicBezTo>
                  <a:lnTo>
                    <a:pt x="29833" y="306587"/>
                  </a:lnTo>
                  <a:cubicBezTo>
                    <a:pt x="21921" y="306587"/>
                    <a:pt x="14333" y="303444"/>
                    <a:pt x="8738" y="297849"/>
                  </a:cubicBezTo>
                  <a:cubicBezTo>
                    <a:pt x="3143" y="292254"/>
                    <a:pt x="0" y="284666"/>
                    <a:pt x="0" y="276753"/>
                  </a:cubicBezTo>
                  <a:lnTo>
                    <a:pt x="0" y="29833"/>
                  </a:lnTo>
                  <a:cubicBezTo>
                    <a:pt x="0" y="21921"/>
                    <a:pt x="3143" y="14333"/>
                    <a:pt x="8738" y="8738"/>
                  </a:cubicBezTo>
                  <a:cubicBezTo>
                    <a:pt x="14333" y="3143"/>
                    <a:pt x="21921" y="0"/>
                    <a:pt x="29833" y="0"/>
                  </a:cubicBezTo>
                  <a:close/>
                </a:path>
              </a:pathLst>
            </a:custGeom>
            <a:solidFill>
              <a:srgbClr val="FFFFFF"/>
            </a:solidFill>
          </p:spPr>
        </p:sp>
        <p:sp>
          <p:nvSpPr>
            <p:cNvPr name="TextBox 19" id="19"/>
            <p:cNvSpPr txBox="true"/>
            <p:nvPr/>
          </p:nvSpPr>
          <p:spPr>
            <a:xfrm>
              <a:off x="0" y="-38100"/>
              <a:ext cx="1298590" cy="344687"/>
            </a:xfrm>
            <a:prstGeom prst="rect">
              <a:avLst/>
            </a:prstGeom>
          </p:spPr>
          <p:txBody>
            <a:bodyPr anchor="ctr" rtlCol="false" tIns="50800" lIns="50800" bIns="50800" rIns="50800"/>
            <a:lstStyle/>
            <a:p>
              <a:pPr algn="ctr">
                <a:lnSpc>
                  <a:spcPts val="2520"/>
                </a:lnSpc>
              </a:pPr>
            </a:p>
          </p:txBody>
        </p:sp>
      </p:grpSp>
      <p:sp>
        <p:nvSpPr>
          <p:cNvPr name="Freeform 20" id="20"/>
          <p:cNvSpPr/>
          <p:nvPr/>
        </p:nvSpPr>
        <p:spPr>
          <a:xfrm flipH="false" flipV="false" rot="0">
            <a:off x="6962940" y="3638305"/>
            <a:ext cx="5247864" cy="1164072"/>
          </a:xfrm>
          <a:custGeom>
            <a:avLst/>
            <a:gdLst/>
            <a:ahLst/>
            <a:cxnLst/>
            <a:rect r="r" b="b" t="t" l="l"/>
            <a:pathLst>
              <a:path h="1164072" w="5247864">
                <a:moveTo>
                  <a:pt x="0" y="0"/>
                </a:moveTo>
                <a:lnTo>
                  <a:pt x="5247864" y="0"/>
                </a:lnTo>
                <a:lnTo>
                  <a:pt x="5247864" y="1164071"/>
                </a:lnTo>
                <a:lnTo>
                  <a:pt x="0" y="11640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21" id="21"/>
          <p:cNvSpPr/>
          <p:nvPr/>
        </p:nvSpPr>
        <p:spPr>
          <a:xfrm>
            <a:off x="11949728" y="4220341"/>
            <a:ext cx="771736" cy="0"/>
          </a:xfrm>
          <a:prstGeom prst="line">
            <a:avLst/>
          </a:prstGeom>
          <a:ln cap="flat" w="38100">
            <a:solidFill>
              <a:srgbClr val="538EFA"/>
            </a:solidFill>
            <a:prstDash val="solid"/>
            <a:headEnd type="oval" len="lg" w="lg"/>
            <a:tailEnd type="oval" len="lg" w="lg"/>
          </a:ln>
        </p:spPr>
      </p:sp>
      <p:grpSp>
        <p:nvGrpSpPr>
          <p:cNvPr name="Group 22" id="22"/>
          <p:cNvGrpSpPr/>
          <p:nvPr/>
        </p:nvGrpSpPr>
        <p:grpSpPr>
          <a:xfrm rot="0">
            <a:off x="12460389" y="5139199"/>
            <a:ext cx="4930585" cy="1164072"/>
            <a:chOff x="0" y="0"/>
            <a:chExt cx="1298590" cy="306587"/>
          </a:xfrm>
        </p:grpSpPr>
        <p:sp>
          <p:nvSpPr>
            <p:cNvPr name="Freeform 23" id="23"/>
            <p:cNvSpPr/>
            <p:nvPr/>
          </p:nvSpPr>
          <p:spPr>
            <a:xfrm flipH="false" flipV="false" rot="0">
              <a:off x="0" y="0"/>
              <a:ext cx="1298590" cy="306587"/>
            </a:xfrm>
            <a:custGeom>
              <a:avLst/>
              <a:gdLst/>
              <a:ahLst/>
              <a:cxnLst/>
              <a:rect r="r" b="b" t="t" l="l"/>
              <a:pathLst>
                <a:path h="306587" w="1298590">
                  <a:moveTo>
                    <a:pt x="29833" y="0"/>
                  </a:moveTo>
                  <a:lnTo>
                    <a:pt x="1268757" y="0"/>
                  </a:lnTo>
                  <a:cubicBezTo>
                    <a:pt x="1285233" y="0"/>
                    <a:pt x="1298590" y="13357"/>
                    <a:pt x="1298590" y="29833"/>
                  </a:cubicBezTo>
                  <a:lnTo>
                    <a:pt x="1298590" y="276753"/>
                  </a:lnTo>
                  <a:cubicBezTo>
                    <a:pt x="1298590" y="284666"/>
                    <a:pt x="1295447" y="292254"/>
                    <a:pt x="1289852" y="297849"/>
                  </a:cubicBezTo>
                  <a:cubicBezTo>
                    <a:pt x="1284258" y="303444"/>
                    <a:pt x="1276669" y="306587"/>
                    <a:pt x="1268757" y="306587"/>
                  </a:cubicBezTo>
                  <a:lnTo>
                    <a:pt x="29833" y="306587"/>
                  </a:lnTo>
                  <a:cubicBezTo>
                    <a:pt x="21921" y="306587"/>
                    <a:pt x="14333" y="303444"/>
                    <a:pt x="8738" y="297849"/>
                  </a:cubicBezTo>
                  <a:cubicBezTo>
                    <a:pt x="3143" y="292254"/>
                    <a:pt x="0" y="284666"/>
                    <a:pt x="0" y="276753"/>
                  </a:cubicBezTo>
                  <a:lnTo>
                    <a:pt x="0" y="29833"/>
                  </a:lnTo>
                  <a:cubicBezTo>
                    <a:pt x="0" y="21921"/>
                    <a:pt x="3143" y="14333"/>
                    <a:pt x="8738" y="8738"/>
                  </a:cubicBezTo>
                  <a:cubicBezTo>
                    <a:pt x="14333" y="3143"/>
                    <a:pt x="21921" y="0"/>
                    <a:pt x="29833" y="0"/>
                  </a:cubicBezTo>
                  <a:close/>
                </a:path>
              </a:pathLst>
            </a:custGeom>
            <a:solidFill>
              <a:srgbClr val="FFFFFF"/>
            </a:solidFill>
          </p:spPr>
        </p:sp>
        <p:sp>
          <p:nvSpPr>
            <p:cNvPr name="TextBox 24" id="24"/>
            <p:cNvSpPr txBox="true"/>
            <p:nvPr/>
          </p:nvSpPr>
          <p:spPr>
            <a:xfrm>
              <a:off x="0" y="-38100"/>
              <a:ext cx="1298590" cy="344687"/>
            </a:xfrm>
            <a:prstGeom prst="rect">
              <a:avLst/>
            </a:prstGeom>
          </p:spPr>
          <p:txBody>
            <a:bodyPr anchor="ctr" rtlCol="false" tIns="50800" lIns="50800" bIns="50800" rIns="50800"/>
            <a:lstStyle/>
            <a:p>
              <a:pPr algn="ctr">
                <a:lnSpc>
                  <a:spcPts val="2520"/>
                </a:lnSpc>
              </a:pPr>
            </a:p>
          </p:txBody>
        </p:sp>
      </p:grpSp>
      <p:sp>
        <p:nvSpPr>
          <p:cNvPr name="Freeform 25" id="25"/>
          <p:cNvSpPr/>
          <p:nvPr/>
        </p:nvSpPr>
        <p:spPr>
          <a:xfrm flipH="false" flipV="false" rot="0">
            <a:off x="6962940" y="5139199"/>
            <a:ext cx="5247864" cy="1164072"/>
          </a:xfrm>
          <a:custGeom>
            <a:avLst/>
            <a:gdLst/>
            <a:ahLst/>
            <a:cxnLst/>
            <a:rect r="r" b="b" t="t" l="l"/>
            <a:pathLst>
              <a:path h="1164072" w="5247864">
                <a:moveTo>
                  <a:pt x="0" y="0"/>
                </a:moveTo>
                <a:lnTo>
                  <a:pt x="5247864" y="0"/>
                </a:lnTo>
                <a:lnTo>
                  <a:pt x="5247864" y="1164072"/>
                </a:lnTo>
                <a:lnTo>
                  <a:pt x="0" y="116407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26" id="26"/>
          <p:cNvSpPr/>
          <p:nvPr/>
        </p:nvSpPr>
        <p:spPr>
          <a:xfrm>
            <a:off x="11949728" y="5721235"/>
            <a:ext cx="771736" cy="0"/>
          </a:xfrm>
          <a:prstGeom prst="line">
            <a:avLst/>
          </a:prstGeom>
          <a:ln cap="flat" w="38100">
            <a:solidFill>
              <a:srgbClr val="02B2E4"/>
            </a:solidFill>
            <a:prstDash val="solid"/>
            <a:headEnd type="oval" len="lg" w="lg"/>
            <a:tailEnd type="oval" len="lg" w="lg"/>
          </a:ln>
        </p:spPr>
      </p:sp>
      <p:grpSp>
        <p:nvGrpSpPr>
          <p:cNvPr name="Group 27" id="27"/>
          <p:cNvGrpSpPr/>
          <p:nvPr/>
        </p:nvGrpSpPr>
        <p:grpSpPr>
          <a:xfrm rot="0">
            <a:off x="12460389" y="6640094"/>
            <a:ext cx="4930585" cy="1164072"/>
            <a:chOff x="0" y="0"/>
            <a:chExt cx="1298590" cy="306587"/>
          </a:xfrm>
        </p:grpSpPr>
        <p:sp>
          <p:nvSpPr>
            <p:cNvPr name="Freeform 28" id="28"/>
            <p:cNvSpPr/>
            <p:nvPr/>
          </p:nvSpPr>
          <p:spPr>
            <a:xfrm flipH="false" flipV="false" rot="0">
              <a:off x="0" y="0"/>
              <a:ext cx="1298590" cy="306587"/>
            </a:xfrm>
            <a:custGeom>
              <a:avLst/>
              <a:gdLst/>
              <a:ahLst/>
              <a:cxnLst/>
              <a:rect r="r" b="b" t="t" l="l"/>
              <a:pathLst>
                <a:path h="306587" w="1298590">
                  <a:moveTo>
                    <a:pt x="29833" y="0"/>
                  </a:moveTo>
                  <a:lnTo>
                    <a:pt x="1268757" y="0"/>
                  </a:lnTo>
                  <a:cubicBezTo>
                    <a:pt x="1285233" y="0"/>
                    <a:pt x="1298590" y="13357"/>
                    <a:pt x="1298590" y="29833"/>
                  </a:cubicBezTo>
                  <a:lnTo>
                    <a:pt x="1298590" y="276753"/>
                  </a:lnTo>
                  <a:cubicBezTo>
                    <a:pt x="1298590" y="284666"/>
                    <a:pt x="1295447" y="292254"/>
                    <a:pt x="1289852" y="297849"/>
                  </a:cubicBezTo>
                  <a:cubicBezTo>
                    <a:pt x="1284258" y="303444"/>
                    <a:pt x="1276669" y="306587"/>
                    <a:pt x="1268757" y="306587"/>
                  </a:cubicBezTo>
                  <a:lnTo>
                    <a:pt x="29833" y="306587"/>
                  </a:lnTo>
                  <a:cubicBezTo>
                    <a:pt x="21921" y="306587"/>
                    <a:pt x="14333" y="303444"/>
                    <a:pt x="8738" y="297849"/>
                  </a:cubicBezTo>
                  <a:cubicBezTo>
                    <a:pt x="3143" y="292254"/>
                    <a:pt x="0" y="284666"/>
                    <a:pt x="0" y="276753"/>
                  </a:cubicBezTo>
                  <a:lnTo>
                    <a:pt x="0" y="29833"/>
                  </a:lnTo>
                  <a:cubicBezTo>
                    <a:pt x="0" y="21921"/>
                    <a:pt x="3143" y="14333"/>
                    <a:pt x="8738" y="8738"/>
                  </a:cubicBezTo>
                  <a:cubicBezTo>
                    <a:pt x="14333" y="3143"/>
                    <a:pt x="21921" y="0"/>
                    <a:pt x="29833" y="0"/>
                  </a:cubicBezTo>
                  <a:close/>
                </a:path>
              </a:pathLst>
            </a:custGeom>
            <a:solidFill>
              <a:srgbClr val="FFFFFF"/>
            </a:solidFill>
          </p:spPr>
        </p:sp>
        <p:sp>
          <p:nvSpPr>
            <p:cNvPr name="TextBox 29" id="29"/>
            <p:cNvSpPr txBox="true"/>
            <p:nvPr/>
          </p:nvSpPr>
          <p:spPr>
            <a:xfrm>
              <a:off x="0" y="-38100"/>
              <a:ext cx="1298590" cy="344687"/>
            </a:xfrm>
            <a:prstGeom prst="rect">
              <a:avLst/>
            </a:prstGeom>
          </p:spPr>
          <p:txBody>
            <a:bodyPr anchor="ctr" rtlCol="false" tIns="50800" lIns="50800" bIns="50800" rIns="50800"/>
            <a:lstStyle/>
            <a:p>
              <a:pPr algn="ctr">
                <a:lnSpc>
                  <a:spcPts val="2520"/>
                </a:lnSpc>
              </a:pPr>
            </a:p>
          </p:txBody>
        </p:sp>
      </p:grpSp>
      <p:sp>
        <p:nvSpPr>
          <p:cNvPr name="Freeform 30" id="30"/>
          <p:cNvSpPr/>
          <p:nvPr/>
        </p:nvSpPr>
        <p:spPr>
          <a:xfrm flipH="false" flipV="false" rot="0">
            <a:off x="6962940" y="6640094"/>
            <a:ext cx="5247864" cy="1164072"/>
          </a:xfrm>
          <a:custGeom>
            <a:avLst/>
            <a:gdLst/>
            <a:ahLst/>
            <a:cxnLst/>
            <a:rect r="r" b="b" t="t" l="l"/>
            <a:pathLst>
              <a:path h="1164072" w="5247864">
                <a:moveTo>
                  <a:pt x="0" y="0"/>
                </a:moveTo>
                <a:lnTo>
                  <a:pt x="5247864" y="0"/>
                </a:lnTo>
                <a:lnTo>
                  <a:pt x="5247864" y="1164071"/>
                </a:lnTo>
                <a:lnTo>
                  <a:pt x="0" y="116407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AutoShape 31" id="31"/>
          <p:cNvSpPr/>
          <p:nvPr/>
        </p:nvSpPr>
        <p:spPr>
          <a:xfrm>
            <a:off x="11949728" y="7222130"/>
            <a:ext cx="771736" cy="0"/>
          </a:xfrm>
          <a:prstGeom prst="line">
            <a:avLst/>
          </a:prstGeom>
          <a:ln cap="flat" w="38100">
            <a:solidFill>
              <a:srgbClr val="00CCBC"/>
            </a:solidFill>
            <a:prstDash val="solid"/>
            <a:headEnd type="oval" len="lg" w="lg"/>
            <a:tailEnd type="oval" len="lg" w="lg"/>
          </a:ln>
        </p:spPr>
      </p:sp>
      <p:grpSp>
        <p:nvGrpSpPr>
          <p:cNvPr name="Group 32" id="32"/>
          <p:cNvGrpSpPr/>
          <p:nvPr/>
        </p:nvGrpSpPr>
        <p:grpSpPr>
          <a:xfrm rot="0">
            <a:off x="12460389" y="8140988"/>
            <a:ext cx="4930585" cy="1164072"/>
            <a:chOff x="0" y="0"/>
            <a:chExt cx="1298590" cy="306587"/>
          </a:xfrm>
        </p:grpSpPr>
        <p:sp>
          <p:nvSpPr>
            <p:cNvPr name="Freeform 33" id="33"/>
            <p:cNvSpPr/>
            <p:nvPr/>
          </p:nvSpPr>
          <p:spPr>
            <a:xfrm flipH="false" flipV="false" rot="0">
              <a:off x="0" y="0"/>
              <a:ext cx="1298590" cy="306587"/>
            </a:xfrm>
            <a:custGeom>
              <a:avLst/>
              <a:gdLst/>
              <a:ahLst/>
              <a:cxnLst/>
              <a:rect r="r" b="b" t="t" l="l"/>
              <a:pathLst>
                <a:path h="306587" w="1298590">
                  <a:moveTo>
                    <a:pt x="29833" y="0"/>
                  </a:moveTo>
                  <a:lnTo>
                    <a:pt x="1268757" y="0"/>
                  </a:lnTo>
                  <a:cubicBezTo>
                    <a:pt x="1285233" y="0"/>
                    <a:pt x="1298590" y="13357"/>
                    <a:pt x="1298590" y="29833"/>
                  </a:cubicBezTo>
                  <a:lnTo>
                    <a:pt x="1298590" y="276753"/>
                  </a:lnTo>
                  <a:cubicBezTo>
                    <a:pt x="1298590" y="284666"/>
                    <a:pt x="1295447" y="292254"/>
                    <a:pt x="1289852" y="297849"/>
                  </a:cubicBezTo>
                  <a:cubicBezTo>
                    <a:pt x="1284258" y="303444"/>
                    <a:pt x="1276669" y="306587"/>
                    <a:pt x="1268757" y="306587"/>
                  </a:cubicBezTo>
                  <a:lnTo>
                    <a:pt x="29833" y="306587"/>
                  </a:lnTo>
                  <a:cubicBezTo>
                    <a:pt x="21921" y="306587"/>
                    <a:pt x="14333" y="303444"/>
                    <a:pt x="8738" y="297849"/>
                  </a:cubicBezTo>
                  <a:cubicBezTo>
                    <a:pt x="3143" y="292254"/>
                    <a:pt x="0" y="284666"/>
                    <a:pt x="0" y="276753"/>
                  </a:cubicBezTo>
                  <a:lnTo>
                    <a:pt x="0" y="29833"/>
                  </a:lnTo>
                  <a:cubicBezTo>
                    <a:pt x="0" y="21921"/>
                    <a:pt x="3143" y="14333"/>
                    <a:pt x="8738" y="8738"/>
                  </a:cubicBezTo>
                  <a:cubicBezTo>
                    <a:pt x="14333" y="3143"/>
                    <a:pt x="21921" y="0"/>
                    <a:pt x="29833" y="0"/>
                  </a:cubicBezTo>
                  <a:close/>
                </a:path>
              </a:pathLst>
            </a:custGeom>
            <a:solidFill>
              <a:srgbClr val="FFFFFF"/>
            </a:solidFill>
          </p:spPr>
        </p:sp>
        <p:sp>
          <p:nvSpPr>
            <p:cNvPr name="TextBox 34" id="34"/>
            <p:cNvSpPr txBox="true"/>
            <p:nvPr/>
          </p:nvSpPr>
          <p:spPr>
            <a:xfrm>
              <a:off x="0" y="-38100"/>
              <a:ext cx="1298590" cy="344687"/>
            </a:xfrm>
            <a:prstGeom prst="rect">
              <a:avLst/>
            </a:prstGeom>
          </p:spPr>
          <p:txBody>
            <a:bodyPr anchor="ctr" rtlCol="false" tIns="50800" lIns="50800" bIns="50800" rIns="50800"/>
            <a:lstStyle/>
            <a:p>
              <a:pPr algn="ctr">
                <a:lnSpc>
                  <a:spcPts val="2520"/>
                </a:lnSpc>
              </a:pPr>
            </a:p>
          </p:txBody>
        </p:sp>
      </p:grpSp>
      <p:sp>
        <p:nvSpPr>
          <p:cNvPr name="Freeform 35" id="35"/>
          <p:cNvSpPr/>
          <p:nvPr/>
        </p:nvSpPr>
        <p:spPr>
          <a:xfrm flipH="false" flipV="false" rot="0">
            <a:off x="6962940" y="8140988"/>
            <a:ext cx="5247864" cy="1164072"/>
          </a:xfrm>
          <a:custGeom>
            <a:avLst/>
            <a:gdLst/>
            <a:ahLst/>
            <a:cxnLst/>
            <a:rect r="r" b="b" t="t" l="l"/>
            <a:pathLst>
              <a:path h="1164072" w="5247864">
                <a:moveTo>
                  <a:pt x="0" y="0"/>
                </a:moveTo>
                <a:lnTo>
                  <a:pt x="5247864" y="0"/>
                </a:lnTo>
                <a:lnTo>
                  <a:pt x="5247864" y="1164072"/>
                </a:lnTo>
                <a:lnTo>
                  <a:pt x="0" y="116407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AutoShape 36" id="36"/>
          <p:cNvSpPr/>
          <p:nvPr/>
        </p:nvSpPr>
        <p:spPr>
          <a:xfrm>
            <a:off x="11949728" y="8723024"/>
            <a:ext cx="771736" cy="0"/>
          </a:xfrm>
          <a:prstGeom prst="line">
            <a:avLst/>
          </a:prstGeom>
          <a:ln cap="flat" w="38100">
            <a:solidFill>
              <a:srgbClr val="00D89D"/>
            </a:solidFill>
            <a:prstDash val="solid"/>
            <a:headEnd type="oval" len="lg" w="lg"/>
            <a:tailEnd type="oval" len="lg" w="lg"/>
          </a:ln>
        </p:spPr>
      </p:sp>
      <p:sp>
        <p:nvSpPr>
          <p:cNvPr name="AutoShape 37" id="37"/>
          <p:cNvSpPr/>
          <p:nvPr/>
        </p:nvSpPr>
        <p:spPr>
          <a:xfrm flipV="true">
            <a:off x="167576" y="2310122"/>
            <a:ext cx="5012928" cy="19050"/>
          </a:xfrm>
          <a:prstGeom prst="line">
            <a:avLst/>
          </a:prstGeom>
          <a:ln cap="flat" w="38100">
            <a:solidFill>
              <a:srgbClr val="E44650"/>
            </a:solidFill>
            <a:prstDash val="solid"/>
            <a:headEnd type="none" len="sm" w="sm"/>
            <a:tailEnd type="none" len="sm" w="sm"/>
          </a:ln>
        </p:spPr>
      </p:sp>
      <p:sp>
        <p:nvSpPr>
          <p:cNvPr name="Freeform 38" id="38"/>
          <p:cNvSpPr/>
          <p:nvPr/>
        </p:nvSpPr>
        <p:spPr>
          <a:xfrm flipH="false" flipV="false" rot="0">
            <a:off x="7264465" y="2391382"/>
            <a:ext cx="638234" cy="656128"/>
          </a:xfrm>
          <a:custGeom>
            <a:avLst/>
            <a:gdLst/>
            <a:ahLst/>
            <a:cxnLst/>
            <a:rect r="r" b="b" t="t" l="l"/>
            <a:pathLst>
              <a:path h="656128" w="638234">
                <a:moveTo>
                  <a:pt x="0" y="0"/>
                </a:moveTo>
                <a:lnTo>
                  <a:pt x="638233" y="0"/>
                </a:lnTo>
                <a:lnTo>
                  <a:pt x="638233" y="656128"/>
                </a:lnTo>
                <a:lnTo>
                  <a:pt x="0" y="65612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9" id="39"/>
          <p:cNvSpPr txBox="true"/>
          <p:nvPr/>
        </p:nvSpPr>
        <p:spPr>
          <a:xfrm rot="0">
            <a:off x="952500" y="1524000"/>
            <a:ext cx="4387089" cy="613410"/>
          </a:xfrm>
          <a:prstGeom prst="rect">
            <a:avLst/>
          </a:prstGeom>
        </p:spPr>
        <p:txBody>
          <a:bodyPr anchor="t" rtlCol="false" tIns="0" lIns="0" bIns="0" rIns="0">
            <a:spAutoFit/>
          </a:bodyPr>
          <a:lstStyle/>
          <a:p>
            <a:pPr algn="l">
              <a:lnSpc>
                <a:spcPts val="5039"/>
              </a:lnSpc>
              <a:spcBef>
                <a:spcPct val="0"/>
              </a:spcBef>
            </a:pPr>
            <a:r>
              <a:rPr lang="en-US" sz="3599" b="true">
                <a:solidFill>
                  <a:srgbClr val="000000"/>
                </a:solidFill>
                <a:latin typeface="DM Sans Bold"/>
                <a:ea typeface="DM Sans Bold"/>
                <a:cs typeface="DM Sans Bold"/>
                <a:sym typeface="DM Sans Bold"/>
              </a:rPr>
              <a:t>Acheivements</a:t>
            </a:r>
          </a:p>
        </p:txBody>
      </p:sp>
      <p:sp>
        <p:nvSpPr>
          <p:cNvPr name="TextBox 40" id="40"/>
          <p:cNvSpPr txBox="true"/>
          <p:nvPr/>
        </p:nvSpPr>
        <p:spPr>
          <a:xfrm rot="0">
            <a:off x="8299714" y="2510550"/>
            <a:ext cx="3115606"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000000"/>
                </a:solidFill>
                <a:latin typeface="DM Sans Bold"/>
                <a:ea typeface="DM Sans Bold"/>
                <a:cs typeface="DM Sans Bold"/>
                <a:sym typeface="DM Sans Bold"/>
              </a:rPr>
              <a:t>Role Based Access</a:t>
            </a:r>
          </a:p>
        </p:txBody>
      </p:sp>
      <p:sp>
        <p:nvSpPr>
          <p:cNvPr name="TextBox 41" id="41"/>
          <p:cNvSpPr txBox="true"/>
          <p:nvPr/>
        </p:nvSpPr>
        <p:spPr>
          <a:xfrm rot="0">
            <a:off x="12987005" y="2425441"/>
            <a:ext cx="3877354" cy="549910"/>
          </a:xfrm>
          <a:prstGeom prst="rect">
            <a:avLst/>
          </a:prstGeom>
        </p:spPr>
        <p:txBody>
          <a:bodyPr anchor="t" rtlCol="false" tIns="0" lIns="0" bIns="0" rIns="0">
            <a:spAutoFit/>
          </a:bodyPr>
          <a:lstStyle/>
          <a:p>
            <a:pPr algn="l" marL="0" indent="0" lvl="0">
              <a:lnSpc>
                <a:spcPts val="2239"/>
              </a:lnSpc>
              <a:spcBef>
                <a:spcPct val="0"/>
              </a:spcBef>
            </a:pPr>
            <a:r>
              <a:rPr lang="en-US" sz="1599">
                <a:solidFill>
                  <a:srgbClr val="000000"/>
                </a:solidFill>
                <a:latin typeface="DM Sans"/>
                <a:ea typeface="DM Sans"/>
                <a:cs typeface="DM Sans"/>
                <a:sym typeface="DM Sans"/>
              </a:rPr>
              <a:t>Role based manangement for Admin, Customer , Provider and Organization</a:t>
            </a:r>
          </a:p>
        </p:txBody>
      </p:sp>
      <p:sp>
        <p:nvSpPr>
          <p:cNvPr name="TextBox 42" id="42"/>
          <p:cNvSpPr txBox="true"/>
          <p:nvPr/>
        </p:nvSpPr>
        <p:spPr>
          <a:xfrm rot="0">
            <a:off x="8334060" y="3809509"/>
            <a:ext cx="3315631" cy="8248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000000"/>
                </a:solidFill>
                <a:latin typeface="DM Sans Bold"/>
                <a:ea typeface="DM Sans Bold"/>
                <a:cs typeface="DM Sans Bold"/>
                <a:sym typeface="DM Sans Bold"/>
              </a:rPr>
              <a:t>RAG Based Chat Support</a:t>
            </a:r>
          </a:p>
        </p:txBody>
      </p:sp>
      <p:sp>
        <p:nvSpPr>
          <p:cNvPr name="TextBox 43" id="43"/>
          <p:cNvSpPr txBox="true"/>
          <p:nvPr/>
        </p:nvSpPr>
        <p:spPr>
          <a:xfrm rot="0">
            <a:off x="12987005" y="3808239"/>
            <a:ext cx="4142894" cy="1102360"/>
          </a:xfrm>
          <a:prstGeom prst="rect">
            <a:avLst/>
          </a:prstGeom>
        </p:spPr>
        <p:txBody>
          <a:bodyPr anchor="t" rtlCol="false" tIns="0" lIns="0" bIns="0" rIns="0">
            <a:spAutoFit/>
          </a:bodyPr>
          <a:lstStyle/>
          <a:p>
            <a:pPr algn="l" marL="0" indent="0" lvl="0">
              <a:lnSpc>
                <a:spcPts val="2239"/>
              </a:lnSpc>
              <a:spcBef>
                <a:spcPct val="0"/>
              </a:spcBef>
            </a:pPr>
            <a:r>
              <a:rPr lang="en-US" sz="1599" strike="noStrike" u="none">
                <a:solidFill>
                  <a:srgbClr val="000000"/>
                </a:solidFill>
                <a:latin typeface="DM Sans"/>
                <a:ea typeface="DM Sans"/>
                <a:cs typeface="DM Sans"/>
                <a:sym typeface="DM Sans"/>
              </a:rPr>
              <a:t> Provide accurate, context-aware responses using organization-specific knowledge and documents.</a:t>
            </a:r>
          </a:p>
          <a:p>
            <a:pPr algn="l" marL="0" indent="0" lvl="0">
              <a:lnSpc>
                <a:spcPts val="2239"/>
              </a:lnSpc>
              <a:spcBef>
                <a:spcPct val="0"/>
              </a:spcBef>
            </a:pPr>
            <a:r>
              <a:rPr lang="en-US" sz="1599" strike="noStrike" u="none">
                <a:solidFill>
                  <a:srgbClr val="000000"/>
                </a:solidFill>
                <a:latin typeface="DM Sans"/>
                <a:ea typeface="DM Sans"/>
                <a:cs typeface="DM Sans"/>
                <a:sym typeface="DM Sans"/>
              </a:rPr>
              <a:t> </a:t>
            </a:r>
          </a:p>
        </p:txBody>
      </p:sp>
      <p:sp>
        <p:nvSpPr>
          <p:cNvPr name="TextBox 44" id="44"/>
          <p:cNvSpPr txBox="true"/>
          <p:nvPr/>
        </p:nvSpPr>
        <p:spPr>
          <a:xfrm rot="0">
            <a:off x="8334060" y="5270892"/>
            <a:ext cx="3115606" cy="8248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000000"/>
                </a:solidFill>
                <a:latin typeface="DM Sans Bold"/>
                <a:ea typeface="DM Sans Bold"/>
                <a:cs typeface="DM Sans Bold"/>
                <a:sym typeface="DM Sans Bold"/>
              </a:rPr>
              <a:t>Automated Book, Cancel And Review</a:t>
            </a:r>
          </a:p>
        </p:txBody>
      </p:sp>
      <p:sp>
        <p:nvSpPr>
          <p:cNvPr name="TextBox 45" id="45"/>
          <p:cNvSpPr txBox="true"/>
          <p:nvPr/>
        </p:nvSpPr>
        <p:spPr>
          <a:xfrm rot="0">
            <a:off x="12854235" y="5280417"/>
            <a:ext cx="4628841" cy="826135"/>
          </a:xfrm>
          <a:prstGeom prst="rect">
            <a:avLst/>
          </a:prstGeom>
        </p:spPr>
        <p:txBody>
          <a:bodyPr anchor="t" rtlCol="false" tIns="0" lIns="0" bIns="0" rIns="0">
            <a:spAutoFit/>
          </a:bodyPr>
          <a:lstStyle/>
          <a:p>
            <a:pPr algn="l" marL="0" indent="0" lvl="0">
              <a:lnSpc>
                <a:spcPts val="2239"/>
              </a:lnSpc>
              <a:spcBef>
                <a:spcPct val="0"/>
              </a:spcBef>
            </a:pPr>
            <a:r>
              <a:rPr lang="en-US" sz="1599">
                <a:solidFill>
                  <a:srgbClr val="000000"/>
                </a:solidFill>
                <a:latin typeface="DM Sans"/>
                <a:ea typeface="DM Sans"/>
                <a:cs typeface="DM Sans"/>
                <a:sym typeface="DM Sans"/>
              </a:rPr>
              <a:t>All</a:t>
            </a:r>
            <a:r>
              <a:rPr lang="en-US" sz="1599" strike="noStrike" u="none">
                <a:solidFill>
                  <a:srgbClr val="000000"/>
                </a:solidFill>
                <a:latin typeface="DM Sans"/>
                <a:ea typeface="DM Sans"/>
                <a:cs typeface="DM Sans"/>
                <a:sym typeface="DM Sans"/>
              </a:rPr>
              <a:t>ows custome</a:t>
            </a:r>
            <a:r>
              <a:rPr lang="en-US" sz="1599" strike="noStrike" u="none">
                <a:solidFill>
                  <a:srgbClr val="000000"/>
                </a:solidFill>
                <a:latin typeface="DM Sans"/>
                <a:ea typeface="DM Sans"/>
                <a:cs typeface="DM Sans"/>
                <a:sym typeface="DM Sans"/>
              </a:rPr>
              <a:t>r</a:t>
            </a:r>
            <a:r>
              <a:rPr lang="en-US" sz="1599" strike="noStrike" u="none">
                <a:solidFill>
                  <a:srgbClr val="000000"/>
                </a:solidFill>
                <a:latin typeface="DM Sans"/>
                <a:ea typeface="DM Sans"/>
                <a:cs typeface="DM Sans"/>
                <a:sym typeface="DM Sans"/>
              </a:rPr>
              <a:t>s to book,cancel and review  appo</a:t>
            </a:r>
            <a:r>
              <a:rPr lang="en-US" sz="1599" strike="noStrike" u="none">
                <a:solidFill>
                  <a:srgbClr val="000000"/>
                </a:solidFill>
                <a:latin typeface="DM Sans"/>
                <a:ea typeface="DM Sans"/>
                <a:cs typeface="DM Sans"/>
                <a:sym typeface="DM Sans"/>
              </a:rPr>
              <a:t>in</a:t>
            </a:r>
            <a:r>
              <a:rPr lang="en-US" sz="1599" strike="noStrike" u="none">
                <a:solidFill>
                  <a:srgbClr val="000000"/>
                </a:solidFill>
                <a:latin typeface="DM Sans"/>
                <a:ea typeface="DM Sans"/>
                <a:cs typeface="DM Sans"/>
                <a:sym typeface="DM Sans"/>
              </a:rPr>
              <a:t>tments thro</a:t>
            </a:r>
            <a:r>
              <a:rPr lang="en-US" sz="1599" strike="noStrike" u="none">
                <a:solidFill>
                  <a:srgbClr val="000000"/>
                </a:solidFill>
                <a:latin typeface="DM Sans"/>
                <a:ea typeface="DM Sans"/>
                <a:cs typeface="DM Sans"/>
                <a:sym typeface="DM Sans"/>
              </a:rPr>
              <a:t>ugh</a:t>
            </a:r>
            <a:r>
              <a:rPr lang="en-US" sz="1599" strike="noStrike" u="none">
                <a:solidFill>
                  <a:srgbClr val="000000"/>
                </a:solidFill>
                <a:latin typeface="DM Sans"/>
                <a:ea typeface="DM Sans"/>
                <a:cs typeface="DM Sans"/>
                <a:sym typeface="DM Sans"/>
              </a:rPr>
              <a:t> </a:t>
            </a:r>
            <a:r>
              <a:rPr lang="en-US" sz="1599" strike="noStrike" u="none">
                <a:solidFill>
                  <a:srgbClr val="000000"/>
                </a:solidFill>
                <a:latin typeface="DM Sans"/>
                <a:ea typeface="DM Sans"/>
                <a:cs typeface="DM Sans"/>
                <a:sym typeface="DM Sans"/>
              </a:rPr>
              <a:t>natu</a:t>
            </a:r>
            <a:r>
              <a:rPr lang="en-US" sz="1599" strike="noStrike" u="none">
                <a:solidFill>
                  <a:srgbClr val="000000"/>
                </a:solidFill>
                <a:latin typeface="DM Sans"/>
                <a:ea typeface="DM Sans"/>
                <a:cs typeface="DM Sans"/>
                <a:sym typeface="DM Sans"/>
              </a:rPr>
              <a:t>ral l</a:t>
            </a:r>
            <a:r>
              <a:rPr lang="en-US" sz="1599" strike="noStrike" u="none">
                <a:solidFill>
                  <a:srgbClr val="000000"/>
                </a:solidFill>
                <a:latin typeface="DM Sans"/>
                <a:ea typeface="DM Sans"/>
                <a:cs typeface="DM Sans"/>
                <a:sym typeface="DM Sans"/>
              </a:rPr>
              <a:t>anguage</a:t>
            </a:r>
            <a:r>
              <a:rPr lang="en-US" sz="1599" strike="noStrike" u="none">
                <a:solidFill>
                  <a:srgbClr val="000000"/>
                </a:solidFill>
                <a:latin typeface="DM Sans"/>
                <a:ea typeface="DM Sans"/>
                <a:cs typeface="DM Sans"/>
                <a:sym typeface="DM Sans"/>
              </a:rPr>
              <a:t> conversat</a:t>
            </a:r>
            <a:r>
              <a:rPr lang="en-US" sz="1599" strike="noStrike" u="none">
                <a:solidFill>
                  <a:srgbClr val="000000"/>
                </a:solidFill>
                <a:latin typeface="DM Sans"/>
                <a:ea typeface="DM Sans"/>
                <a:cs typeface="DM Sans"/>
                <a:sym typeface="DM Sans"/>
              </a:rPr>
              <a:t>io</a:t>
            </a:r>
            <a:r>
              <a:rPr lang="en-US" sz="1599" strike="noStrike" u="none">
                <a:solidFill>
                  <a:srgbClr val="000000"/>
                </a:solidFill>
                <a:latin typeface="DM Sans"/>
                <a:ea typeface="DM Sans"/>
                <a:cs typeface="DM Sans"/>
                <a:sym typeface="DM Sans"/>
              </a:rPr>
              <a:t>ns with the AI chatbot.</a:t>
            </a:r>
          </a:p>
        </p:txBody>
      </p:sp>
      <p:sp>
        <p:nvSpPr>
          <p:cNvPr name="TextBox 46" id="46"/>
          <p:cNvSpPr txBox="true"/>
          <p:nvPr/>
        </p:nvSpPr>
        <p:spPr>
          <a:xfrm rot="0">
            <a:off x="8373022" y="6943236"/>
            <a:ext cx="4087367" cy="4057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000000"/>
                </a:solidFill>
                <a:latin typeface="DM Sans Bold"/>
                <a:ea typeface="DM Sans Bold"/>
                <a:cs typeface="DM Sans Bold"/>
                <a:sym typeface="DM Sans Bold"/>
              </a:rPr>
              <a:t>Rule based Engine</a:t>
            </a:r>
          </a:p>
        </p:txBody>
      </p:sp>
      <p:sp>
        <p:nvSpPr>
          <p:cNvPr name="TextBox 47" id="47"/>
          <p:cNvSpPr txBox="true"/>
          <p:nvPr/>
        </p:nvSpPr>
        <p:spPr>
          <a:xfrm rot="0">
            <a:off x="12854235" y="6790012"/>
            <a:ext cx="4536740" cy="826135"/>
          </a:xfrm>
          <a:prstGeom prst="rect">
            <a:avLst/>
          </a:prstGeom>
        </p:spPr>
        <p:txBody>
          <a:bodyPr anchor="t" rtlCol="false" tIns="0" lIns="0" bIns="0" rIns="0">
            <a:spAutoFit/>
          </a:bodyPr>
          <a:lstStyle/>
          <a:p>
            <a:pPr algn="l" marL="0" indent="0" lvl="0">
              <a:lnSpc>
                <a:spcPts val="2239"/>
              </a:lnSpc>
              <a:spcBef>
                <a:spcPct val="0"/>
              </a:spcBef>
            </a:pPr>
            <a:r>
              <a:rPr lang="en-US" sz="1599">
                <a:solidFill>
                  <a:srgbClr val="000000"/>
                </a:solidFill>
                <a:latin typeface="DM Sans"/>
                <a:ea typeface="DM Sans"/>
                <a:cs typeface="DM Sans"/>
                <a:sym typeface="DM Sans"/>
              </a:rPr>
              <a:t>Implements configurable business</a:t>
            </a:r>
            <a:r>
              <a:rPr lang="en-US" sz="1599" strike="noStrike" u="none">
                <a:solidFill>
                  <a:srgbClr val="000000"/>
                </a:solidFill>
                <a:latin typeface="DM Sans"/>
                <a:ea typeface="DM Sans"/>
                <a:cs typeface="DM Sans"/>
                <a:sym typeface="DM Sans"/>
              </a:rPr>
              <a:t> rules and customer-side action policies to analyze and enforce validation criteria consistently.</a:t>
            </a:r>
          </a:p>
        </p:txBody>
      </p:sp>
      <p:sp>
        <p:nvSpPr>
          <p:cNvPr name="TextBox 48" id="48"/>
          <p:cNvSpPr txBox="true"/>
          <p:nvPr/>
        </p:nvSpPr>
        <p:spPr>
          <a:xfrm rot="0">
            <a:off x="8373022" y="8319348"/>
            <a:ext cx="3415643" cy="824865"/>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000000"/>
                </a:solidFill>
                <a:latin typeface="DM Sans Bold"/>
                <a:ea typeface="DM Sans Bold"/>
                <a:cs typeface="DM Sans Bold"/>
                <a:sym typeface="DM Sans Bold"/>
              </a:rPr>
              <a:t>Automated Document Verifcation</a:t>
            </a:r>
          </a:p>
        </p:txBody>
      </p:sp>
      <p:sp>
        <p:nvSpPr>
          <p:cNvPr name="TextBox 49" id="49"/>
          <p:cNvSpPr txBox="true"/>
          <p:nvPr/>
        </p:nvSpPr>
        <p:spPr>
          <a:xfrm rot="0">
            <a:off x="12854235" y="8177479"/>
            <a:ext cx="4195000" cy="1102360"/>
          </a:xfrm>
          <a:prstGeom prst="rect">
            <a:avLst/>
          </a:prstGeom>
        </p:spPr>
        <p:txBody>
          <a:bodyPr anchor="t" rtlCol="false" tIns="0" lIns="0" bIns="0" rIns="0">
            <a:spAutoFit/>
          </a:bodyPr>
          <a:lstStyle/>
          <a:p>
            <a:pPr algn="l" marL="0" indent="0" lvl="0">
              <a:lnSpc>
                <a:spcPts val="2239"/>
              </a:lnSpc>
              <a:spcBef>
                <a:spcPct val="0"/>
              </a:spcBef>
            </a:pPr>
            <a:r>
              <a:rPr lang="en-US" sz="1599">
                <a:solidFill>
                  <a:srgbClr val="000000"/>
                </a:solidFill>
                <a:latin typeface="DM Sans"/>
                <a:ea typeface="DM Sans"/>
                <a:cs typeface="DM Sans"/>
                <a:sym typeface="DM Sans"/>
              </a:rPr>
              <a:t>Automate document validation, fraud detection,</a:t>
            </a:r>
            <a:r>
              <a:rPr lang="en-US" sz="1599">
                <a:solidFill>
                  <a:srgbClr val="000000"/>
                </a:solidFill>
                <a:latin typeface="DM Sans"/>
                <a:ea typeface="DM Sans"/>
                <a:cs typeface="DM Sans"/>
                <a:sym typeface="DM Sans"/>
              </a:rPr>
              <a:t> and compliance ch</a:t>
            </a:r>
            <a:r>
              <a:rPr lang="en-US" sz="1599" strike="noStrike" u="none">
                <a:solidFill>
                  <a:srgbClr val="000000"/>
                </a:solidFill>
                <a:latin typeface="DM Sans"/>
                <a:ea typeface="DM Sans"/>
                <a:cs typeface="DM Sans"/>
                <a:sym typeface="DM Sans"/>
              </a:rPr>
              <a:t>ecks . Reduces manual </a:t>
            </a:r>
            <a:r>
              <a:rPr lang="en-US" sz="1599" strike="noStrike" u="none">
                <a:solidFill>
                  <a:srgbClr val="000000"/>
                </a:solidFill>
                <a:latin typeface="DM Sans"/>
                <a:ea typeface="DM Sans"/>
                <a:cs typeface="DM Sans"/>
                <a:sym typeface="DM Sans"/>
              </a:rPr>
              <a:t>effort, </a:t>
            </a:r>
            <a:r>
              <a:rPr lang="en-US" sz="1599" strike="noStrike" u="none">
                <a:solidFill>
                  <a:srgbClr val="000000"/>
                </a:solidFill>
                <a:latin typeface="DM Sans"/>
                <a:ea typeface="DM Sans"/>
                <a:cs typeface="DM Sans"/>
                <a:sym typeface="DM Sans"/>
              </a:rPr>
              <a:t>an</a:t>
            </a:r>
            <a:r>
              <a:rPr lang="en-US" sz="1599" strike="noStrike" u="none">
                <a:solidFill>
                  <a:srgbClr val="000000"/>
                </a:solidFill>
                <a:latin typeface="DM Sans"/>
                <a:ea typeface="DM Sans"/>
                <a:cs typeface="DM Sans"/>
                <a:sym typeface="DM Sans"/>
              </a:rPr>
              <a:t>d </a:t>
            </a:r>
            <a:r>
              <a:rPr lang="en-US" sz="1599" strike="noStrike" u="none">
                <a:solidFill>
                  <a:srgbClr val="000000"/>
                </a:solidFill>
                <a:latin typeface="DM Sans"/>
                <a:ea typeface="DM Sans"/>
                <a:cs typeface="DM Sans"/>
                <a:sym typeface="DM Sans"/>
              </a:rPr>
              <a:t>ac</a:t>
            </a:r>
            <a:r>
              <a:rPr lang="en-US" sz="1599" strike="noStrike" u="none">
                <a:solidFill>
                  <a:srgbClr val="000000"/>
                </a:solidFill>
                <a:latin typeface="DM Sans"/>
                <a:ea typeface="DM Sans"/>
                <a:cs typeface="DM Sans"/>
                <a:sym typeface="DM Sans"/>
              </a:rPr>
              <a:t>cel</a:t>
            </a:r>
            <a:r>
              <a:rPr lang="en-US" sz="1599" strike="noStrike" u="none">
                <a:solidFill>
                  <a:srgbClr val="000000"/>
                </a:solidFill>
                <a:latin typeface="DM Sans"/>
                <a:ea typeface="DM Sans"/>
                <a:cs typeface="DM Sans"/>
                <a:sym typeface="DM Sans"/>
              </a:rPr>
              <a:t>erates onboarding decisions.</a:t>
            </a:r>
          </a:p>
        </p:txBody>
      </p:sp>
      <p:sp>
        <p:nvSpPr>
          <p:cNvPr name="Freeform 50" id="50"/>
          <p:cNvSpPr/>
          <p:nvPr/>
        </p:nvSpPr>
        <p:spPr>
          <a:xfrm flipH="false" flipV="false" rot="0">
            <a:off x="7264465" y="3892276"/>
            <a:ext cx="638234" cy="656128"/>
          </a:xfrm>
          <a:custGeom>
            <a:avLst/>
            <a:gdLst/>
            <a:ahLst/>
            <a:cxnLst/>
            <a:rect r="r" b="b" t="t" l="l"/>
            <a:pathLst>
              <a:path h="656128" w="638234">
                <a:moveTo>
                  <a:pt x="0" y="0"/>
                </a:moveTo>
                <a:lnTo>
                  <a:pt x="638233" y="0"/>
                </a:lnTo>
                <a:lnTo>
                  <a:pt x="638233" y="656129"/>
                </a:lnTo>
                <a:lnTo>
                  <a:pt x="0" y="65612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51" id="51"/>
          <p:cNvSpPr/>
          <p:nvPr/>
        </p:nvSpPr>
        <p:spPr>
          <a:xfrm flipH="false" flipV="false" rot="0">
            <a:off x="7264465" y="5414126"/>
            <a:ext cx="638234" cy="656128"/>
          </a:xfrm>
          <a:custGeom>
            <a:avLst/>
            <a:gdLst/>
            <a:ahLst/>
            <a:cxnLst/>
            <a:rect r="r" b="b" t="t" l="l"/>
            <a:pathLst>
              <a:path h="656128" w="638234">
                <a:moveTo>
                  <a:pt x="0" y="0"/>
                </a:moveTo>
                <a:lnTo>
                  <a:pt x="638233" y="0"/>
                </a:lnTo>
                <a:lnTo>
                  <a:pt x="638233" y="656128"/>
                </a:lnTo>
                <a:lnTo>
                  <a:pt x="0" y="65612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52" id="52"/>
          <p:cNvSpPr/>
          <p:nvPr/>
        </p:nvSpPr>
        <p:spPr>
          <a:xfrm flipH="false" flipV="false" rot="0">
            <a:off x="7264465" y="6885365"/>
            <a:ext cx="638234" cy="656128"/>
          </a:xfrm>
          <a:custGeom>
            <a:avLst/>
            <a:gdLst/>
            <a:ahLst/>
            <a:cxnLst/>
            <a:rect r="r" b="b" t="t" l="l"/>
            <a:pathLst>
              <a:path h="656128" w="638234">
                <a:moveTo>
                  <a:pt x="0" y="0"/>
                </a:moveTo>
                <a:lnTo>
                  <a:pt x="638233" y="0"/>
                </a:lnTo>
                <a:lnTo>
                  <a:pt x="638233" y="656128"/>
                </a:lnTo>
                <a:lnTo>
                  <a:pt x="0" y="65612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53" id="53"/>
          <p:cNvSpPr/>
          <p:nvPr/>
        </p:nvSpPr>
        <p:spPr>
          <a:xfrm flipH="false" flipV="false" rot="0">
            <a:off x="7264465" y="8366973"/>
            <a:ext cx="638234" cy="656128"/>
          </a:xfrm>
          <a:custGeom>
            <a:avLst/>
            <a:gdLst/>
            <a:ahLst/>
            <a:cxnLst/>
            <a:rect r="r" b="b" t="t" l="l"/>
            <a:pathLst>
              <a:path h="656128" w="638234">
                <a:moveTo>
                  <a:pt x="0" y="0"/>
                </a:moveTo>
                <a:lnTo>
                  <a:pt x="638233" y="0"/>
                </a:lnTo>
                <a:lnTo>
                  <a:pt x="638233" y="656128"/>
                </a:lnTo>
                <a:lnTo>
                  <a:pt x="0" y="65612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1F3FA"/>
        </a:solidFill>
      </p:bgPr>
    </p:bg>
    <p:spTree>
      <p:nvGrpSpPr>
        <p:cNvPr id="1" name=""/>
        <p:cNvGrpSpPr/>
        <p:nvPr/>
      </p:nvGrpSpPr>
      <p:grpSpPr>
        <a:xfrm>
          <a:off x="0" y="0"/>
          <a:ext cx="0" cy="0"/>
          <a:chOff x="0" y="0"/>
          <a:chExt cx="0" cy="0"/>
        </a:xfrm>
      </p:grpSpPr>
      <p:sp>
        <p:nvSpPr>
          <p:cNvPr name="Freeform 2" id="2"/>
          <p:cNvSpPr/>
          <p:nvPr/>
        </p:nvSpPr>
        <p:spPr>
          <a:xfrm flipH="false" flipV="false" rot="0">
            <a:off x="6372091" y="3238824"/>
            <a:ext cx="5543817" cy="5523851"/>
          </a:xfrm>
          <a:custGeom>
            <a:avLst/>
            <a:gdLst/>
            <a:ahLst/>
            <a:cxnLst/>
            <a:rect r="r" b="b" t="t" l="l"/>
            <a:pathLst>
              <a:path h="5523851" w="5543817">
                <a:moveTo>
                  <a:pt x="0" y="0"/>
                </a:moveTo>
                <a:lnTo>
                  <a:pt x="5543818" y="0"/>
                </a:lnTo>
                <a:lnTo>
                  <a:pt x="5543818" y="5523852"/>
                </a:lnTo>
                <a:lnTo>
                  <a:pt x="0" y="55238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427531" y="3988976"/>
            <a:ext cx="1143000" cy="1154167"/>
            <a:chOff x="0" y="0"/>
            <a:chExt cx="804936" cy="812800"/>
          </a:xfrm>
        </p:grpSpPr>
        <p:sp>
          <p:nvSpPr>
            <p:cNvPr name="Freeform 4" id="4"/>
            <p:cNvSpPr/>
            <p:nvPr/>
          </p:nvSpPr>
          <p:spPr>
            <a:xfrm flipH="false" flipV="false" rot="0">
              <a:off x="0" y="0"/>
              <a:ext cx="804936" cy="812800"/>
            </a:xfrm>
            <a:custGeom>
              <a:avLst/>
              <a:gdLst/>
              <a:ahLst/>
              <a:cxnLst/>
              <a:rect r="r" b="b" t="t" l="l"/>
              <a:pathLst>
                <a:path h="812800" w="804936">
                  <a:moveTo>
                    <a:pt x="402468" y="0"/>
                  </a:moveTo>
                  <a:cubicBezTo>
                    <a:pt x="180191" y="0"/>
                    <a:pt x="0" y="181951"/>
                    <a:pt x="0" y="406400"/>
                  </a:cubicBezTo>
                  <a:cubicBezTo>
                    <a:pt x="0" y="630849"/>
                    <a:pt x="180191" y="812800"/>
                    <a:pt x="402468" y="812800"/>
                  </a:cubicBezTo>
                  <a:cubicBezTo>
                    <a:pt x="624745" y="812800"/>
                    <a:pt x="804936" y="630849"/>
                    <a:pt x="804936" y="406400"/>
                  </a:cubicBezTo>
                  <a:cubicBezTo>
                    <a:pt x="804936" y="181951"/>
                    <a:pt x="624745" y="0"/>
                    <a:pt x="402468" y="0"/>
                  </a:cubicBezTo>
                  <a:close/>
                </a:path>
              </a:pathLst>
            </a:custGeom>
            <a:solidFill>
              <a:srgbClr val="9A9DF1"/>
            </a:solidFill>
            <a:ln w="95250" cap="sq">
              <a:solidFill>
                <a:srgbClr val="FFFFFF"/>
              </a:solidFill>
              <a:prstDash val="solid"/>
              <a:miter/>
            </a:ln>
          </p:spPr>
        </p:sp>
        <p:sp>
          <p:nvSpPr>
            <p:cNvPr name="TextBox 5" id="5"/>
            <p:cNvSpPr txBox="true"/>
            <p:nvPr/>
          </p:nvSpPr>
          <p:spPr>
            <a:xfrm>
              <a:off x="75463" y="19050"/>
              <a:ext cx="654010" cy="717550"/>
            </a:xfrm>
            <a:prstGeom prst="rect">
              <a:avLst/>
            </a:prstGeom>
          </p:spPr>
          <p:txBody>
            <a:bodyPr anchor="ctr" rtlCol="false" tIns="50800" lIns="50800" bIns="50800" rIns="50800"/>
            <a:lstStyle/>
            <a:p>
              <a:pPr algn="ctr" marL="0" indent="0" lvl="0">
                <a:lnSpc>
                  <a:spcPts val="4059"/>
                </a:lnSpc>
                <a:spcBef>
                  <a:spcPct val="0"/>
                </a:spcBef>
              </a:pPr>
            </a:p>
          </p:txBody>
        </p:sp>
      </p:grpSp>
      <p:grpSp>
        <p:nvGrpSpPr>
          <p:cNvPr name="Group 6" id="6"/>
          <p:cNvGrpSpPr/>
          <p:nvPr/>
        </p:nvGrpSpPr>
        <p:grpSpPr>
          <a:xfrm rot="0">
            <a:off x="8719517" y="6762750"/>
            <a:ext cx="1143000" cy="114300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259"/>
            </a:solidFill>
            <a:ln w="95250" cap="sq">
              <a:solidFill>
                <a:srgbClr val="FFFFFF"/>
              </a:solidFill>
              <a:prstDash val="solid"/>
              <a:miter/>
            </a:ln>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marL="0" indent="0" lvl="0">
                <a:lnSpc>
                  <a:spcPts val="4059"/>
                </a:lnSpc>
                <a:spcBef>
                  <a:spcPct val="0"/>
                </a:spcBef>
              </a:pPr>
            </a:p>
          </p:txBody>
        </p:sp>
      </p:grpSp>
      <p:grpSp>
        <p:nvGrpSpPr>
          <p:cNvPr name="Group 9" id="9"/>
          <p:cNvGrpSpPr/>
          <p:nvPr/>
        </p:nvGrpSpPr>
        <p:grpSpPr>
          <a:xfrm rot="0">
            <a:off x="8096250" y="5410200"/>
            <a:ext cx="1143000" cy="11430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38"/>
            </a:solidFill>
            <a:ln w="95250" cap="sq">
              <a:solidFill>
                <a:srgbClr val="FFFFFF"/>
              </a:solidFill>
              <a:prstDash val="solid"/>
              <a:miter/>
            </a:ln>
          </p:spPr>
        </p:sp>
        <p:sp>
          <p:nvSpPr>
            <p:cNvPr name="TextBox 11" id="11"/>
            <p:cNvSpPr txBox="true"/>
            <p:nvPr/>
          </p:nvSpPr>
          <p:spPr>
            <a:xfrm>
              <a:off x="76200" y="19050"/>
              <a:ext cx="660400" cy="717550"/>
            </a:xfrm>
            <a:prstGeom prst="rect">
              <a:avLst/>
            </a:prstGeom>
          </p:spPr>
          <p:txBody>
            <a:bodyPr anchor="ctr" rtlCol="false" tIns="50800" lIns="50800" bIns="50800" rIns="50800"/>
            <a:lstStyle/>
            <a:p>
              <a:pPr algn="ctr" marL="0" indent="0" lvl="0">
                <a:lnSpc>
                  <a:spcPts val="4059"/>
                </a:lnSpc>
                <a:spcBef>
                  <a:spcPct val="0"/>
                </a:spcBef>
              </a:pPr>
            </a:p>
          </p:txBody>
        </p:sp>
      </p:grpSp>
      <p:grpSp>
        <p:nvGrpSpPr>
          <p:cNvPr name="Group 12" id="12"/>
          <p:cNvGrpSpPr/>
          <p:nvPr/>
        </p:nvGrpSpPr>
        <p:grpSpPr>
          <a:xfrm rot="0">
            <a:off x="10772909" y="4249710"/>
            <a:ext cx="1143000" cy="114300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B80"/>
            </a:solidFill>
            <a:ln w="95250" cap="sq">
              <a:solidFill>
                <a:srgbClr val="FFFFFF"/>
              </a:solidFill>
              <a:prstDash val="solid"/>
              <a:miter/>
            </a:ln>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marL="0" indent="0" lvl="0">
                <a:lnSpc>
                  <a:spcPts val="4059"/>
                </a:lnSpc>
                <a:spcBef>
                  <a:spcPct val="0"/>
                </a:spcBef>
              </a:pPr>
            </a:p>
          </p:txBody>
        </p:sp>
      </p:grpSp>
      <p:grpSp>
        <p:nvGrpSpPr>
          <p:cNvPr name="Group 15" id="15"/>
          <p:cNvGrpSpPr/>
          <p:nvPr/>
        </p:nvGrpSpPr>
        <p:grpSpPr>
          <a:xfrm rot="-2700000">
            <a:off x="12053677" y="3228422"/>
            <a:ext cx="251931" cy="251931"/>
            <a:chOff x="0" y="0"/>
            <a:chExt cx="66352" cy="66352"/>
          </a:xfrm>
        </p:grpSpPr>
        <p:sp>
          <p:nvSpPr>
            <p:cNvPr name="Freeform 16" id="16"/>
            <p:cNvSpPr/>
            <p:nvPr/>
          </p:nvSpPr>
          <p:spPr>
            <a:xfrm flipH="false" flipV="false" rot="0">
              <a:off x="0" y="0"/>
              <a:ext cx="66352" cy="66352"/>
            </a:xfrm>
            <a:custGeom>
              <a:avLst/>
              <a:gdLst/>
              <a:ahLst/>
              <a:cxnLst/>
              <a:rect r="r" b="b" t="t" l="l"/>
              <a:pathLst>
                <a:path h="66352" w="66352">
                  <a:moveTo>
                    <a:pt x="33176" y="0"/>
                  </a:moveTo>
                  <a:lnTo>
                    <a:pt x="33176" y="0"/>
                  </a:lnTo>
                  <a:cubicBezTo>
                    <a:pt x="41975" y="0"/>
                    <a:pt x="50413" y="3495"/>
                    <a:pt x="56635" y="9717"/>
                  </a:cubicBezTo>
                  <a:cubicBezTo>
                    <a:pt x="62857" y="15939"/>
                    <a:pt x="66352" y="24377"/>
                    <a:pt x="66352" y="33176"/>
                  </a:cubicBezTo>
                  <a:lnTo>
                    <a:pt x="66352" y="33176"/>
                  </a:lnTo>
                  <a:cubicBezTo>
                    <a:pt x="66352" y="41975"/>
                    <a:pt x="62857" y="50413"/>
                    <a:pt x="56635" y="56635"/>
                  </a:cubicBezTo>
                  <a:cubicBezTo>
                    <a:pt x="50413" y="62857"/>
                    <a:pt x="41975" y="66352"/>
                    <a:pt x="33176" y="66352"/>
                  </a:cubicBezTo>
                  <a:lnTo>
                    <a:pt x="33176" y="66352"/>
                  </a:lnTo>
                  <a:cubicBezTo>
                    <a:pt x="24377" y="66352"/>
                    <a:pt x="15939" y="62857"/>
                    <a:pt x="9717" y="56635"/>
                  </a:cubicBezTo>
                  <a:cubicBezTo>
                    <a:pt x="3495" y="50413"/>
                    <a:pt x="0" y="41975"/>
                    <a:pt x="0" y="33176"/>
                  </a:cubicBezTo>
                  <a:lnTo>
                    <a:pt x="0" y="33176"/>
                  </a:lnTo>
                  <a:cubicBezTo>
                    <a:pt x="0" y="24377"/>
                    <a:pt x="3495" y="15939"/>
                    <a:pt x="9717" y="9717"/>
                  </a:cubicBezTo>
                  <a:cubicBezTo>
                    <a:pt x="15939" y="3495"/>
                    <a:pt x="24377" y="0"/>
                    <a:pt x="33176" y="0"/>
                  </a:cubicBezTo>
                  <a:close/>
                </a:path>
              </a:pathLst>
            </a:custGeom>
            <a:solidFill>
              <a:srgbClr val="007B80"/>
            </a:solidFill>
            <a:ln w="38100" cap="sq">
              <a:solidFill>
                <a:srgbClr val="FFFFFF"/>
              </a:solidFill>
              <a:prstDash val="solid"/>
              <a:miter/>
            </a:ln>
          </p:spPr>
        </p:sp>
        <p:sp>
          <p:nvSpPr>
            <p:cNvPr name="TextBox 17" id="17"/>
            <p:cNvSpPr txBox="true"/>
            <p:nvPr/>
          </p:nvSpPr>
          <p:spPr>
            <a:xfrm>
              <a:off x="0" y="-57150"/>
              <a:ext cx="66352" cy="123502"/>
            </a:xfrm>
            <a:prstGeom prst="rect">
              <a:avLst/>
            </a:prstGeom>
          </p:spPr>
          <p:txBody>
            <a:bodyPr anchor="ctr" rtlCol="false" tIns="50800" lIns="50800" bIns="50800" rIns="50800"/>
            <a:lstStyle/>
            <a:p>
              <a:pPr algn="ctr" marL="0" indent="0" lvl="0">
                <a:lnSpc>
                  <a:spcPts val="4059"/>
                </a:lnSpc>
                <a:spcBef>
                  <a:spcPct val="0"/>
                </a:spcBef>
              </a:pPr>
            </a:p>
          </p:txBody>
        </p:sp>
      </p:grpSp>
      <p:grpSp>
        <p:nvGrpSpPr>
          <p:cNvPr name="Group 18" id="18"/>
          <p:cNvGrpSpPr/>
          <p:nvPr/>
        </p:nvGrpSpPr>
        <p:grpSpPr>
          <a:xfrm rot="-2700000">
            <a:off x="5439334" y="3228422"/>
            <a:ext cx="251931" cy="251931"/>
            <a:chOff x="0" y="0"/>
            <a:chExt cx="66352" cy="66352"/>
          </a:xfrm>
        </p:grpSpPr>
        <p:sp>
          <p:nvSpPr>
            <p:cNvPr name="Freeform 19" id="19"/>
            <p:cNvSpPr/>
            <p:nvPr/>
          </p:nvSpPr>
          <p:spPr>
            <a:xfrm flipH="false" flipV="false" rot="0">
              <a:off x="0" y="0"/>
              <a:ext cx="66352" cy="66352"/>
            </a:xfrm>
            <a:custGeom>
              <a:avLst/>
              <a:gdLst/>
              <a:ahLst/>
              <a:cxnLst/>
              <a:rect r="r" b="b" t="t" l="l"/>
              <a:pathLst>
                <a:path h="66352" w="66352">
                  <a:moveTo>
                    <a:pt x="33176" y="0"/>
                  </a:moveTo>
                  <a:lnTo>
                    <a:pt x="33176" y="0"/>
                  </a:lnTo>
                  <a:cubicBezTo>
                    <a:pt x="41975" y="0"/>
                    <a:pt x="50413" y="3495"/>
                    <a:pt x="56635" y="9717"/>
                  </a:cubicBezTo>
                  <a:cubicBezTo>
                    <a:pt x="62857" y="15939"/>
                    <a:pt x="66352" y="24377"/>
                    <a:pt x="66352" y="33176"/>
                  </a:cubicBezTo>
                  <a:lnTo>
                    <a:pt x="66352" y="33176"/>
                  </a:lnTo>
                  <a:cubicBezTo>
                    <a:pt x="66352" y="41975"/>
                    <a:pt x="62857" y="50413"/>
                    <a:pt x="56635" y="56635"/>
                  </a:cubicBezTo>
                  <a:cubicBezTo>
                    <a:pt x="50413" y="62857"/>
                    <a:pt x="41975" y="66352"/>
                    <a:pt x="33176" y="66352"/>
                  </a:cubicBezTo>
                  <a:lnTo>
                    <a:pt x="33176" y="66352"/>
                  </a:lnTo>
                  <a:cubicBezTo>
                    <a:pt x="24377" y="66352"/>
                    <a:pt x="15939" y="62857"/>
                    <a:pt x="9717" y="56635"/>
                  </a:cubicBezTo>
                  <a:cubicBezTo>
                    <a:pt x="3495" y="50413"/>
                    <a:pt x="0" y="41975"/>
                    <a:pt x="0" y="33176"/>
                  </a:cubicBezTo>
                  <a:lnTo>
                    <a:pt x="0" y="33176"/>
                  </a:lnTo>
                  <a:cubicBezTo>
                    <a:pt x="0" y="24377"/>
                    <a:pt x="3495" y="15939"/>
                    <a:pt x="9717" y="9717"/>
                  </a:cubicBezTo>
                  <a:cubicBezTo>
                    <a:pt x="15939" y="3495"/>
                    <a:pt x="24377" y="0"/>
                    <a:pt x="33176" y="0"/>
                  </a:cubicBezTo>
                  <a:close/>
                </a:path>
              </a:pathLst>
            </a:custGeom>
            <a:solidFill>
              <a:srgbClr val="56E11B"/>
            </a:solidFill>
            <a:ln w="38100" cap="sq">
              <a:solidFill>
                <a:srgbClr val="FFFFFF"/>
              </a:solidFill>
              <a:prstDash val="solid"/>
              <a:miter/>
            </a:ln>
          </p:spPr>
        </p:sp>
        <p:sp>
          <p:nvSpPr>
            <p:cNvPr name="TextBox 20" id="20"/>
            <p:cNvSpPr txBox="true"/>
            <p:nvPr/>
          </p:nvSpPr>
          <p:spPr>
            <a:xfrm>
              <a:off x="0" y="-57150"/>
              <a:ext cx="66352" cy="123502"/>
            </a:xfrm>
            <a:prstGeom prst="rect">
              <a:avLst/>
            </a:prstGeom>
          </p:spPr>
          <p:txBody>
            <a:bodyPr anchor="ctr" rtlCol="false" tIns="50800" lIns="50800" bIns="50800" rIns="50800"/>
            <a:lstStyle/>
            <a:p>
              <a:pPr algn="ctr" marL="0" indent="0" lvl="0">
                <a:lnSpc>
                  <a:spcPts val="4059"/>
                </a:lnSpc>
                <a:spcBef>
                  <a:spcPct val="0"/>
                </a:spcBef>
              </a:pPr>
            </a:p>
          </p:txBody>
        </p:sp>
      </p:grpSp>
      <p:grpSp>
        <p:nvGrpSpPr>
          <p:cNvPr name="Group 21" id="21"/>
          <p:cNvGrpSpPr/>
          <p:nvPr/>
        </p:nvGrpSpPr>
        <p:grpSpPr>
          <a:xfrm rot="-2700000">
            <a:off x="5481427" y="7426724"/>
            <a:ext cx="251931" cy="251931"/>
            <a:chOff x="0" y="0"/>
            <a:chExt cx="66352" cy="66352"/>
          </a:xfrm>
        </p:grpSpPr>
        <p:sp>
          <p:nvSpPr>
            <p:cNvPr name="Freeform 22" id="22"/>
            <p:cNvSpPr/>
            <p:nvPr/>
          </p:nvSpPr>
          <p:spPr>
            <a:xfrm flipH="false" flipV="false" rot="0">
              <a:off x="0" y="0"/>
              <a:ext cx="66352" cy="66352"/>
            </a:xfrm>
            <a:custGeom>
              <a:avLst/>
              <a:gdLst/>
              <a:ahLst/>
              <a:cxnLst/>
              <a:rect r="r" b="b" t="t" l="l"/>
              <a:pathLst>
                <a:path h="66352" w="66352">
                  <a:moveTo>
                    <a:pt x="33176" y="0"/>
                  </a:moveTo>
                  <a:lnTo>
                    <a:pt x="33176" y="0"/>
                  </a:lnTo>
                  <a:cubicBezTo>
                    <a:pt x="41975" y="0"/>
                    <a:pt x="50413" y="3495"/>
                    <a:pt x="56635" y="9717"/>
                  </a:cubicBezTo>
                  <a:cubicBezTo>
                    <a:pt x="62857" y="15939"/>
                    <a:pt x="66352" y="24377"/>
                    <a:pt x="66352" y="33176"/>
                  </a:cubicBezTo>
                  <a:lnTo>
                    <a:pt x="66352" y="33176"/>
                  </a:lnTo>
                  <a:cubicBezTo>
                    <a:pt x="66352" y="41975"/>
                    <a:pt x="62857" y="50413"/>
                    <a:pt x="56635" y="56635"/>
                  </a:cubicBezTo>
                  <a:cubicBezTo>
                    <a:pt x="50413" y="62857"/>
                    <a:pt x="41975" y="66352"/>
                    <a:pt x="33176" y="66352"/>
                  </a:cubicBezTo>
                  <a:lnTo>
                    <a:pt x="33176" y="66352"/>
                  </a:lnTo>
                  <a:cubicBezTo>
                    <a:pt x="24377" y="66352"/>
                    <a:pt x="15939" y="62857"/>
                    <a:pt x="9717" y="56635"/>
                  </a:cubicBezTo>
                  <a:cubicBezTo>
                    <a:pt x="3495" y="50413"/>
                    <a:pt x="0" y="41975"/>
                    <a:pt x="0" y="33176"/>
                  </a:cubicBezTo>
                  <a:lnTo>
                    <a:pt x="0" y="33176"/>
                  </a:lnTo>
                  <a:cubicBezTo>
                    <a:pt x="0" y="24377"/>
                    <a:pt x="3495" y="15939"/>
                    <a:pt x="9717" y="9717"/>
                  </a:cubicBezTo>
                  <a:cubicBezTo>
                    <a:pt x="15939" y="3495"/>
                    <a:pt x="24377" y="0"/>
                    <a:pt x="33176" y="0"/>
                  </a:cubicBezTo>
                  <a:close/>
                </a:path>
              </a:pathLst>
            </a:custGeom>
            <a:solidFill>
              <a:srgbClr val="000038"/>
            </a:solidFill>
            <a:ln w="38100" cap="sq">
              <a:solidFill>
                <a:srgbClr val="FFFFFF"/>
              </a:solidFill>
              <a:prstDash val="solid"/>
              <a:miter/>
            </a:ln>
          </p:spPr>
        </p:sp>
        <p:sp>
          <p:nvSpPr>
            <p:cNvPr name="TextBox 23" id="23"/>
            <p:cNvSpPr txBox="true"/>
            <p:nvPr/>
          </p:nvSpPr>
          <p:spPr>
            <a:xfrm>
              <a:off x="0" y="-57150"/>
              <a:ext cx="66352" cy="123502"/>
            </a:xfrm>
            <a:prstGeom prst="rect">
              <a:avLst/>
            </a:prstGeom>
          </p:spPr>
          <p:txBody>
            <a:bodyPr anchor="ctr" rtlCol="false" tIns="50800" lIns="50800" bIns="50800" rIns="50800"/>
            <a:lstStyle/>
            <a:p>
              <a:pPr algn="ctr" marL="0" indent="0" lvl="0">
                <a:lnSpc>
                  <a:spcPts val="4059"/>
                </a:lnSpc>
                <a:spcBef>
                  <a:spcPct val="0"/>
                </a:spcBef>
              </a:pPr>
            </a:p>
          </p:txBody>
        </p:sp>
      </p:grpSp>
      <p:grpSp>
        <p:nvGrpSpPr>
          <p:cNvPr name="Group 24" id="24"/>
          <p:cNvGrpSpPr/>
          <p:nvPr/>
        </p:nvGrpSpPr>
        <p:grpSpPr>
          <a:xfrm rot="-2700000">
            <a:off x="12053677" y="8091264"/>
            <a:ext cx="251931" cy="251931"/>
            <a:chOff x="0" y="0"/>
            <a:chExt cx="66352" cy="66352"/>
          </a:xfrm>
        </p:grpSpPr>
        <p:sp>
          <p:nvSpPr>
            <p:cNvPr name="Freeform 25" id="25"/>
            <p:cNvSpPr/>
            <p:nvPr/>
          </p:nvSpPr>
          <p:spPr>
            <a:xfrm flipH="false" flipV="false" rot="0">
              <a:off x="0" y="0"/>
              <a:ext cx="66352" cy="66352"/>
            </a:xfrm>
            <a:custGeom>
              <a:avLst/>
              <a:gdLst/>
              <a:ahLst/>
              <a:cxnLst/>
              <a:rect r="r" b="b" t="t" l="l"/>
              <a:pathLst>
                <a:path h="66352" w="66352">
                  <a:moveTo>
                    <a:pt x="33176" y="0"/>
                  </a:moveTo>
                  <a:lnTo>
                    <a:pt x="33176" y="0"/>
                  </a:lnTo>
                  <a:cubicBezTo>
                    <a:pt x="41975" y="0"/>
                    <a:pt x="50413" y="3495"/>
                    <a:pt x="56635" y="9717"/>
                  </a:cubicBezTo>
                  <a:cubicBezTo>
                    <a:pt x="62857" y="15939"/>
                    <a:pt x="66352" y="24377"/>
                    <a:pt x="66352" y="33176"/>
                  </a:cubicBezTo>
                  <a:lnTo>
                    <a:pt x="66352" y="33176"/>
                  </a:lnTo>
                  <a:cubicBezTo>
                    <a:pt x="66352" y="41975"/>
                    <a:pt x="62857" y="50413"/>
                    <a:pt x="56635" y="56635"/>
                  </a:cubicBezTo>
                  <a:cubicBezTo>
                    <a:pt x="50413" y="62857"/>
                    <a:pt x="41975" y="66352"/>
                    <a:pt x="33176" y="66352"/>
                  </a:cubicBezTo>
                  <a:lnTo>
                    <a:pt x="33176" y="66352"/>
                  </a:lnTo>
                  <a:cubicBezTo>
                    <a:pt x="24377" y="66352"/>
                    <a:pt x="15939" y="62857"/>
                    <a:pt x="9717" y="56635"/>
                  </a:cubicBezTo>
                  <a:cubicBezTo>
                    <a:pt x="3495" y="50413"/>
                    <a:pt x="0" y="41975"/>
                    <a:pt x="0" y="33176"/>
                  </a:cubicBezTo>
                  <a:lnTo>
                    <a:pt x="0" y="33176"/>
                  </a:lnTo>
                  <a:cubicBezTo>
                    <a:pt x="0" y="24377"/>
                    <a:pt x="3495" y="15939"/>
                    <a:pt x="9717" y="9717"/>
                  </a:cubicBezTo>
                  <a:cubicBezTo>
                    <a:pt x="15939" y="3495"/>
                    <a:pt x="24377" y="0"/>
                    <a:pt x="33176" y="0"/>
                  </a:cubicBezTo>
                  <a:close/>
                </a:path>
              </a:pathLst>
            </a:custGeom>
            <a:solidFill>
              <a:srgbClr val="004259"/>
            </a:solidFill>
            <a:ln w="38100" cap="sq">
              <a:solidFill>
                <a:srgbClr val="FFFFFF"/>
              </a:solidFill>
              <a:prstDash val="solid"/>
              <a:miter/>
            </a:ln>
          </p:spPr>
        </p:sp>
        <p:sp>
          <p:nvSpPr>
            <p:cNvPr name="TextBox 26" id="26"/>
            <p:cNvSpPr txBox="true"/>
            <p:nvPr/>
          </p:nvSpPr>
          <p:spPr>
            <a:xfrm>
              <a:off x="0" y="-57150"/>
              <a:ext cx="66352" cy="123502"/>
            </a:xfrm>
            <a:prstGeom prst="rect">
              <a:avLst/>
            </a:prstGeom>
          </p:spPr>
          <p:txBody>
            <a:bodyPr anchor="ctr" rtlCol="false" tIns="50800" lIns="50800" bIns="50800" rIns="50800"/>
            <a:lstStyle/>
            <a:p>
              <a:pPr algn="ctr" marL="0" indent="0" lvl="0">
                <a:lnSpc>
                  <a:spcPts val="4059"/>
                </a:lnSpc>
                <a:spcBef>
                  <a:spcPct val="0"/>
                </a:spcBef>
              </a:pPr>
            </a:p>
          </p:txBody>
        </p:sp>
      </p:grpSp>
      <p:sp>
        <p:nvSpPr>
          <p:cNvPr name="Freeform 27" id="27"/>
          <p:cNvSpPr/>
          <p:nvPr/>
        </p:nvSpPr>
        <p:spPr>
          <a:xfrm>
            <a:off x="11344408" y="3354388"/>
            <a:ext cx="676818" cy="895322"/>
          </a:xfrm>
          <a:custGeom>
            <a:avLst/>
            <a:gdLst/>
            <a:ahLst/>
            <a:cxnLst/>
            <a:rect r="r" b="b" t="t" l="l"/>
            <a:pathLst>
              <a:path h="895322" w="676818">
                <a:moveTo>
                  <a:pt x="0" y="895322"/>
                </a:moveTo>
                <a:lnTo>
                  <a:pt x="0" y="671491"/>
                </a:lnTo>
                <a:cubicBezTo>
                  <a:pt x="0" y="612128"/>
                  <a:pt x="23583" y="555195"/>
                  <a:pt x="65559" y="513219"/>
                </a:cubicBezTo>
                <a:cubicBezTo>
                  <a:pt x="107536" y="471243"/>
                  <a:pt x="164468" y="447661"/>
                  <a:pt x="223831" y="447661"/>
                </a:cubicBezTo>
                <a:lnTo>
                  <a:pt x="452988" y="447661"/>
                </a:lnTo>
                <a:cubicBezTo>
                  <a:pt x="512352" y="447661"/>
                  <a:pt x="569284" y="424079"/>
                  <a:pt x="611260" y="382102"/>
                </a:cubicBezTo>
                <a:cubicBezTo>
                  <a:pt x="653236" y="340126"/>
                  <a:pt x="676819" y="283193"/>
                  <a:pt x="676819" y="223830"/>
                </a:cubicBezTo>
                <a:lnTo>
                  <a:pt x="676819" y="0"/>
                </a:lnTo>
              </a:path>
            </a:pathLst>
          </a:custGeom>
          <a:ln cap="rnd" w="38100">
            <a:solidFill>
              <a:srgbClr val="007B80"/>
            </a:solidFill>
            <a:prstDash val="lgDash"/>
            <a:headEnd type="none" len="sm" w="sm"/>
            <a:tailEnd type="none" len="sm" w="sm"/>
          </a:ln>
        </p:spPr>
      </p:sp>
      <p:sp>
        <p:nvSpPr>
          <p:cNvPr name="Freeform 28" id="28"/>
          <p:cNvSpPr/>
          <p:nvPr/>
        </p:nvSpPr>
        <p:spPr>
          <a:xfrm>
            <a:off x="9291017" y="7905750"/>
            <a:ext cx="2730209" cy="1425442"/>
          </a:xfrm>
          <a:custGeom>
            <a:avLst/>
            <a:gdLst/>
            <a:ahLst/>
            <a:cxnLst/>
            <a:rect r="r" b="b" t="t" l="l"/>
            <a:pathLst>
              <a:path h="1425442" w="2730209">
                <a:moveTo>
                  <a:pt x="0" y="0"/>
                </a:moveTo>
                <a:lnTo>
                  <a:pt x="0" y="1196842"/>
                </a:lnTo>
                <a:cubicBezTo>
                  <a:pt x="0" y="1257471"/>
                  <a:pt x="24085" y="1315617"/>
                  <a:pt x="66956" y="1358487"/>
                </a:cubicBezTo>
                <a:cubicBezTo>
                  <a:pt x="109826" y="1401358"/>
                  <a:pt x="167972" y="1425442"/>
                  <a:pt x="228600" y="1425442"/>
                </a:cubicBezTo>
                <a:lnTo>
                  <a:pt x="1998178" y="1425442"/>
                </a:lnTo>
                <a:cubicBezTo>
                  <a:pt x="2058806" y="1425442"/>
                  <a:pt x="2116952" y="1401358"/>
                  <a:pt x="2159822" y="1358487"/>
                </a:cubicBezTo>
                <a:cubicBezTo>
                  <a:pt x="2202693" y="1315617"/>
                  <a:pt x="2226778" y="1257471"/>
                  <a:pt x="2226778" y="1196842"/>
                </a:cubicBezTo>
                <a:lnTo>
                  <a:pt x="2226778" y="540079"/>
                </a:lnTo>
                <a:cubicBezTo>
                  <a:pt x="2226778" y="479451"/>
                  <a:pt x="2250862" y="421305"/>
                  <a:pt x="2293733" y="378435"/>
                </a:cubicBezTo>
                <a:cubicBezTo>
                  <a:pt x="2336603" y="335564"/>
                  <a:pt x="2394749" y="311479"/>
                  <a:pt x="2455378" y="311479"/>
                </a:cubicBezTo>
                <a:lnTo>
                  <a:pt x="2730210" y="311479"/>
                </a:lnTo>
              </a:path>
            </a:pathLst>
          </a:custGeom>
          <a:ln cap="rnd" w="38100">
            <a:solidFill>
              <a:srgbClr val="004259"/>
            </a:solidFill>
            <a:prstDash val="lgDash"/>
            <a:headEnd type="none" len="sm" w="sm"/>
            <a:tailEnd type="none" len="sm" w="sm"/>
          </a:ln>
        </p:spPr>
      </p:sp>
      <p:sp>
        <p:nvSpPr>
          <p:cNvPr name="Freeform 29" id="29"/>
          <p:cNvSpPr/>
          <p:nvPr/>
        </p:nvSpPr>
        <p:spPr>
          <a:xfrm>
            <a:off x="5723715" y="3354388"/>
            <a:ext cx="1275316" cy="634588"/>
          </a:xfrm>
          <a:custGeom>
            <a:avLst/>
            <a:gdLst/>
            <a:ahLst/>
            <a:cxnLst/>
            <a:rect r="r" b="b" t="t" l="l"/>
            <a:pathLst>
              <a:path h="634588" w="1275316">
                <a:moveTo>
                  <a:pt x="1275316" y="634588"/>
                </a:moveTo>
                <a:lnTo>
                  <a:pt x="866258" y="634588"/>
                </a:lnTo>
                <a:cubicBezTo>
                  <a:pt x="805629" y="634588"/>
                  <a:pt x="747484" y="610503"/>
                  <a:pt x="704613" y="567633"/>
                </a:cubicBezTo>
                <a:cubicBezTo>
                  <a:pt x="661743" y="524762"/>
                  <a:pt x="637658" y="466616"/>
                  <a:pt x="637658" y="405988"/>
                </a:cubicBezTo>
                <a:lnTo>
                  <a:pt x="637658" y="228600"/>
                </a:lnTo>
                <a:cubicBezTo>
                  <a:pt x="637658" y="167971"/>
                  <a:pt x="613573" y="109826"/>
                  <a:pt x="570703" y="66955"/>
                </a:cubicBezTo>
                <a:cubicBezTo>
                  <a:pt x="527832" y="24084"/>
                  <a:pt x="469686" y="0"/>
                  <a:pt x="409058" y="0"/>
                </a:cubicBezTo>
                <a:lnTo>
                  <a:pt x="0" y="0"/>
                </a:lnTo>
              </a:path>
            </a:pathLst>
          </a:custGeom>
          <a:ln cap="rnd" w="38100">
            <a:solidFill>
              <a:srgbClr val="56E11B"/>
            </a:solidFill>
            <a:prstDash val="lgDash"/>
            <a:headEnd type="none" len="sm" w="sm"/>
            <a:tailEnd type="none" len="sm" w="sm"/>
          </a:ln>
        </p:spPr>
      </p:sp>
      <p:sp>
        <p:nvSpPr>
          <p:cNvPr name="Freeform 30" id="30"/>
          <p:cNvSpPr/>
          <p:nvPr/>
        </p:nvSpPr>
        <p:spPr>
          <a:xfrm>
            <a:off x="5765807" y="5981700"/>
            <a:ext cx="2330443" cy="1570990"/>
          </a:xfrm>
          <a:custGeom>
            <a:avLst/>
            <a:gdLst/>
            <a:ahLst/>
            <a:cxnLst/>
            <a:rect r="r" b="b" t="t" l="l"/>
            <a:pathLst>
              <a:path h="1570990" w="2330443">
                <a:moveTo>
                  <a:pt x="2330443" y="0"/>
                </a:moveTo>
                <a:lnTo>
                  <a:pt x="526007" y="0"/>
                </a:lnTo>
                <a:cubicBezTo>
                  <a:pt x="399754" y="0"/>
                  <a:pt x="297407" y="102348"/>
                  <a:pt x="297407" y="228600"/>
                </a:cubicBezTo>
                <a:lnTo>
                  <a:pt x="297407" y="1422287"/>
                </a:lnTo>
                <a:cubicBezTo>
                  <a:pt x="297407" y="1461726"/>
                  <a:pt x="281740" y="1499549"/>
                  <a:pt x="253852" y="1527436"/>
                </a:cubicBezTo>
                <a:cubicBezTo>
                  <a:pt x="225965" y="1555323"/>
                  <a:pt x="188142" y="1570990"/>
                  <a:pt x="148704" y="1570990"/>
                </a:cubicBezTo>
                <a:lnTo>
                  <a:pt x="0" y="1570990"/>
                </a:lnTo>
              </a:path>
            </a:pathLst>
          </a:custGeom>
          <a:ln cap="rnd" w="38100">
            <a:solidFill>
              <a:srgbClr val="000038"/>
            </a:solidFill>
            <a:prstDash val="lgDash"/>
            <a:headEnd type="none" len="sm" w="sm"/>
            <a:tailEnd type="none" len="sm" w="sm"/>
          </a:ln>
        </p:spPr>
      </p:sp>
      <p:sp>
        <p:nvSpPr>
          <p:cNvPr name="Freeform 31" id="31"/>
          <p:cNvSpPr/>
          <p:nvPr/>
        </p:nvSpPr>
        <p:spPr>
          <a:xfrm flipH="false" flipV="false" rot="0">
            <a:off x="1879124" y="4670656"/>
            <a:ext cx="3526515" cy="329969"/>
          </a:xfrm>
          <a:custGeom>
            <a:avLst/>
            <a:gdLst/>
            <a:ahLst/>
            <a:cxnLst/>
            <a:rect r="r" b="b" t="t" l="l"/>
            <a:pathLst>
              <a:path h="329969" w="3526515">
                <a:moveTo>
                  <a:pt x="0" y="0"/>
                </a:moveTo>
                <a:lnTo>
                  <a:pt x="3526516" y="0"/>
                </a:lnTo>
                <a:lnTo>
                  <a:pt x="3526516" y="329969"/>
                </a:lnTo>
                <a:lnTo>
                  <a:pt x="0" y="329969"/>
                </a:lnTo>
                <a:lnTo>
                  <a:pt x="0" y="0"/>
                </a:lnTo>
                <a:close/>
              </a:path>
            </a:pathLst>
          </a:custGeom>
          <a:blipFill>
            <a:blip r:embed="rId4">
              <a:alphaModFix amt="43999"/>
            </a:blip>
            <a:stretch>
              <a:fillRect l="0" t="-179815" r="0" b="0"/>
            </a:stretch>
          </a:blipFill>
        </p:spPr>
      </p:sp>
      <p:sp>
        <p:nvSpPr>
          <p:cNvPr name="Freeform 32" id="32"/>
          <p:cNvSpPr/>
          <p:nvPr/>
        </p:nvSpPr>
        <p:spPr>
          <a:xfrm flipH="false" flipV="false" rot="0">
            <a:off x="12355519" y="4670656"/>
            <a:ext cx="3526515" cy="329969"/>
          </a:xfrm>
          <a:custGeom>
            <a:avLst/>
            <a:gdLst/>
            <a:ahLst/>
            <a:cxnLst/>
            <a:rect r="r" b="b" t="t" l="l"/>
            <a:pathLst>
              <a:path h="329969" w="3526515">
                <a:moveTo>
                  <a:pt x="0" y="0"/>
                </a:moveTo>
                <a:lnTo>
                  <a:pt x="3526515" y="0"/>
                </a:lnTo>
                <a:lnTo>
                  <a:pt x="3526515" y="329969"/>
                </a:lnTo>
                <a:lnTo>
                  <a:pt x="0" y="329969"/>
                </a:lnTo>
                <a:lnTo>
                  <a:pt x="0" y="0"/>
                </a:lnTo>
                <a:close/>
              </a:path>
            </a:pathLst>
          </a:custGeom>
          <a:blipFill>
            <a:blip r:embed="rId4">
              <a:alphaModFix amt="43999"/>
            </a:blip>
            <a:stretch>
              <a:fillRect l="0" t="-179815" r="0" b="0"/>
            </a:stretch>
          </a:blipFill>
        </p:spPr>
      </p:sp>
      <p:sp>
        <p:nvSpPr>
          <p:cNvPr name="Freeform 33" id="33"/>
          <p:cNvSpPr/>
          <p:nvPr/>
        </p:nvSpPr>
        <p:spPr>
          <a:xfrm flipH="false" flipV="false" rot="0">
            <a:off x="12355519" y="9537931"/>
            <a:ext cx="3526515" cy="329969"/>
          </a:xfrm>
          <a:custGeom>
            <a:avLst/>
            <a:gdLst/>
            <a:ahLst/>
            <a:cxnLst/>
            <a:rect r="r" b="b" t="t" l="l"/>
            <a:pathLst>
              <a:path h="329969" w="3526515">
                <a:moveTo>
                  <a:pt x="0" y="0"/>
                </a:moveTo>
                <a:lnTo>
                  <a:pt x="3526515" y="0"/>
                </a:lnTo>
                <a:lnTo>
                  <a:pt x="3526515" y="329969"/>
                </a:lnTo>
                <a:lnTo>
                  <a:pt x="0" y="329969"/>
                </a:lnTo>
                <a:lnTo>
                  <a:pt x="0" y="0"/>
                </a:lnTo>
                <a:close/>
              </a:path>
            </a:pathLst>
          </a:custGeom>
          <a:blipFill>
            <a:blip r:embed="rId4">
              <a:alphaModFix amt="43999"/>
            </a:blip>
            <a:stretch>
              <a:fillRect l="0" t="-179815" r="0" b="0"/>
            </a:stretch>
          </a:blipFill>
        </p:spPr>
      </p:sp>
      <p:sp>
        <p:nvSpPr>
          <p:cNvPr name="Freeform 34" id="34"/>
          <p:cNvSpPr/>
          <p:nvPr/>
        </p:nvSpPr>
        <p:spPr>
          <a:xfrm flipH="false" flipV="false" rot="0">
            <a:off x="1879124" y="8886763"/>
            <a:ext cx="3526515" cy="329969"/>
          </a:xfrm>
          <a:custGeom>
            <a:avLst/>
            <a:gdLst/>
            <a:ahLst/>
            <a:cxnLst/>
            <a:rect r="r" b="b" t="t" l="l"/>
            <a:pathLst>
              <a:path h="329969" w="3526515">
                <a:moveTo>
                  <a:pt x="0" y="0"/>
                </a:moveTo>
                <a:lnTo>
                  <a:pt x="3526516" y="0"/>
                </a:lnTo>
                <a:lnTo>
                  <a:pt x="3526516" y="329969"/>
                </a:lnTo>
                <a:lnTo>
                  <a:pt x="0" y="329969"/>
                </a:lnTo>
                <a:lnTo>
                  <a:pt x="0" y="0"/>
                </a:lnTo>
                <a:close/>
              </a:path>
            </a:pathLst>
          </a:custGeom>
          <a:blipFill>
            <a:blip r:embed="rId4">
              <a:alphaModFix amt="43999"/>
            </a:blip>
            <a:stretch>
              <a:fillRect l="0" t="-179815" r="0" b="0"/>
            </a:stretch>
          </a:blipFill>
        </p:spPr>
      </p:sp>
      <p:sp>
        <p:nvSpPr>
          <p:cNvPr name="Freeform 35" id="35"/>
          <p:cNvSpPr/>
          <p:nvPr/>
        </p:nvSpPr>
        <p:spPr>
          <a:xfrm flipH="false" flipV="false" rot="0">
            <a:off x="6737094" y="4251506"/>
            <a:ext cx="523875" cy="629108"/>
          </a:xfrm>
          <a:custGeom>
            <a:avLst/>
            <a:gdLst/>
            <a:ahLst/>
            <a:cxnLst/>
            <a:rect r="r" b="b" t="t" l="l"/>
            <a:pathLst>
              <a:path h="629108" w="523875">
                <a:moveTo>
                  <a:pt x="0" y="0"/>
                </a:moveTo>
                <a:lnTo>
                  <a:pt x="523875" y="0"/>
                </a:lnTo>
                <a:lnTo>
                  <a:pt x="523875" y="629107"/>
                </a:lnTo>
                <a:lnTo>
                  <a:pt x="0" y="62910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36" id="36"/>
          <p:cNvSpPr/>
          <p:nvPr/>
        </p:nvSpPr>
        <p:spPr>
          <a:xfrm flipH="false" flipV="false" rot="0">
            <a:off x="11082471" y="4569913"/>
            <a:ext cx="523875" cy="502595"/>
          </a:xfrm>
          <a:custGeom>
            <a:avLst/>
            <a:gdLst/>
            <a:ahLst/>
            <a:cxnLst/>
            <a:rect r="r" b="b" t="t" l="l"/>
            <a:pathLst>
              <a:path h="502595" w="523875">
                <a:moveTo>
                  <a:pt x="0" y="0"/>
                </a:moveTo>
                <a:lnTo>
                  <a:pt x="523875" y="0"/>
                </a:lnTo>
                <a:lnTo>
                  <a:pt x="523875" y="502594"/>
                </a:lnTo>
                <a:lnTo>
                  <a:pt x="0" y="5025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37" id="37"/>
          <p:cNvSpPr/>
          <p:nvPr/>
        </p:nvSpPr>
        <p:spPr>
          <a:xfrm flipH="false" flipV="false" rot="0">
            <a:off x="9029080" y="7111841"/>
            <a:ext cx="523875" cy="444817"/>
          </a:xfrm>
          <a:custGeom>
            <a:avLst/>
            <a:gdLst/>
            <a:ahLst/>
            <a:cxnLst/>
            <a:rect r="r" b="b" t="t" l="l"/>
            <a:pathLst>
              <a:path h="444817" w="523875">
                <a:moveTo>
                  <a:pt x="0" y="0"/>
                </a:moveTo>
                <a:lnTo>
                  <a:pt x="523875" y="0"/>
                </a:lnTo>
                <a:lnTo>
                  <a:pt x="523875" y="444818"/>
                </a:lnTo>
                <a:lnTo>
                  <a:pt x="0" y="44481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38" id="38"/>
          <p:cNvSpPr/>
          <p:nvPr/>
        </p:nvSpPr>
        <p:spPr>
          <a:xfrm flipH="false" flipV="false" rot="0">
            <a:off x="8405813" y="5815012"/>
            <a:ext cx="523875" cy="371475"/>
          </a:xfrm>
          <a:custGeom>
            <a:avLst/>
            <a:gdLst/>
            <a:ahLst/>
            <a:cxnLst/>
            <a:rect r="r" b="b" t="t" l="l"/>
            <a:pathLst>
              <a:path h="371475" w="523875">
                <a:moveTo>
                  <a:pt x="0" y="0"/>
                </a:moveTo>
                <a:lnTo>
                  <a:pt x="523875" y="0"/>
                </a:lnTo>
                <a:lnTo>
                  <a:pt x="523875" y="371476"/>
                </a:lnTo>
                <a:lnTo>
                  <a:pt x="0" y="37147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AutoShape 39" id="39"/>
          <p:cNvSpPr/>
          <p:nvPr/>
        </p:nvSpPr>
        <p:spPr>
          <a:xfrm>
            <a:off x="6056044" y="1785595"/>
            <a:ext cx="6492240" cy="0"/>
          </a:xfrm>
          <a:prstGeom prst="line">
            <a:avLst/>
          </a:prstGeom>
          <a:ln cap="flat" w="38100">
            <a:solidFill>
              <a:srgbClr val="E44650"/>
            </a:solidFill>
            <a:prstDash val="solid"/>
            <a:headEnd type="none" len="sm" w="sm"/>
            <a:tailEnd type="none" len="sm" w="sm"/>
          </a:ln>
        </p:spPr>
      </p:sp>
      <p:grpSp>
        <p:nvGrpSpPr>
          <p:cNvPr name="Group 40" id="40"/>
          <p:cNvGrpSpPr/>
          <p:nvPr/>
        </p:nvGrpSpPr>
        <p:grpSpPr>
          <a:xfrm rot="0">
            <a:off x="10510971" y="6077730"/>
            <a:ext cx="1143000" cy="1143000"/>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6EEE0"/>
            </a:solidFill>
            <a:ln w="95250" cap="sq">
              <a:solidFill>
                <a:srgbClr val="FFFFFF"/>
              </a:solidFill>
              <a:prstDash val="solid"/>
              <a:miter/>
            </a:ln>
          </p:spPr>
        </p:sp>
        <p:sp>
          <p:nvSpPr>
            <p:cNvPr name="TextBox 42" id="42"/>
            <p:cNvSpPr txBox="true"/>
            <p:nvPr/>
          </p:nvSpPr>
          <p:spPr>
            <a:xfrm>
              <a:off x="76200" y="19050"/>
              <a:ext cx="660400" cy="717550"/>
            </a:xfrm>
            <a:prstGeom prst="rect">
              <a:avLst/>
            </a:prstGeom>
          </p:spPr>
          <p:txBody>
            <a:bodyPr anchor="ctr" rtlCol="false" tIns="50800" lIns="50800" bIns="50800" rIns="50800"/>
            <a:lstStyle/>
            <a:p>
              <a:pPr algn="ctr" marL="0" indent="0" lvl="0">
                <a:lnSpc>
                  <a:spcPts val="4059"/>
                </a:lnSpc>
                <a:spcBef>
                  <a:spcPct val="0"/>
                </a:spcBef>
              </a:pPr>
            </a:p>
          </p:txBody>
        </p:sp>
      </p:grpSp>
      <p:grpSp>
        <p:nvGrpSpPr>
          <p:cNvPr name="Group 43" id="43"/>
          <p:cNvGrpSpPr/>
          <p:nvPr/>
        </p:nvGrpSpPr>
        <p:grpSpPr>
          <a:xfrm rot="-2700000">
            <a:off x="12477539" y="5562047"/>
            <a:ext cx="251931" cy="251931"/>
            <a:chOff x="0" y="0"/>
            <a:chExt cx="66352" cy="66352"/>
          </a:xfrm>
        </p:grpSpPr>
        <p:sp>
          <p:nvSpPr>
            <p:cNvPr name="Freeform 44" id="44"/>
            <p:cNvSpPr/>
            <p:nvPr/>
          </p:nvSpPr>
          <p:spPr>
            <a:xfrm flipH="false" flipV="false" rot="0">
              <a:off x="0" y="0"/>
              <a:ext cx="66352" cy="66352"/>
            </a:xfrm>
            <a:custGeom>
              <a:avLst/>
              <a:gdLst/>
              <a:ahLst/>
              <a:cxnLst/>
              <a:rect r="r" b="b" t="t" l="l"/>
              <a:pathLst>
                <a:path h="66352" w="66352">
                  <a:moveTo>
                    <a:pt x="33176" y="0"/>
                  </a:moveTo>
                  <a:lnTo>
                    <a:pt x="33176" y="0"/>
                  </a:lnTo>
                  <a:cubicBezTo>
                    <a:pt x="41975" y="0"/>
                    <a:pt x="50413" y="3495"/>
                    <a:pt x="56635" y="9717"/>
                  </a:cubicBezTo>
                  <a:cubicBezTo>
                    <a:pt x="62857" y="15939"/>
                    <a:pt x="66352" y="24377"/>
                    <a:pt x="66352" y="33176"/>
                  </a:cubicBezTo>
                  <a:lnTo>
                    <a:pt x="66352" y="33176"/>
                  </a:lnTo>
                  <a:cubicBezTo>
                    <a:pt x="66352" y="41975"/>
                    <a:pt x="62857" y="50413"/>
                    <a:pt x="56635" y="56635"/>
                  </a:cubicBezTo>
                  <a:cubicBezTo>
                    <a:pt x="50413" y="62857"/>
                    <a:pt x="41975" y="66352"/>
                    <a:pt x="33176" y="66352"/>
                  </a:cubicBezTo>
                  <a:lnTo>
                    <a:pt x="33176" y="66352"/>
                  </a:lnTo>
                  <a:cubicBezTo>
                    <a:pt x="24377" y="66352"/>
                    <a:pt x="15939" y="62857"/>
                    <a:pt x="9717" y="56635"/>
                  </a:cubicBezTo>
                  <a:cubicBezTo>
                    <a:pt x="3495" y="50413"/>
                    <a:pt x="0" y="41975"/>
                    <a:pt x="0" y="33176"/>
                  </a:cubicBezTo>
                  <a:lnTo>
                    <a:pt x="0" y="33176"/>
                  </a:lnTo>
                  <a:cubicBezTo>
                    <a:pt x="0" y="24377"/>
                    <a:pt x="3495" y="15939"/>
                    <a:pt x="9717" y="9717"/>
                  </a:cubicBezTo>
                  <a:cubicBezTo>
                    <a:pt x="15939" y="3495"/>
                    <a:pt x="24377" y="0"/>
                    <a:pt x="33176" y="0"/>
                  </a:cubicBezTo>
                  <a:close/>
                </a:path>
              </a:pathLst>
            </a:custGeom>
            <a:solidFill>
              <a:srgbClr val="602E9E"/>
            </a:solidFill>
            <a:ln w="38100" cap="sq">
              <a:solidFill>
                <a:srgbClr val="FFFFFF"/>
              </a:solidFill>
              <a:prstDash val="solid"/>
              <a:miter/>
            </a:ln>
          </p:spPr>
        </p:sp>
        <p:sp>
          <p:nvSpPr>
            <p:cNvPr name="TextBox 45" id="45"/>
            <p:cNvSpPr txBox="true"/>
            <p:nvPr/>
          </p:nvSpPr>
          <p:spPr>
            <a:xfrm>
              <a:off x="0" y="-57150"/>
              <a:ext cx="66352" cy="123502"/>
            </a:xfrm>
            <a:prstGeom prst="rect">
              <a:avLst/>
            </a:prstGeom>
          </p:spPr>
          <p:txBody>
            <a:bodyPr anchor="ctr" rtlCol="false" tIns="50800" lIns="50800" bIns="50800" rIns="50800"/>
            <a:lstStyle/>
            <a:p>
              <a:pPr algn="ctr" marL="0" indent="0" lvl="0">
                <a:lnSpc>
                  <a:spcPts val="4059"/>
                </a:lnSpc>
                <a:spcBef>
                  <a:spcPct val="0"/>
                </a:spcBef>
              </a:pPr>
            </a:p>
          </p:txBody>
        </p:sp>
      </p:grpSp>
      <p:sp>
        <p:nvSpPr>
          <p:cNvPr name="Freeform 46" id="46"/>
          <p:cNvSpPr/>
          <p:nvPr/>
        </p:nvSpPr>
        <p:spPr>
          <a:xfrm flipH="false" flipV="false" rot="0">
            <a:off x="12779382" y="7004281"/>
            <a:ext cx="3526515" cy="329969"/>
          </a:xfrm>
          <a:custGeom>
            <a:avLst/>
            <a:gdLst/>
            <a:ahLst/>
            <a:cxnLst/>
            <a:rect r="r" b="b" t="t" l="l"/>
            <a:pathLst>
              <a:path h="329969" w="3526515">
                <a:moveTo>
                  <a:pt x="0" y="0"/>
                </a:moveTo>
                <a:lnTo>
                  <a:pt x="3526515" y="0"/>
                </a:lnTo>
                <a:lnTo>
                  <a:pt x="3526515" y="329969"/>
                </a:lnTo>
                <a:lnTo>
                  <a:pt x="0" y="329969"/>
                </a:lnTo>
                <a:lnTo>
                  <a:pt x="0" y="0"/>
                </a:lnTo>
                <a:close/>
              </a:path>
            </a:pathLst>
          </a:custGeom>
          <a:blipFill>
            <a:blip r:embed="rId4">
              <a:alphaModFix amt="43999"/>
            </a:blip>
            <a:stretch>
              <a:fillRect l="0" t="-179815" r="0" b="0"/>
            </a:stretch>
          </a:blipFill>
        </p:spPr>
      </p:sp>
      <p:sp>
        <p:nvSpPr>
          <p:cNvPr name="Freeform 47" id="47"/>
          <p:cNvSpPr/>
          <p:nvPr/>
        </p:nvSpPr>
        <p:spPr>
          <a:xfrm>
            <a:off x="11673021" y="5688012"/>
            <a:ext cx="696155" cy="773245"/>
          </a:xfrm>
          <a:custGeom>
            <a:avLst/>
            <a:gdLst/>
            <a:ahLst/>
            <a:cxnLst/>
            <a:rect r="r" b="b" t="t" l="l"/>
            <a:pathLst>
              <a:path h="773245" w="696155">
                <a:moveTo>
                  <a:pt x="0" y="773246"/>
                </a:moveTo>
                <a:lnTo>
                  <a:pt x="467555" y="773246"/>
                </a:lnTo>
                <a:cubicBezTo>
                  <a:pt x="528184" y="773246"/>
                  <a:pt x="586329" y="749161"/>
                  <a:pt x="629199" y="706291"/>
                </a:cubicBezTo>
                <a:cubicBezTo>
                  <a:pt x="672070" y="663420"/>
                  <a:pt x="696155" y="605274"/>
                  <a:pt x="696155" y="544646"/>
                </a:cubicBezTo>
                <a:lnTo>
                  <a:pt x="696155" y="0"/>
                </a:lnTo>
              </a:path>
            </a:pathLst>
          </a:custGeom>
          <a:ln cap="rnd" w="38100">
            <a:solidFill>
              <a:srgbClr val="7778ED"/>
            </a:solidFill>
            <a:prstDash val="lgDash"/>
            <a:headEnd type="none" len="sm" w="sm"/>
            <a:tailEnd type="none" len="sm" w="sm"/>
          </a:ln>
        </p:spPr>
      </p:sp>
      <p:sp>
        <p:nvSpPr>
          <p:cNvPr name="Freeform 48" id="48"/>
          <p:cNvSpPr/>
          <p:nvPr/>
        </p:nvSpPr>
        <p:spPr>
          <a:xfrm flipH="false" flipV="false" rot="0">
            <a:off x="10818134" y="6461258"/>
            <a:ext cx="575128" cy="402590"/>
          </a:xfrm>
          <a:custGeom>
            <a:avLst/>
            <a:gdLst/>
            <a:ahLst/>
            <a:cxnLst/>
            <a:rect r="r" b="b" t="t" l="l"/>
            <a:pathLst>
              <a:path h="402590" w="575128">
                <a:moveTo>
                  <a:pt x="0" y="0"/>
                </a:moveTo>
                <a:lnTo>
                  <a:pt x="575129" y="0"/>
                </a:lnTo>
                <a:lnTo>
                  <a:pt x="575129" y="402590"/>
                </a:lnTo>
                <a:lnTo>
                  <a:pt x="0" y="40259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49" id="49"/>
          <p:cNvSpPr txBox="true"/>
          <p:nvPr/>
        </p:nvSpPr>
        <p:spPr>
          <a:xfrm rot="0">
            <a:off x="1879124" y="3181985"/>
            <a:ext cx="3333750" cy="306705"/>
          </a:xfrm>
          <a:prstGeom prst="rect">
            <a:avLst/>
          </a:prstGeom>
        </p:spPr>
        <p:txBody>
          <a:bodyPr anchor="t" rtlCol="false" tIns="0" lIns="0" bIns="0" rIns="0">
            <a:spAutoFit/>
          </a:bodyPr>
          <a:lstStyle/>
          <a:p>
            <a:pPr algn="r">
              <a:lnSpc>
                <a:spcPts val="2520"/>
              </a:lnSpc>
              <a:spcBef>
                <a:spcPct val="0"/>
              </a:spcBef>
            </a:pPr>
            <a:r>
              <a:rPr lang="en-US" b="true" sz="1800">
                <a:solidFill>
                  <a:srgbClr val="000000"/>
                </a:solidFill>
                <a:latin typeface="Proxima Nova Bold"/>
                <a:ea typeface="Proxima Nova Bold"/>
                <a:cs typeface="Proxima Nova Bold"/>
                <a:sym typeface="Proxima Nova Bold"/>
              </a:rPr>
              <a:t>Dynamic Buffer Pricing</a:t>
            </a:r>
          </a:p>
        </p:txBody>
      </p:sp>
      <p:sp>
        <p:nvSpPr>
          <p:cNvPr name="TextBox 50" id="50"/>
          <p:cNvSpPr txBox="true"/>
          <p:nvPr/>
        </p:nvSpPr>
        <p:spPr>
          <a:xfrm rot="0">
            <a:off x="1905000" y="7399337"/>
            <a:ext cx="3333750" cy="306705"/>
          </a:xfrm>
          <a:prstGeom prst="rect">
            <a:avLst/>
          </a:prstGeom>
        </p:spPr>
        <p:txBody>
          <a:bodyPr anchor="t" rtlCol="false" tIns="0" lIns="0" bIns="0" rIns="0">
            <a:spAutoFit/>
          </a:bodyPr>
          <a:lstStyle/>
          <a:p>
            <a:pPr algn="r">
              <a:lnSpc>
                <a:spcPts val="2520"/>
              </a:lnSpc>
              <a:spcBef>
                <a:spcPct val="0"/>
              </a:spcBef>
            </a:pPr>
            <a:r>
              <a:rPr lang="en-US" b="true" sz="1800">
                <a:solidFill>
                  <a:srgbClr val="000000"/>
                </a:solidFill>
                <a:latin typeface="Proxima Nova Bold"/>
                <a:ea typeface="Proxima Nova Bold"/>
                <a:cs typeface="Proxima Nova Bold"/>
                <a:sym typeface="Proxima Nova Bold"/>
              </a:rPr>
              <a:t>Interactive Voice Booking</a:t>
            </a:r>
          </a:p>
        </p:txBody>
      </p:sp>
      <p:sp>
        <p:nvSpPr>
          <p:cNvPr name="TextBox 51" id="51"/>
          <p:cNvSpPr txBox="true"/>
          <p:nvPr/>
        </p:nvSpPr>
        <p:spPr>
          <a:xfrm rot="0">
            <a:off x="1028700" y="3641090"/>
            <a:ext cx="4184174" cy="1352550"/>
          </a:xfrm>
          <a:prstGeom prst="rect">
            <a:avLst/>
          </a:prstGeom>
        </p:spPr>
        <p:txBody>
          <a:bodyPr anchor="t" rtlCol="false" tIns="0" lIns="0" bIns="0" rIns="0">
            <a:spAutoFit/>
          </a:bodyPr>
          <a:lstStyle/>
          <a:p>
            <a:pPr algn="r">
              <a:lnSpc>
                <a:spcPts val="2239"/>
              </a:lnSpc>
              <a:spcBef>
                <a:spcPct val="0"/>
              </a:spcBef>
            </a:pPr>
            <a:r>
              <a:rPr lang="en-US" sz="1599">
                <a:solidFill>
                  <a:srgbClr val="000000"/>
                </a:solidFill>
                <a:latin typeface="Proxima Nova"/>
                <a:ea typeface="Proxima Nova"/>
                <a:cs typeface="Proxima Nova"/>
                <a:sym typeface="Proxima Nova"/>
              </a:rPr>
              <a:t>Machine-le</a:t>
            </a:r>
            <a:r>
              <a:rPr lang="en-US" sz="1599">
                <a:solidFill>
                  <a:srgbClr val="000000"/>
                </a:solidFill>
                <a:latin typeface="Proxima Nova"/>
                <a:ea typeface="Proxima Nova"/>
                <a:cs typeface="Proxima Nova"/>
                <a:sym typeface="Proxima Nova"/>
              </a:rPr>
              <a:t>arning powered prediction models that automatically adjust scheduling slot price rates during high-demand periods.</a:t>
            </a:r>
          </a:p>
          <a:p>
            <a:pPr algn="r">
              <a:lnSpc>
                <a:spcPts val="2239"/>
              </a:lnSpc>
              <a:spcBef>
                <a:spcPct val="0"/>
              </a:spcBef>
            </a:pPr>
          </a:p>
          <a:p>
            <a:pPr algn="r">
              <a:lnSpc>
                <a:spcPts val="1960"/>
              </a:lnSpc>
              <a:spcBef>
                <a:spcPct val="0"/>
              </a:spcBef>
            </a:pPr>
          </a:p>
        </p:txBody>
      </p:sp>
      <p:sp>
        <p:nvSpPr>
          <p:cNvPr name="TextBox 52" id="52"/>
          <p:cNvSpPr txBox="true"/>
          <p:nvPr/>
        </p:nvSpPr>
        <p:spPr>
          <a:xfrm rot="0">
            <a:off x="832498" y="7858442"/>
            <a:ext cx="4406252" cy="1378585"/>
          </a:xfrm>
          <a:prstGeom prst="rect">
            <a:avLst/>
          </a:prstGeom>
        </p:spPr>
        <p:txBody>
          <a:bodyPr anchor="t" rtlCol="false" tIns="0" lIns="0" bIns="0" rIns="0">
            <a:spAutoFit/>
          </a:bodyPr>
          <a:lstStyle/>
          <a:p>
            <a:pPr algn="r">
              <a:lnSpc>
                <a:spcPts val="2239"/>
              </a:lnSpc>
              <a:spcBef>
                <a:spcPct val="0"/>
              </a:spcBef>
            </a:pPr>
            <a:r>
              <a:rPr lang="en-US" sz="1599">
                <a:solidFill>
                  <a:srgbClr val="000000"/>
                </a:solidFill>
                <a:latin typeface="Proxima Nova"/>
                <a:ea typeface="Proxima Nova"/>
                <a:cs typeface="Proxima Nova"/>
                <a:sym typeface="Proxima Nova"/>
              </a:rPr>
              <a:t>Extending th</a:t>
            </a:r>
            <a:r>
              <a:rPr lang="en-US" sz="1599">
                <a:solidFill>
                  <a:srgbClr val="000000"/>
                </a:solidFill>
                <a:latin typeface="Proxima Nova"/>
                <a:ea typeface="Proxima Nova"/>
                <a:cs typeface="Proxima Nova"/>
                <a:sym typeface="Proxima Nova"/>
              </a:rPr>
              <a:t>e RAG conversational assistant into voice telephony (VAPI/Twilio), facilitating seamless hands-free audio reservations.</a:t>
            </a:r>
          </a:p>
          <a:p>
            <a:pPr algn="r">
              <a:lnSpc>
                <a:spcPts val="2239"/>
              </a:lnSpc>
              <a:spcBef>
                <a:spcPct val="0"/>
              </a:spcBef>
            </a:pPr>
          </a:p>
          <a:p>
            <a:pPr algn="r">
              <a:lnSpc>
                <a:spcPts val="2239"/>
              </a:lnSpc>
              <a:spcBef>
                <a:spcPct val="0"/>
              </a:spcBef>
            </a:pPr>
          </a:p>
        </p:txBody>
      </p:sp>
      <p:sp>
        <p:nvSpPr>
          <p:cNvPr name="TextBox 53" id="53"/>
          <p:cNvSpPr txBox="true"/>
          <p:nvPr/>
        </p:nvSpPr>
        <p:spPr>
          <a:xfrm rot="0">
            <a:off x="3714750" y="885825"/>
            <a:ext cx="10858500" cy="613410"/>
          </a:xfrm>
          <a:prstGeom prst="rect">
            <a:avLst/>
          </a:prstGeom>
        </p:spPr>
        <p:txBody>
          <a:bodyPr anchor="t" rtlCol="false" tIns="0" lIns="0" bIns="0" rIns="0">
            <a:spAutoFit/>
          </a:bodyPr>
          <a:lstStyle/>
          <a:p>
            <a:pPr algn="ctr">
              <a:lnSpc>
                <a:spcPts val="5040"/>
              </a:lnSpc>
              <a:spcBef>
                <a:spcPct val="0"/>
              </a:spcBef>
            </a:pPr>
            <a:r>
              <a:rPr lang="en-US" b="true" sz="3600">
                <a:solidFill>
                  <a:srgbClr val="000000"/>
                </a:solidFill>
                <a:latin typeface="Proxima Nova Bold"/>
                <a:ea typeface="Proxima Nova Bold"/>
                <a:cs typeface="Proxima Nova Bold"/>
                <a:sym typeface="Proxima Nova Bold"/>
              </a:rPr>
              <a:t>Future Scope</a:t>
            </a:r>
          </a:p>
        </p:txBody>
      </p:sp>
      <p:sp>
        <p:nvSpPr>
          <p:cNvPr name="TextBox 54" id="54"/>
          <p:cNvSpPr txBox="true"/>
          <p:nvPr/>
        </p:nvSpPr>
        <p:spPr>
          <a:xfrm rot="0">
            <a:off x="12548284" y="3181985"/>
            <a:ext cx="3333750" cy="306705"/>
          </a:xfrm>
          <a:prstGeom prst="rect">
            <a:avLst/>
          </a:prstGeom>
        </p:spPr>
        <p:txBody>
          <a:bodyPr anchor="t" rtlCol="false" tIns="0" lIns="0" bIns="0" rIns="0">
            <a:spAutoFit/>
          </a:bodyPr>
          <a:lstStyle/>
          <a:p>
            <a:pPr algn="l">
              <a:lnSpc>
                <a:spcPts val="2520"/>
              </a:lnSpc>
              <a:spcBef>
                <a:spcPct val="0"/>
              </a:spcBef>
            </a:pPr>
            <a:r>
              <a:rPr lang="en-US" b="true" sz="1800">
                <a:solidFill>
                  <a:srgbClr val="000000"/>
                </a:solidFill>
                <a:latin typeface="Proxima Nova Bold"/>
                <a:ea typeface="Proxima Nova Bold"/>
                <a:cs typeface="Proxima Nova Bold"/>
                <a:sym typeface="Proxima Nova Bold"/>
              </a:rPr>
              <a:t>Predictive Scheduling Matching</a:t>
            </a:r>
          </a:p>
        </p:txBody>
      </p:sp>
      <p:sp>
        <p:nvSpPr>
          <p:cNvPr name="TextBox 55" id="55"/>
          <p:cNvSpPr txBox="true"/>
          <p:nvPr/>
        </p:nvSpPr>
        <p:spPr>
          <a:xfrm rot="0">
            <a:off x="12548284" y="8044827"/>
            <a:ext cx="3333750" cy="306705"/>
          </a:xfrm>
          <a:prstGeom prst="rect">
            <a:avLst/>
          </a:prstGeom>
        </p:spPr>
        <p:txBody>
          <a:bodyPr anchor="t" rtlCol="false" tIns="0" lIns="0" bIns="0" rIns="0">
            <a:spAutoFit/>
          </a:bodyPr>
          <a:lstStyle/>
          <a:p>
            <a:pPr algn="l">
              <a:lnSpc>
                <a:spcPts val="2520"/>
              </a:lnSpc>
              <a:spcBef>
                <a:spcPct val="0"/>
              </a:spcBef>
            </a:pPr>
            <a:r>
              <a:rPr lang="en-US" b="true" sz="1800">
                <a:solidFill>
                  <a:srgbClr val="000000"/>
                </a:solidFill>
                <a:latin typeface="Proxima Nova Bold"/>
                <a:ea typeface="Proxima Nova Bold"/>
                <a:cs typeface="Proxima Nova Bold"/>
                <a:sym typeface="Proxima Nova Bold"/>
              </a:rPr>
              <a:t>Dockerized Deployment</a:t>
            </a:r>
          </a:p>
        </p:txBody>
      </p:sp>
      <p:sp>
        <p:nvSpPr>
          <p:cNvPr name="TextBox 56" id="56"/>
          <p:cNvSpPr txBox="true"/>
          <p:nvPr/>
        </p:nvSpPr>
        <p:spPr>
          <a:xfrm rot="0">
            <a:off x="12548284" y="3641090"/>
            <a:ext cx="4711016" cy="826135"/>
          </a:xfrm>
          <a:prstGeom prst="rect">
            <a:avLst/>
          </a:prstGeom>
        </p:spPr>
        <p:txBody>
          <a:bodyPr anchor="t" rtlCol="false" tIns="0" lIns="0" bIns="0" rIns="0">
            <a:spAutoFit/>
          </a:bodyPr>
          <a:lstStyle/>
          <a:p>
            <a:pPr algn="l">
              <a:lnSpc>
                <a:spcPts val="2239"/>
              </a:lnSpc>
              <a:spcBef>
                <a:spcPct val="0"/>
              </a:spcBef>
            </a:pPr>
            <a:r>
              <a:rPr lang="en-US" sz="1599">
                <a:solidFill>
                  <a:srgbClr val="000000"/>
                </a:solidFill>
                <a:latin typeface="Proxima Nova"/>
                <a:ea typeface="Proxima Nova"/>
                <a:cs typeface="Proxima Nova"/>
                <a:sym typeface="Proxima Nova"/>
              </a:rPr>
              <a:t>Analyzing</a:t>
            </a:r>
            <a:r>
              <a:rPr lang="en-US" sz="1599">
                <a:solidFill>
                  <a:srgbClr val="000000"/>
                </a:solidFill>
                <a:latin typeface="Proxima Nova"/>
                <a:ea typeface="Proxima Nova"/>
                <a:cs typeface="Proxima Nova"/>
                <a:sym typeface="Proxima Nova"/>
              </a:rPr>
              <a:t> historical booking trends to proactively suggest and lock premium slots for high-fidelity recurring customers.</a:t>
            </a:r>
          </a:p>
        </p:txBody>
      </p:sp>
      <p:sp>
        <p:nvSpPr>
          <p:cNvPr name="TextBox 57" id="57"/>
          <p:cNvSpPr txBox="true"/>
          <p:nvPr/>
        </p:nvSpPr>
        <p:spPr>
          <a:xfrm rot="0">
            <a:off x="12548284" y="8503932"/>
            <a:ext cx="4711016" cy="826135"/>
          </a:xfrm>
          <a:prstGeom prst="rect">
            <a:avLst/>
          </a:prstGeom>
        </p:spPr>
        <p:txBody>
          <a:bodyPr anchor="t" rtlCol="false" tIns="0" lIns="0" bIns="0" rIns="0">
            <a:spAutoFit/>
          </a:bodyPr>
          <a:lstStyle/>
          <a:p>
            <a:pPr algn="l">
              <a:lnSpc>
                <a:spcPts val="2239"/>
              </a:lnSpc>
              <a:spcBef>
                <a:spcPct val="0"/>
              </a:spcBef>
            </a:pPr>
            <a:r>
              <a:rPr lang="en-US" sz="1599">
                <a:solidFill>
                  <a:srgbClr val="000000"/>
                </a:solidFill>
                <a:latin typeface="Proxima Nova"/>
                <a:ea typeface="Proxima Nova"/>
                <a:cs typeface="Proxima Nova"/>
                <a:sym typeface="Proxima Nova"/>
              </a:rPr>
              <a:t>Consist</a:t>
            </a:r>
            <a:r>
              <a:rPr lang="en-US" sz="1599">
                <a:solidFill>
                  <a:srgbClr val="000000"/>
                </a:solidFill>
                <a:latin typeface="Proxima Nova"/>
                <a:ea typeface="Proxima Nova"/>
                <a:cs typeface="Proxima Nova"/>
                <a:sym typeface="Proxima Nova"/>
              </a:rPr>
              <a:t>ent environments and simplified deployment.Deploy using AWS, GCP, or Azure for high availability and scalability.</a:t>
            </a:r>
          </a:p>
        </p:txBody>
      </p:sp>
      <p:sp>
        <p:nvSpPr>
          <p:cNvPr name="TextBox 58" id="58"/>
          <p:cNvSpPr txBox="true"/>
          <p:nvPr/>
        </p:nvSpPr>
        <p:spPr>
          <a:xfrm rot="0">
            <a:off x="12972147" y="5515610"/>
            <a:ext cx="3333750" cy="306705"/>
          </a:xfrm>
          <a:prstGeom prst="rect">
            <a:avLst/>
          </a:prstGeom>
        </p:spPr>
        <p:txBody>
          <a:bodyPr anchor="t" rtlCol="false" tIns="0" lIns="0" bIns="0" rIns="0">
            <a:spAutoFit/>
          </a:bodyPr>
          <a:lstStyle/>
          <a:p>
            <a:pPr algn="l">
              <a:lnSpc>
                <a:spcPts val="2520"/>
              </a:lnSpc>
              <a:spcBef>
                <a:spcPct val="0"/>
              </a:spcBef>
            </a:pPr>
            <a:r>
              <a:rPr lang="en-US" b="true" sz="1800">
                <a:solidFill>
                  <a:srgbClr val="000000"/>
                </a:solidFill>
                <a:latin typeface="Proxima Nova Bold"/>
                <a:ea typeface="Proxima Nova Bold"/>
                <a:cs typeface="Proxima Nova Bold"/>
                <a:sym typeface="Proxima Nova Bold"/>
              </a:rPr>
              <a:t>Multi Language Support</a:t>
            </a:r>
          </a:p>
        </p:txBody>
      </p:sp>
      <p:sp>
        <p:nvSpPr>
          <p:cNvPr name="TextBox 59" id="59"/>
          <p:cNvSpPr txBox="true"/>
          <p:nvPr/>
        </p:nvSpPr>
        <p:spPr>
          <a:xfrm rot="0">
            <a:off x="12972147" y="5974715"/>
            <a:ext cx="5080844" cy="826135"/>
          </a:xfrm>
          <a:prstGeom prst="rect">
            <a:avLst/>
          </a:prstGeom>
        </p:spPr>
        <p:txBody>
          <a:bodyPr anchor="t" rtlCol="false" tIns="0" lIns="0" bIns="0" rIns="0">
            <a:spAutoFit/>
          </a:bodyPr>
          <a:lstStyle/>
          <a:p>
            <a:pPr algn="l">
              <a:lnSpc>
                <a:spcPts val="2239"/>
              </a:lnSpc>
              <a:spcBef>
                <a:spcPct val="0"/>
              </a:spcBef>
            </a:pPr>
            <a:r>
              <a:rPr lang="en-US" sz="1599">
                <a:solidFill>
                  <a:srgbClr val="000000"/>
                </a:solidFill>
                <a:latin typeface="Proxima Nova"/>
                <a:ea typeface="Proxima Nova"/>
                <a:cs typeface="Proxima Nova"/>
                <a:sym typeface="Proxima Nova"/>
              </a:rPr>
              <a:t>Enable</a:t>
            </a:r>
            <a:r>
              <a:rPr lang="en-US" sz="1599">
                <a:solidFill>
                  <a:srgbClr val="000000"/>
                </a:solidFill>
                <a:latin typeface="Proxima Nova"/>
                <a:ea typeface="Proxima Nova"/>
                <a:cs typeface="Proxima Nova"/>
                <a:sym typeface="Proxima Nova"/>
              </a:rPr>
              <a:t> customers to communicate with the AI booking assistant in their preferred language through real-time multilingual conversations.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DF3F6"/>
        </a:solidFill>
      </p:bgPr>
    </p:bg>
    <p:spTree>
      <p:nvGrpSpPr>
        <p:cNvPr id="1" name=""/>
        <p:cNvGrpSpPr/>
        <p:nvPr/>
      </p:nvGrpSpPr>
      <p:grpSpPr>
        <a:xfrm>
          <a:off x="0" y="0"/>
          <a:ext cx="0" cy="0"/>
          <a:chOff x="0" y="0"/>
          <a:chExt cx="0" cy="0"/>
        </a:xfrm>
      </p:grpSpPr>
      <p:sp>
        <p:nvSpPr>
          <p:cNvPr name="TextBox 2" id="2"/>
          <p:cNvSpPr txBox="true"/>
          <p:nvPr/>
        </p:nvSpPr>
        <p:spPr>
          <a:xfrm rot="0">
            <a:off x="4227293" y="962025"/>
            <a:ext cx="9027596" cy="613410"/>
          </a:xfrm>
          <a:prstGeom prst="rect">
            <a:avLst/>
          </a:prstGeom>
        </p:spPr>
        <p:txBody>
          <a:bodyPr anchor="t" rtlCol="false" tIns="0" lIns="0" bIns="0" rIns="0">
            <a:spAutoFit/>
          </a:bodyPr>
          <a:lstStyle/>
          <a:p>
            <a:pPr algn="ctr">
              <a:lnSpc>
                <a:spcPts val="5039"/>
              </a:lnSpc>
              <a:spcBef>
                <a:spcPct val="0"/>
              </a:spcBef>
            </a:pPr>
            <a:r>
              <a:rPr lang="en-US" b="true" sz="3599">
                <a:solidFill>
                  <a:srgbClr val="000000"/>
                </a:solidFill>
                <a:latin typeface="DM Sans Bold"/>
                <a:ea typeface="DM Sans Bold"/>
                <a:cs typeface="DM Sans Bold"/>
                <a:sym typeface="DM Sans Bold"/>
              </a:rPr>
              <a:t>Challenges Faced and Solutions</a:t>
            </a:r>
          </a:p>
        </p:txBody>
      </p:sp>
      <p:sp>
        <p:nvSpPr>
          <p:cNvPr name="Freeform 3" id="3"/>
          <p:cNvSpPr/>
          <p:nvPr/>
        </p:nvSpPr>
        <p:spPr>
          <a:xfrm flipH="false" flipV="false" rot="0">
            <a:off x="2546714" y="3229542"/>
            <a:ext cx="4774544" cy="300021"/>
          </a:xfrm>
          <a:custGeom>
            <a:avLst/>
            <a:gdLst/>
            <a:ahLst/>
            <a:cxnLst/>
            <a:rect r="r" b="b" t="t" l="l"/>
            <a:pathLst>
              <a:path h="300021" w="4774544">
                <a:moveTo>
                  <a:pt x="0" y="0"/>
                </a:moveTo>
                <a:lnTo>
                  <a:pt x="4774544" y="0"/>
                </a:lnTo>
                <a:lnTo>
                  <a:pt x="4774544" y="300021"/>
                </a:lnTo>
                <a:lnTo>
                  <a:pt x="0" y="300021"/>
                </a:lnTo>
                <a:lnTo>
                  <a:pt x="0" y="0"/>
                </a:lnTo>
                <a:close/>
              </a:path>
            </a:pathLst>
          </a:custGeom>
          <a:blipFill>
            <a:blip r:embed="rId2">
              <a:alphaModFix amt="65000"/>
            </a:blip>
            <a:stretch>
              <a:fillRect l="0" t="-82288" r="0" b="0"/>
            </a:stretch>
          </a:blipFill>
        </p:spPr>
      </p:sp>
      <p:sp>
        <p:nvSpPr>
          <p:cNvPr name="Freeform 4" id="4"/>
          <p:cNvSpPr/>
          <p:nvPr/>
        </p:nvSpPr>
        <p:spPr>
          <a:xfrm flipH="false" flipV="false" rot="0">
            <a:off x="10965737" y="3229542"/>
            <a:ext cx="4774544" cy="300021"/>
          </a:xfrm>
          <a:custGeom>
            <a:avLst/>
            <a:gdLst/>
            <a:ahLst/>
            <a:cxnLst/>
            <a:rect r="r" b="b" t="t" l="l"/>
            <a:pathLst>
              <a:path h="300021" w="4774544">
                <a:moveTo>
                  <a:pt x="0" y="0"/>
                </a:moveTo>
                <a:lnTo>
                  <a:pt x="4774544" y="0"/>
                </a:lnTo>
                <a:lnTo>
                  <a:pt x="4774544" y="300021"/>
                </a:lnTo>
                <a:lnTo>
                  <a:pt x="0" y="300021"/>
                </a:lnTo>
                <a:lnTo>
                  <a:pt x="0" y="0"/>
                </a:lnTo>
                <a:close/>
              </a:path>
            </a:pathLst>
          </a:custGeom>
          <a:blipFill>
            <a:blip r:embed="rId2">
              <a:alphaModFix amt="65000"/>
            </a:blip>
            <a:stretch>
              <a:fillRect l="0" t="-82288" r="0" b="0"/>
            </a:stretch>
          </a:blipFill>
        </p:spPr>
      </p:sp>
      <p:grpSp>
        <p:nvGrpSpPr>
          <p:cNvPr name="Group 5" id="5"/>
          <p:cNvGrpSpPr/>
          <p:nvPr/>
        </p:nvGrpSpPr>
        <p:grpSpPr>
          <a:xfrm rot="0">
            <a:off x="2546714" y="2668366"/>
            <a:ext cx="4771936" cy="687686"/>
            <a:chOff x="0" y="0"/>
            <a:chExt cx="1081126" cy="155801"/>
          </a:xfrm>
        </p:grpSpPr>
        <p:sp>
          <p:nvSpPr>
            <p:cNvPr name="Freeform 6" id="6"/>
            <p:cNvSpPr/>
            <p:nvPr/>
          </p:nvSpPr>
          <p:spPr>
            <a:xfrm flipH="false" flipV="false" rot="0">
              <a:off x="0" y="0"/>
              <a:ext cx="1081126" cy="155801"/>
            </a:xfrm>
            <a:custGeom>
              <a:avLst/>
              <a:gdLst/>
              <a:ahLst/>
              <a:cxnLst/>
              <a:rect r="r" b="b" t="t" l="l"/>
              <a:pathLst>
                <a:path h="155801" w="1081126">
                  <a:moveTo>
                    <a:pt x="12979" y="0"/>
                  </a:moveTo>
                  <a:lnTo>
                    <a:pt x="1068147" y="0"/>
                  </a:lnTo>
                  <a:cubicBezTo>
                    <a:pt x="1075315" y="0"/>
                    <a:pt x="1081126" y="5811"/>
                    <a:pt x="1081126" y="12979"/>
                  </a:cubicBezTo>
                  <a:lnTo>
                    <a:pt x="1081126" y="142822"/>
                  </a:lnTo>
                  <a:cubicBezTo>
                    <a:pt x="1081126" y="146265"/>
                    <a:pt x="1079758" y="149566"/>
                    <a:pt x="1077324" y="152000"/>
                  </a:cubicBezTo>
                  <a:cubicBezTo>
                    <a:pt x="1074890" y="154434"/>
                    <a:pt x="1071589" y="155801"/>
                    <a:pt x="1068147" y="155801"/>
                  </a:cubicBezTo>
                  <a:lnTo>
                    <a:pt x="12979" y="155801"/>
                  </a:lnTo>
                  <a:cubicBezTo>
                    <a:pt x="5811" y="155801"/>
                    <a:pt x="0" y="149991"/>
                    <a:pt x="0" y="142822"/>
                  </a:cubicBezTo>
                  <a:lnTo>
                    <a:pt x="0" y="12979"/>
                  </a:lnTo>
                  <a:cubicBezTo>
                    <a:pt x="0" y="5811"/>
                    <a:pt x="5811" y="0"/>
                    <a:pt x="12979" y="0"/>
                  </a:cubicBezTo>
                  <a:close/>
                </a:path>
              </a:pathLst>
            </a:custGeom>
            <a:solidFill>
              <a:srgbClr val="02B2E4"/>
            </a:solidFill>
          </p:spPr>
        </p:sp>
        <p:sp>
          <p:nvSpPr>
            <p:cNvPr name="TextBox 7" id="7"/>
            <p:cNvSpPr txBox="true"/>
            <p:nvPr/>
          </p:nvSpPr>
          <p:spPr>
            <a:xfrm>
              <a:off x="0" y="-47625"/>
              <a:ext cx="1081126" cy="203426"/>
            </a:xfrm>
            <a:prstGeom prst="rect">
              <a:avLst/>
            </a:prstGeom>
          </p:spPr>
          <p:txBody>
            <a:bodyPr anchor="ctr" rtlCol="false" tIns="50800" lIns="50800" bIns="50800" rIns="50800"/>
            <a:lstStyle/>
            <a:p>
              <a:pPr algn="ctr" marL="0" indent="0" lvl="0">
                <a:lnSpc>
                  <a:spcPts val="3079"/>
                </a:lnSpc>
                <a:spcBef>
                  <a:spcPct val="0"/>
                </a:spcBef>
              </a:pPr>
              <a:r>
                <a:rPr lang="en-US" b="true" sz="2199">
                  <a:solidFill>
                    <a:srgbClr val="000000"/>
                  </a:solidFill>
                  <a:latin typeface="DM Sans Bold"/>
                  <a:ea typeface="DM Sans Bold"/>
                  <a:cs typeface="DM Sans Bold"/>
                  <a:sym typeface="DM Sans Bold"/>
                </a:rPr>
                <a:t>From Issues</a:t>
              </a:r>
            </a:p>
          </p:txBody>
        </p:sp>
      </p:grpSp>
      <p:grpSp>
        <p:nvGrpSpPr>
          <p:cNvPr name="Group 8" id="8"/>
          <p:cNvGrpSpPr/>
          <p:nvPr/>
        </p:nvGrpSpPr>
        <p:grpSpPr>
          <a:xfrm rot="0">
            <a:off x="7616533" y="2694936"/>
            <a:ext cx="3053929" cy="634547"/>
            <a:chOff x="0" y="0"/>
            <a:chExt cx="2567133" cy="533400"/>
          </a:xfrm>
        </p:grpSpPr>
        <p:sp>
          <p:nvSpPr>
            <p:cNvPr name="Freeform 9" id="9"/>
            <p:cNvSpPr/>
            <p:nvPr/>
          </p:nvSpPr>
          <p:spPr>
            <a:xfrm flipH="false" flipV="false" rot="0">
              <a:off x="0" y="0"/>
              <a:ext cx="2567133" cy="533400"/>
            </a:xfrm>
            <a:custGeom>
              <a:avLst/>
              <a:gdLst/>
              <a:ahLst/>
              <a:cxnLst/>
              <a:rect r="r" b="b" t="t" l="l"/>
              <a:pathLst>
                <a:path h="533400" w="2567133">
                  <a:moveTo>
                    <a:pt x="273050" y="0"/>
                  </a:moveTo>
                  <a:lnTo>
                    <a:pt x="0" y="266700"/>
                  </a:lnTo>
                  <a:lnTo>
                    <a:pt x="273050" y="533400"/>
                  </a:lnTo>
                  <a:lnTo>
                    <a:pt x="273050" y="400050"/>
                  </a:lnTo>
                  <a:lnTo>
                    <a:pt x="2294083" y="400050"/>
                  </a:lnTo>
                  <a:lnTo>
                    <a:pt x="2294083" y="533400"/>
                  </a:lnTo>
                  <a:lnTo>
                    <a:pt x="2567133" y="266700"/>
                  </a:lnTo>
                  <a:lnTo>
                    <a:pt x="2294083" y="0"/>
                  </a:lnTo>
                  <a:lnTo>
                    <a:pt x="2294083" y="133350"/>
                  </a:lnTo>
                  <a:lnTo>
                    <a:pt x="273050" y="133350"/>
                  </a:lnTo>
                  <a:lnTo>
                    <a:pt x="273050" y="0"/>
                  </a:lnTo>
                  <a:close/>
                </a:path>
              </a:pathLst>
            </a:custGeom>
            <a:solidFill>
              <a:srgbClr val="FFFFFF"/>
            </a:solidFill>
          </p:spPr>
        </p:sp>
        <p:sp>
          <p:nvSpPr>
            <p:cNvPr name="TextBox 10" id="10"/>
            <p:cNvSpPr txBox="true"/>
            <p:nvPr/>
          </p:nvSpPr>
          <p:spPr>
            <a:xfrm>
              <a:off x="101600" y="101600"/>
              <a:ext cx="2363933" cy="292100"/>
            </a:xfrm>
            <a:prstGeom prst="rect">
              <a:avLst/>
            </a:prstGeom>
          </p:spPr>
          <p:txBody>
            <a:bodyPr anchor="ctr" rtlCol="false" tIns="50800" lIns="50800" bIns="50800" rIns="50800"/>
            <a:lstStyle/>
            <a:p>
              <a:pPr algn="ctr">
                <a:lnSpc>
                  <a:spcPts val="2520"/>
                </a:lnSpc>
              </a:pPr>
            </a:p>
          </p:txBody>
        </p:sp>
      </p:grpSp>
      <p:grpSp>
        <p:nvGrpSpPr>
          <p:cNvPr name="Group 11" id="11"/>
          <p:cNvGrpSpPr/>
          <p:nvPr/>
        </p:nvGrpSpPr>
        <p:grpSpPr>
          <a:xfrm rot="0">
            <a:off x="10965438" y="2668366"/>
            <a:ext cx="4774544" cy="687686"/>
            <a:chOff x="0" y="0"/>
            <a:chExt cx="1081717" cy="155801"/>
          </a:xfrm>
        </p:grpSpPr>
        <p:sp>
          <p:nvSpPr>
            <p:cNvPr name="Freeform 12" id="12"/>
            <p:cNvSpPr/>
            <p:nvPr/>
          </p:nvSpPr>
          <p:spPr>
            <a:xfrm flipH="false" flipV="false" rot="0">
              <a:off x="0" y="0"/>
              <a:ext cx="1081717" cy="155801"/>
            </a:xfrm>
            <a:custGeom>
              <a:avLst/>
              <a:gdLst/>
              <a:ahLst/>
              <a:cxnLst/>
              <a:rect r="r" b="b" t="t" l="l"/>
              <a:pathLst>
                <a:path h="155801" w="1081717">
                  <a:moveTo>
                    <a:pt x="12972" y="0"/>
                  </a:moveTo>
                  <a:lnTo>
                    <a:pt x="1068745" y="0"/>
                  </a:lnTo>
                  <a:cubicBezTo>
                    <a:pt x="1072185" y="0"/>
                    <a:pt x="1075485" y="1367"/>
                    <a:pt x="1077917" y="3799"/>
                  </a:cubicBezTo>
                  <a:cubicBezTo>
                    <a:pt x="1080350" y="6232"/>
                    <a:pt x="1081717" y="9532"/>
                    <a:pt x="1081717" y="12972"/>
                  </a:cubicBezTo>
                  <a:lnTo>
                    <a:pt x="1081717" y="142829"/>
                  </a:lnTo>
                  <a:cubicBezTo>
                    <a:pt x="1081717" y="146270"/>
                    <a:pt x="1080350" y="149569"/>
                    <a:pt x="1077917" y="152002"/>
                  </a:cubicBezTo>
                  <a:cubicBezTo>
                    <a:pt x="1075485" y="154435"/>
                    <a:pt x="1072185" y="155801"/>
                    <a:pt x="1068745" y="155801"/>
                  </a:cubicBezTo>
                  <a:lnTo>
                    <a:pt x="12972" y="155801"/>
                  </a:lnTo>
                  <a:cubicBezTo>
                    <a:pt x="9532" y="155801"/>
                    <a:pt x="6232" y="154435"/>
                    <a:pt x="3799" y="152002"/>
                  </a:cubicBezTo>
                  <a:cubicBezTo>
                    <a:pt x="1367" y="149569"/>
                    <a:pt x="0" y="146270"/>
                    <a:pt x="0" y="142829"/>
                  </a:cubicBezTo>
                  <a:lnTo>
                    <a:pt x="0" y="12972"/>
                  </a:lnTo>
                  <a:cubicBezTo>
                    <a:pt x="0" y="9532"/>
                    <a:pt x="1367" y="6232"/>
                    <a:pt x="3799" y="3799"/>
                  </a:cubicBezTo>
                  <a:cubicBezTo>
                    <a:pt x="6232" y="1367"/>
                    <a:pt x="9532" y="0"/>
                    <a:pt x="12972" y="0"/>
                  </a:cubicBezTo>
                  <a:close/>
                </a:path>
              </a:pathLst>
            </a:custGeom>
            <a:solidFill>
              <a:srgbClr val="5DDB78"/>
            </a:solidFill>
          </p:spPr>
        </p:sp>
        <p:sp>
          <p:nvSpPr>
            <p:cNvPr name="TextBox 13" id="13"/>
            <p:cNvSpPr txBox="true"/>
            <p:nvPr/>
          </p:nvSpPr>
          <p:spPr>
            <a:xfrm>
              <a:off x="0" y="-47625"/>
              <a:ext cx="1081717" cy="203426"/>
            </a:xfrm>
            <a:prstGeom prst="rect">
              <a:avLst/>
            </a:prstGeom>
          </p:spPr>
          <p:txBody>
            <a:bodyPr anchor="ctr" rtlCol="false" tIns="50800" lIns="50800" bIns="50800" rIns="50800"/>
            <a:lstStyle/>
            <a:p>
              <a:pPr algn="ctr" marL="0" indent="0" lvl="0">
                <a:lnSpc>
                  <a:spcPts val="3079"/>
                </a:lnSpc>
                <a:spcBef>
                  <a:spcPct val="0"/>
                </a:spcBef>
              </a:pPr>
              <a:r>
                <a:rPr lang="en-US" b="true" sz="2199">
                  <a:solidFill>
                    <a:srgbClr val="000000"/>
                  </a:solidFill>
                  <a:latin typeface="DM Sans Bold"/>
                  <a:ea typeface="DM Sans Bold"/>
                  <a:cs typeface="DM Sans Bold"/>
                  <a:sym typeface="DM Sans Bold"/>
                </a:rPr>
                <a:t>To Improvements</a:t>
              </a:r>
            </a:p>
          </p:txBody>
        </p:sp>
      </p:grpSp>
      <p:sp>
        <p:nvSpPr>
          <p:cNvPr name="Freeform 14" id="14"/>
          <p:cNvSpPr/>
          <p:nvPr/>
        </p:nvSpPr>
        <p:spPr>
          <a:xfrm flipH="false" flipV="false" rot="0">
            <a:off x="8741091" y="2667000"/>
            <a:ext cx="804812" cy="803806"/>
          </a:xfrm>
          <a:custGeom>
            <a:avLst/>
            <a:gdLst/>
            <a:ahLst/>
            <a:cxnLst/>
            <a:rect r="r" b="b" t="t" l="l"/>
            <a:pathLst>
              <a:path h="803806" w="804812">
                <a:moveTo>
                  <a:pt x="0" y="0"/>
                </a:moveTo>
                <a:lnTo>
                  <a:pt x="804812" y="0"/>
                </a:lnTo>
                <a:lnTo>
                  <a:pt x="804812" y="803806"/>
                </a:lnTo>
                <a:lnTo>
                  <a:pt x="0" y="803806"/>
                </a:lnTo>
                <a:lnTo>
                  <a:pt x="0" y="0"/>
                </a:lnTo>
                <a:close/>
              </a:path>
            </a:pathLst>
          </a:custGeom>
          <a:blipFill>
            <a:blip r:embed="rId3"/>
            <a:stretch>
              <a:fillRect l="0" t="0" r="0" b="0"/>
            </a:stretch>
          </a:blipFill>
        </p:spPr>
      </p:sp>
      <p:grpSp>
        <p:nvGrpSpPr>
          <p:cNvPr name="Group 15" id="15"/>
          <p:cNvGrpSpPr/>
          <p:nvPr/>
        </p:nvGrpSpPr>
        <p:grpSpPr>
          <a:xfrm rot="0">
            <a:off x="8798288" y="2667000"/>
            <a:ext cx="690418" cy="690418"/>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marL="0" indent="0" lvl="0">
                <a:lnSpc>
                  <a:spcPts val="2519"/>
                </a:lnSpc>
                <a:spcBef>
                  <a:spcPct val="0"/>
                </a:spcBef>
              </a:pPr>
            </a:p>
          </p:txBody>
        </p:sp>
      </p:grpSp>
      <p:sp>
        <p:nvSpPr>
          <p:cNvPr name="Freeform 18" id="18"/>
          <p:cNvSpPr/>
          <p:nvPr/>
        </p:nvSpPr>
        <p:spPr>
          <a:xfrm flipH="false" flipV="false" rot="5400000">
            <a:off x="7966950" y="3643438"/>
            <a:ext cx="1310584" cy="1463833"/>
          </a:xfrm>
          <a:custGeom>
            <a:avLst/>
            <a:gdLst/>
            <a:ahLst/>
            <a:cxnLst/>
            <a:rect r="r" b="b" t="t" l="l"/>
            <a:pathLst>
              <a:path h="1463833" w="1310584">
                <a:moveTo>
                  <a:pt x="0" y="0"/>
                </a:moveTo>
                <a:lnTo>
                  <a:pt x="1310585" y="0"/>
                </a:lnTo>
                <a:lnTo>
                  <a:pt x="1310585" y="1463833"/>
                </a:lnTo>
                <a:lnTo>
                  <a:pt x="0" y="14638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true" rot="5400000">
            <a:off x="9009460" y="3643438"/>
            <a:ext cx="1310584" cy="1463833"/>
          </a:xfrm>
          <a:custGeom>
            <a:avLst/>
            <a:gdLst/>
            <a:ahLst/>
            <a:cxnLst/>
            <a:rect r="r" b="b" t="t" l="l"/>
            <a:pathLst>
              <a:path h="1463833" w="1310584">
                <a:moveTo>
                  <a:pt x="0" y="1463833"/>
                </a:moveTo>
                <a:lnTo>
                  <a:pt x="1310584" y="1463833"/>
                </a:lnTo>
                <a:lnTo>
                  <a:pt x="1310584" y="0"/>
                </a:lnTo>
                <a:lnTo>
                  <a:pt x="0" y="0"/>
                </a:lnTo>
                <a:lnTo>
                  <a:pt x="0" y="1463833"/>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0" id="20"/>
          <p:cNvSpPr/>
          <p:nvPr/>
        </p:nvSpPr>
        <p:spPr>
          <a:xfrm flipH="false" flipV="false" rot="0">
            <a:off x="8741091" y="3973452"/>
            <a:ext cx="804812" cy="803806"/>
          </a:xfrm>
          <a:custGeom>
            <a:avLst/>
            <a:gdLst/>
            <a:ahLst/>
            <a:cxnLst/>
            <a:rect r="r" b="b" t="t" l="l"/>
            <a:pathLst>
              <a:path h="803806" w="804812">
                <a:moveTo>
                  <a:pt x="0" y="0"/>
                </a:moveTo>
                <a:lnTo>
                  <a:pt x="804812" y="0"/>
                </a:lnTo>
                <a:lnTo>
                  <a:pt x="804812" y="803806"/>
                </a:lnTo>
                <a:lnTo>
                  <a:pt x="0" y="803806"/>
                </a:lnTo>
                <a:lnTo>
                  <a:pt x="0" y="0"/>
                </a:lnTo>
                <a:close/>
              </a:path>
            </a:pathLst>
          </a:custGeom>
          <a:blipFill>
            <a:blip r:embed="rId3"/>
            <a:stretch>
              <a:fillRect l="0" t="0" r="0" b="0"/>
            </a:stretch>
          </a:blipFill>
        </p:spPr>
      </p:sp>
      <p:grpSp>
        <p:nvGrpSpPr>
          <p:cNvPr name="Group 21" id="21"/>
          <p:cNvGrpSpPr/>
          <p:nvPr/>
        </p:nvGrpSpPr>
        <p:grpSpPr>
          <a:xfrm rot="0">
            <a:off x="8869504" y="4101477"/>
            <a:ext cx="547756" cy="547756"/>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marL="0" indent="0" lvl="0">
                <a:lnSpc>
                  <a:spcPts val="2519"/>
                </a:lnSpc>
                <a:spcBef>
                  <a:spcPct val="0"/>
                </a:spcBef>
              </a:pPr>
              <a:r>
                <a:rPr lang="en-US" b="true" sz="1799">
                  <a:solidFill>
                    <a:srgbClr val="000000"/>
                  </a:solidFill>
                  <a:latin typeface="DM Sans Bold"/>
                  <a:ea typeface="DM Sans Bold"/>
                  <a:cs typeface="DM Sans Bold"/>
                  <a:sym typeface="DM Sans Bold"/>
                </a:rPr>
                <a:t>01</a:t>
              </a:r>
            </a:p>
          </p:txBody>
        </p:sp>
      </p:grpSp>
      <p:sp>
        <p:nvSpPr>
          <p:cNvPr name="Freeform 24" id="24"/>
          <p:cNvSpPr/>
          <p:nvPr/>
        </p:nvSpPr>
        <p:spPr>
          <a:xfrm flipH="false" flipV="false" rot="5400000">
            <a:off x="7966950" y="5141556"/>
            <a:ext cx="1310584" cy="1463833"/>
          </a:xfrm>
          <a:custGeom>
            <a:avLst/>
            <a:gdLst/>
            <a:ahLst/>
            <a:cxnLst/>
            <a:rect r="r" b="b" t="t" l="l"/>
            <a:pathLst>
              <a:path h="1463833" w="1310584">
                <a:moveTo>
                  <a:pt x="0" y="0"/>
                </a:moveTo>
                <a:lnTo>
                  <a:pt x="1310585" y="0"/>
                </a:lnTo>
                <a:lnTo>
                  <a:pt x="1310585" y="1463833"/>
                </a:lnTo>
                <a:lnTo>
                  <a:pt x="0" y="14638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false" flipV="false" rot="0">
            <a:off x="8741091" y="5471569"/>
            <a:ext cx="804812" cy="803806"/>
          </a:xfrm>
          <a:custGeom>
            <a:avLst/>
            <a:gdLst/>
            <a:ahLst/>
            <a:cxnLst/>
            <a:rect r="r" b="b" t="t" l="l"/>
            <a:pathLst>
              <a:path h="803806" w="804812">
                <a:moveTo>
                  <a:pt x="0" y="0"/>
                </a:moveTo>
                <a:lnTo>
                  <a:pt x="804812" y="0"/>
                </a:lnTo>
                <a:lnTo>
                  <a:pt x="804812" y="803807"/>
                </a:lnTo>
                <a:lnTo>
                  <a:pt x="0" y="803807"/>
                </a:lnTo>
                <a:lnTo>
                  <a:pt x="0" y="0"/>
                </a:lnTo>
                <a:close/>
              </a:path>
            </a:pathLst>
          </a:custGeom>
          <a:blipFill>
            <a:blip r:embed="rId3"/>
            <a:stretch>
              <a:fillRect l="0" t="0" r="0" b="0"/>
            </a:stretch>
          </a:blipFill>
        </p:spPr>
      </p:sp>
      <p:sp>
        <p:nvSpPr>
          <p:cNvPr name="Freeform 26" id="26"/>
          <p:cNvSpPr/>
          <p:nvPr/>
        </p:nvSpPr>
        <p:spPr>
          <a:xfrm flipH="false" flipV="true" rot="5400000">
            <a:off x="9009460" y="5141556"/>
            <a:ext cx="1310584" cy="1463833"/>
          </a:xfrm>
          <a:custGeom>
            <a:avLst/>
            <a:gdLst/>
            <a:ahLst/>
            <a:cxnLst/>
            <a:rect r="r" b="b" t="t" l="l"/>
            <a:pathLst>
              <a:path h="1463833" w="1310584">
                <a:moveTo>
                  <a:pt x="0" y="1463833"/>
                </a:moveTo>
                <a:lnTo>
                  <a:pt x="1310584" y="1463833"/>
                </a:lnTo>
                <a:lnTo>
                  <a:pt x="1310584" y="0"/>
                </a:lnTo>
                <a:lnTo>
                  <a:pt x="0" y="0"/>
                </a:lnTo>
                <a:lnTo>
                  <a:pt x="0" y="1463833"/>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7" id="27"/>
          <p:cNvGrpSpPr/>
          <p:nvPr/>
        </p:nvGrpSpPr>
        <p:grpSpPr>
          <a:xfrm rot="0">
            <a:off x="8869504" y="5599594"/>
            <a:ext cx="547756" cy="547756"/>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9" id="29"/>
            <p:cNvSpPr txBox="true"/>
            <p:nvPr/>
          </p:nvSpPr>
          <p:spPr>
            <a:xfrm>
              <a:off x="76200" y="38100"/>
              <a:ext cx="660400" cy="698500"/>
            </a:xfrm>
            <a:prstGeom prst="rect">
              <a:avLst/>
            </a:prstGeom>
          </p:spPr>
          <p:txBody>
            <a:bodyPr anchor="ctr" rtlCol="false" tIns="50800" lIns="50800" bIns="50800" rIns="50800"/>
            <a:lstStyle/>
            <a:p>
              <a:pPr algn="ctr" marL="0" indent="0" lvl="0">
                <a:lnSpc>
                  <a:spcPts val="2519"/>
                </a:lnSpc>
                <a:spcBef>
                  <a:spcPct val="0"/>
                </a:spcBef>
              </a:pPr>
              <a:r>
                <a:rPr lang="en-US" b="true" sz="1799">
                  <a:solidFill>
                    <a:srgbClr val="000000"/>
                  </a:solidFill>
                  <a:latin typeface="DM Sans Bold"/>
                  <a:ea typeface="DM Sans Bold"/>
                  <a:cs typeface="DM Sans Bold"/>
                  <a:sym typeface="DM Sans Bold"/>
                </a:rPr>
                <a:t>02</a:t>
              </a:r>
            </a:p>
          </p:txBody>
        </p:sp>
      </p:grpSp>
      <p:sp>
        <p:nvSpPr>
          <p:cNvPr name="Freeform 30" id="30"/>
          <p:cNvSpPr/>
          <p:nvPr/>
        </p:nvSpPr>
        <p:spPr>
          <a:xfrm flipH="false" flipV="false" rot="5400000">
            <a:off x="7966950" y="6639674"/>
            <a:ext cx="1310584" cy="1463833"/>
          </a:xfrm>
          <a:custGeom>
            <a:avLst/>
            <a:gdLst/>
            <a:ahLst/>
            <a:cxnLst/>
            <a:rect r="r" b="b" t="t" l="l"/>
            <a:pathLst>
              <a:path h="1463833" w="1310584">
                <a:moveTo>
                  <a:pt x="0" y="0"/>
                </a:moveTo>
                <a:lnTo>
                  <a:pt x="1310585" y="0"/>
                </a:lnTo>
                <a:lnTo>
                  <a:pt x="1310585" y="1463833"/>
                </a:lnTo>
                <a:lnTo>
                  <a:pt x="0" y="14638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1" id="31"/>
          <p:cNvSpPr/>
          <p:nvPr/>
        </p:nvSpPr>
        <p:spPr>
          <a:xfrm flipH="false" flipV="false" rot="0">
            <a:off x="8741091" y="6972240"/>
            <a:ext cx="804812" cy="803806"/>
          </a:xfrm>
          <a:custGeom>
            <a:avLst/>
            <a:gdLst/>
            <a:ahLst/>
            <a:cxnLst/>
            <a:rect r="r" b="b" t="t" l="l"/>
            <a:pathLst>
              <a:path h="803806" w="804812">
                <a:moveTo>
                  <a:pt x="0" y="0"/>
                </a:moveTo>
                <a:lnTo>
                  <a:pt x="804812" y="0"/>
                </a:lnTo>
                <a:lnTo>
                  <a:pt x="804812" y="803806"/>
                </a:lnTo>
                <a:lnTo>
                  <a:pt x="0" y="803806"/>
                </a:lnTo>
                <a:lnTo>
                  <a:pt x="0" y="0"/>
                </a:lnTo>
                <a:close/>
              </a:path>
            </a:pathLst>
          </a:custGeom>
          <a:blipFill>
            <a:blip r:embed="rId3"/>
            <a:stretch>
              <a:fillRect l="0" t="0" r="0" b="0"/>
            </a:stretch>
          </a:blipFill>
        </p:spPr>
      </p:sp>
      <p:sp>
        <p:nvSpPr>
          <p:cNvPr name="Freeform 32" id="32"/>
          <p:cNvSpPr/>
          <p:nvPr/>
        </p:nvSpPr>
        <p:spPr>
          <a:xfrm flipH="false" flipV="true" rot="5400000">
            <a:off x="9009460" y="6639674"/>
            <a:ext cx="1310584" cy="1463833"/>
          </a:xfrm>
          <a:custGeom>
            <a:avLst/>
            <a:gdLst/>
            <a:ahLst/>
            <a:cxnLst/>
            <a:rect r="r" b="b" t="t" l="l"/>
            <a:pathLst>
              <a:path h="1463833" w="1310584">
                <a:moveTo>
                  <a:pt x="0" y="1463833"/>
                </a:moveTo>
                <a:lnTo>
                  <a:pt x="1310584" y="1463833"/>
                </a:lnTo>
                <a:lnTo>
                  <a:pt x="1310584" y="0"/>
                </a:lnTo>
                <a:lnTo>
                  <a:pt x="0" y="0"/>
                </a:lnTo>
                <a:lnTo>
                  <a:pt x="0" y="1463833"/>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3" id="33"/>
          <p:cNvGrpSpPr/>
          <p:nvPr/>
        </p:nvGrpSpPr>
        <p:grpSpPr>
          <a:xfrm rot="0">
            <a:off x="8869504" y="7100265"/>
            <a:ext cx="547756" cy="547756"/>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5" id="35"/>
            <p:cNvSpPr txBox="true"/>
            <p:nvPr/>
          </p:nvSpPr>
          <p:spPr>
            <a:xfrm>
              <a:off x="76200" y="38100"/>
              <a:ext cx="660400" cy="698500"/>
            </a:xfrm>
            <a:prstGeom prst="rect">
              <a:avLst/>
            </a:prstGeom>
          </p:spPr>
          <p:txBody>
            <a:bodyPr anchor="ctr" rtlCol="false" tIns="50800" lIns="50800" bIns="50800" rIns="50800"/>
            <a:lstStyle/>
            <a:p>
              <a:pPr algn="ctr" marL="0" indent="0" lvl="0">
                <a:lnSpc>
                  <a:spcPts val="2519"/>
                </a:lnSpc>
                <a:spcBef>
                  <a:spcPct val="0"/>
                </a:spcBef>
              </a:pPr>
              <a:r>
                <a:rPr lang="en-US" b="true" sz="1799">
                  <a:solidFill>
                    <a:srgbClr val="000000"/>
                  </a:solidFill>
                  <a:latin typeface="DM Sans Bold"/>
                  <a:ea typeface="DM Sans Bold"/>
                  <a:cs typeface="DM Sans Bold"/>
                  <a:sym typeface="DM Sans Bold"/>
                </a:rPr>
                <a:t>03</a:t>
              </a:r>
            </a:p>
          </p:txBody>
        </p:sp>
      </p:grpSp>
      <p:sp>
        <p:nvSpPr>
          <p:cNvPr name="Freeform 36" id="36"/>
          <p:cNvSpPr/>
          <p:nvPr/>
        </p:nvSpPr>
        <p:spPr>
          <a:xfrm flipH="false" flipV="false" rot="5400000">
            <a:off x="7966950" y="8137791"/>
            <a:ext cx="1310584" cy="1463833"/>
          </a:xfrm>
          <a:custGeom>
            <a:avLst/>
            <a:gdLst/>
            <a:ahLst/>
            <a:cxnLst/>
            <a:rect r="r" b="b" t="t" l="l"/>
            <a:pathLst>
              <a:path h="1463833" w="1310584">
                <a:moveTo>
                  <a:pt x="0" y="0"/>
                </a:moveTo>
                <a:lnTo>
                  <a:pt x="1310585" y="0"/>
                </a:lnTo>
                <a:lnTo>
                  <a:pt x="1310585" y="1463833"/>
                </a:lnTo>
                <a:lnTo>
                  <a:pt x="0" y="14638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7" id="37"/>
          <p:cNvSpPr/>
          <p:nvPr/>
        </p:nvSpPr>
        <p:spPr>
          <a:xfrm flipH="false" flipV="true" rot="5400000">
            <a:off x="9009460" y="8137791"/>
            <a:ext cx="1310584" cy="1463833"/>
          </a:xfrm>
          <a:custGeom>
            <a:avLst/>
            <a:gdLst/>
            <a:ahLst/>
            <a:cxnLst/>
            <a:rect r="r" b="b" t="t" l="l"/>
            <a:pathLst>
              <a:path h="1463833" w="1310584">
                <a:moveTo>
                  <a:pt x="0" y="1463833"/>
                </a:moveTo>
                <a:lnTo>
                  <a:pt x="1310584" y="1463833"/>
                </a:lnTo>
                <a:lnTo>
                  <a:pt x="1310584" y="0"/>
                </a:lnTo>
                <a:lnTo>
                  <a:pt x="0" y="0"/>
                </a:lnTo>
                <a:lnTo>
                  <a:pt x="0" y="1463833"/>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8" id="38"/>
          <p:cNvSpPr/>
          <p:nvPr/>
        </p:nvSpPr>
        <p:spPr>
          <a:xfrm flipH="false" flipV="false" rot="0">
            <a:off x="8741091" y="8472910"/>
            <a:ext cx="804812" cy="803806"/>
          </a:xfrm>
          <a:custGeom>
            <a:avLst/>
            <a:gdLst/>
            <a:ahLst/>
            <a:cxnLst/>
            <a:rect r="r" b="b" t="t" l="l"/>
            <a:pathLst>
              <a:path h="803806" w="804812">
                <a:moveTo>
                  <a:pt x="0" y="0"/>
                </a:moveTo>
                <a:lnTo>
                  <a:pt x="804812" y="0"/>
                </a:lnTo>
                <a:lnTo>
                  <a:pt x="804812" y="803806"/>
                </a:lnTo>
                <a:lnTo>
                  <a:pt x="0" y="803806"/>
                </a:lnTo>
                <a:lnTo>
                  <a:pt x="0" y="0"/>
                </a:lnTo>
                <a:close/>
              </a:path>
            </a:pathLst>
          </a:custGeom>
          <a:blipFill>
            <a:blip r:embed="rId3"/>
            <a:stretch>
              <a:fillRect l="0" t="0" r="0" b="0"/>
            </a:stretch>
          </a:blipFill>
        </p:spPr>
      </p:sp>
      <p:grpSp>
        <p:nvGrpSpPr>
          <p:cNvPr name="Group 39" id="39"/>
          <p:cNvGrpSpPr/>
          <p:nvPr/>
        </p:nvGrpSpPr>
        <p:grpSpPr>
          <a:xfrm rot="0">
            <a:off x="8869504" y="8595830"/>
            <a:ext cx="547756" cy="547756"/>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1" id="41"/>
            <p:cNvSpPr txBox="true"/>
            <p:nvPr/>
          </p:nvSpPr>
          <p:spPr>
            <a:xfrm>
              <a:off x="76200" y="38100"/>
              <a:ext cx="660400" cy="698500"/>
            </a:xfrm>
            <a:prstGeom prst="rect">
              <a:avLst/>
            </a:prstGeom>
          </p:spPr>
          <p:txBody>
            <a:bodyPr anchor="ctr" rtlCol="false" tIns="50800" lIns="50800" bIns="50800" rIns="50800"/>
            <a:lstStyle/>
            <a:p>
              <a:pPr algn="ctr" marL="0" indent="0" lvl="0">
                <a:lnSpc>
                  <a:spcPts val="2519"/>
                </a:lnSpc>
                <a:spcBef>
                  <a:spcPct val="0"/>
                </a:spcBef>
              </a:pPr>
              <a:r>
                <a:rPr lang="en-US" b="true" sz="1799">
                  <a:solidFill>
                    <a:srgbClr val="000000"/>
                  </a:solidFill>
                  <a:latin typeface="DM Sans Bold"/>
                  <a:ea typeface="DM Sans Bold"/>
                  <a:cs typeface="DM Sans Bold"/>
                  <a:sym typeface="DM Sans Bold"/>
                </a:rPr>
                <a:t>04</a:t>
              </a:r>
            </a:p>
          </p:txBody>
        </p:sp>
      </p:grpSp>
      <p:sp>
        <p:nvSpPr>
          <p:cNvPr name="TextBox 42" id="42"/>
          <p:cNvSpPr txBox="true"/>
          <p:nvPr/>
        </p:nvSpPr>
        <p:spPr>
          <a:xfrm rot="0">
            <a:off x="2546714" y="4310902"/>
            <a:ext cx="4774544" cy="826135"/>
          </a:xfrm>
          <a:prstGeom prst="rect">
            <a:avLst/>
          </a:prstGeom>
        </p:spPr>
        <p:txBody>
          <a:bodyPr anchor="t" rtlCol="false" tIns="0" lIns="0" bIns="0" rIns="0">
            <a:spAutoFit/>
          </a:bodyPr>
          <a:lstStyle/>
          <a:p>
            <a:pPr algn="r" marL="0" indent="0" lvl="0">
              <a:lnSpc>
                <a:spcPts val="2239"/>
              </a:lnSpc>
              <a:spcBef>
                <a:spcPct val="0"/>
              </a:spcBef>
            </a:pPr>
            <a:r>
              <a:rPr lang="en-US" sz="1599">
                <a:solidFill>
                  <a:srgbClr val="000000"/>
                </a:solidFill>
                <a:latin typeface="DM Sans"/>
                <a:ea typeface="DM Sans"/>
                <a:cs typeface="DM Sans"/>
                <a:sym typeface="DM Sans"/>
              </a:rPr>
              <a:t>Users were able to book appointments successfully, but it wasn’t being shown in the calendar tab.</a:t>
            </a:r>
          </a:p>
        </p:txBody>
      </p:sp>
      <p:sp>
        <p:nvSpPr>
          <p:cNvPr name="TextBox 43" id="43"/>
          <p:cNvSpPr txBox="true"/>
          <p:nvPr/>
        </p:nvSpPr>
        <p:spPr>
          <a:xfrm rot="0">
            <a:off x="2546714" y="3851797"/>
            <a:ext cx="4774544" cy="306705"/>
          </a:xfrm>
          <a:prstGeom prst="rect">
            <a:avLst/>
          </a:prstGeom>
        </p:spPr>
        <p:txBody>
          <a:bodyPr anchor="t" rtlCol="false" tIns="0" lIns="0" bIns="0" rIns="0">
            <a:spAutoFit/>
          </a:bodyPr>
          <a:lstStyle/>
          <a:p>
            <a:pPr algn="r" marL="0" indent="0" lvl="0">
              <a:lnSpc>
                <a:spcPts val="2520"/>
              </a:lnSpc>
              <a:spcBef>
                <a:spcPct val="0"/>
              </a:spcBef>
            </a:pPr>
            <a:r>
              <a:rPr lang="en-US" b="true" sz="1800">
                <a:solidFill>
                  <a:srgbClr val="000000"/>
                </a:solidFill>
                <a:latin typeface="DM Sans Bold"/>
                <a:ea typeface="DM Sans Bold"/>
                <a:cs typeface="DM Sans Bold"/>
                <a:sym typeface="DM Sans Bold"/>
              </a:rPr>
              <a:t>C</a:t>
            </a:r>
            <a:r>
              <a:rPr lang="en-US" b="true" sz="1800">
                <a:solidFill>
                  <a:srgbClr val="000000"/>
                </a:solidFill>
                <a:latin typeface="DM Sans Bold"/>
                <a:ea typeface="DM Sans Bold"/>
                <a:cs typeface="DM Sans Bold"/>
                <a:sym typeface="DM Sans Bold"/>
              </a:rPr>
              <a:t>alendar Sync Never Fired</a:t>
            </a:r>
          </a:p>
        </p:txBody>
      </p:sp>
      <p:sp>
        <p:nvSpPr>
          <p:cNvPr name="TextBox 44" id="44"/>
          <p:cNvSpPr txBox="true"/>
          <p:nvPr/>
        </p:nvSpPr>
        <p:spPr>
          <a:xfrm rot="0">
            <a:off x="10965438" y="4310902"/>
            <a:ext cx="4774544" cy="549910"/>
          </a:xfrm>
          <a:prstGeom prst="rect">
            <a:avLst/>
          </a:prstGeom>
        </p:spPr>
        <p:txBody>
          <a:bodyPr anchor="t" rtlCol="false" tIns="0" lIns="0" bIns="0" rIns="0">
            <a:spAutoFit/>
          </a:bodyPr>
          <a:lstStyle/>
          <a:p>
            <a:pPr algn="l" marL="0" indent="0" lvl="0">
              <a:lnSpc>
                <a:spcPts val="2239"/>
              </a:lnSpc>
              <a:spcBef>
                <a:spcPct val="0"/>
              </a:spcBef>
            </a:pPr>
            <a:r>
              <a:rPr lang="en-US" sz="1599">
                <a:solidFill>
                  <a:srgbClr val="000000"/>
                </a:solidFill>
                <a:latin typeface="DM Sans"/>
                <a:ea typeface="DM Sans"/>
                <a:cs typeface="DM Sans"/>
                <a:sym typeface="DM Sans"/>
              </a:rPr>
              <a:t>Push a real-time updat</a:t>
            </a:r>
            <a:r>
              <a:rPr lang="en-US" sz="1599" strike="noStrike" u="none">
                <a:solidFill>
                  <a:srgbClr val="000000"/>
                </a:solidFill>
                <a:latin typeface="DM Sans"/>
                <a:ea typeface="DM Sans"/>
                <a:cs typeface="DM Sans"/>
                <a:sym typeface="DM Sans"/>
              </a:rPr>
              <a:t>e webSocket so the calendar updates immediat</a:t>
            </a:r>
            <a:r>
              <a:rPr lang="en-US" sz="1599" strike="noStrike" u="none">
                <a:solidFill>
                  <a:srgbClr val="000000"/>
                </a:solidFill>
                <a:latin typeface="DM Sans"/>
                <a:ea typeface="DM Sans"/>
                <a:cs typeface="DM Sans"/>
                <a:sym typeface="DM Sans"/>
              </a:rPr>
              <a:t>ely</a:t>
            </a:r>
            <a:r>
              <a:rPr lang="en-US" sz="1599" strike="noStrike" u="none">
                <a:solidFill>
                  <a:srgbClr val="000000"/>
                </a:solidFill>
                <a:latin typeface="DM Sans"/>
                <a:ea typeface="DM Sans"/>
                <a:cs typeface="DM Sans"/>
                <a:sym typeface="DM Sans"/>
              </a:rPr>
              <a:t>.</a:t>
            </a:r>
          </a:p>
        </p:txBody>
      </p:sp>
      <p:sp>
        <p:nvSpPr>
          <p:cNvPr name="TextBox 45" id="45"/>
          <p:cNvSpPr txBox="true"/>
          <p:nvPr/>
        </p:nvSpPr>
        <p:spPr>
          <a:xfrm rot="0">
            <a:off x="10965438" y="3851797"/>
            <a:ext cx="4774544" cy="306705"/>
          </a:xfrm>
          <a:prstGeom prst="rect">
            <a:avLst/>
          </a:prstGeom>
        </p:spPr>
        <p:txBody>
          <a:bodyPr anchor="t" rtlCol="false" tIns="0" lIns="0" bIns="0" rIns="0">
            <a:spAutoFit/>
          </a:bodyPr>
          <a:lstStyle/>
          <a:p>
            <a:pPr algn="l" marL="0" indent="0" lvl="0">
              <a:lnSpc>
                <a:spcPts val="2520"/>
              </a:lnSpc>
              <a:spcBef>
                <a:spcPct val="0"/>
              </a:spcBef>
            </a:pPr>
            <a:r>
              <a:rPr lang="en-US" b="true" sz="1800">
                <a:solidFill>
                  <a:srgbClr val="000000"/>
                </a:solidFill>
                <a:latin typeface="DM Sans Bold"/>
                <a:ea typeface="DM Sans Bold"/>
                <a:cs typeface="DM Sans Bold"/>
                <a:sym typeface="DM Sans Bold"/>
              </a:rPr>
              <a:t>Real-time WebSocket</a:t>
            </a:r>
          </a:p>
        </p:txBody>
      </p:sp>
      <p:sp>
        <p:nvSpPr>
          <p:cNvPr name="TextBox 46" id="46"/>
          <p:cNvSpPr txBox="true"/>
          <p:nvPr/>
        </p:nvSpPr>
        <p:spPr>
          <a:xfrm rot="0">
            <a:off x="2546714" y="5809020"/>
            <a:ext cx="4774544" cy="549910"/>
          </a:xfrm>
          <a:prstGeom prst="rect">
            <a:avLst/>
          </a:prstGeom>
        </p:spPr>
        <p:txBody>
          <a:bodyPr anchor="t" rtlCol="false" tIns="0" lIns="0" bIns="0" rIns="0">
            <a:spAutoFit/>
          </a:bodyPr>
          <a:lstStyle/>
          <a:p>
            <a:pPr algn="r" marL="0" indent="0" lvl="0">
              <a:lnSpc>
                <a:spcPts val="2239"/>
              </a:lnSpc>
              <a:spcBef>
                <a:spcPct val="0"/>
              </a:spcBef>
            </a:pPr>
            <a:r>
              <a:rPr lang="en-US" sz="1599">
                <a:solidFill>
                  <a:srgbClr val="000000"/>
                </a:solidFill>
                <a:latin typeface="DM Sans"/>
                <a:ea typeface="DM Sans"/>
                <a:cs typeface="DM Sans"/>
                <a:sym typeface="DM Sans"/>
              </a:rPr>
              <a:t>The applicatrion was re-rendering  unnecessarity whenever we used to trigger events.</a:t>
            </a:r>
          </a:p>
        </p:txBody>
      </p:sp>
      <p:sp>
        <p:nvSpPr>
          <p:cNvPr name="TextBox 47" id="47"/>
          <p:cNvSpPr txBox="true"/>
          <p:nvPr/>
        </p:nvSpPr>
        <p:spPr>
          <a:xfrm rot="0">
            <a:off x="2546714" y="5349915"/>
            <a:ext cx="4774544" cy="306705"/>
          </a:xfrm>
          <a:prstGeom prst="rect">
            <a:avLst/>
          </a:prstGeom>
        </p:spPr>
        <p:txBody>
          <a:bodyPr anchor="t" rtlCol="false" tIns="0" lIns="0" bIns="0" rIns="0">
            <a:spAutoFit/>
          </a:bodyPr>
          <a:lstStyle/>
          <a:p>
            <a:pPr algn="r" marL="0" indent="0" lvl="0">
              <a:lnSpc>
                <a:spcPts val="2520"/>
              </a:lnSpc>
              <a:spcBef>
                <a:spcPct val="0"/>
              </a:spcBef>
            </a:pPr>
            <a:r>
              <a:rPr lang="en-US" b="true" sz="1800">
                <a:solidFill>
                  <a:srgbClr val="000000"/>
                </a:solidFill>
                <a:latin typeface="DM Sans Bold"/>
                <a:ea typeface="DM Sans Bold"/>
                <a:cs typeface="DM Sans Bold"/>
                <a:sym typeface="DM Sans Bold"/>
              </a:rPr>
              <a:t>Unnecessary Rerendering</a:t>
            </a:r>
          </a:p>
        </p:txBody>
      </p:sp>
      <p:sp>
        <p:nvSpPr>
          <p:cNvPr name="TextBox 48" id="48"/>
          <p:cNvSpPr txBox="true"/>
          <p:nvPr/>
        </p:nvSpPr>
        <p:spPr>
          <a:xfrm rot="0">
            <a:off x="10965438" y="5809020"/>
            <a:ext cx="4774544" cy="826135"/>
          </a:xfrm>
          <a:prstGeom prst="rect">
            <a:avLst/>
          </a:prstGeom>
        </p:spPr>
        <p:txBody>
          <a:bodyPr anchor="t" rtlCol="false" tIns="0" lIns="0" bIns="0" rIns="0">
            <a:spAutoFit/>
          </a:bodyPr>
          <a:lstStyle/>
          <a:p>
            <a:pPr algn="l">
              <a:lnSpc>
                <a:spcPts val="2239"/>
              </a:lnSpc>
              <a:spcBef>
                <a:spcPct val="0"/>
              </a:spcBef>
            </a:pPr>
            <a:r>
              <a:rPr lang="en-US" sz="1599">
                <a:solidFill>
                  <a:srgbClr val="000000"/>
                </a:solidFill>
                <a:latin typeface="DM Sans"/>
                <a:ea typeface="DM Sans"/>
                <a:cs typeface="DM Sans"/>
                <a:sym typeface="DM Sans"/>
              </a:rPr>
              <a:t>De</a:t>
            </a:r>
            <a:r>
              <a:rPr lang="en-US" sz="1599" strike="noStrike" u="none">
                <a:solidFill>
                  <a:srgbClr val="000000"/>
                </a:solidFill>
                <a:latin typeface="DM Sans"/>
                <a:ea typeface="DM Sans"/>
                <a:cs typeface="DM Sans"/>
                <a:sym typeface="DM Sans"/>
              </a:rPr>
              <a:t>bou</a:t>
            </a:r>
            <a:r>
              <a:rPr lang="en-US" sz="1599" strike="noStrike" u="none">
                <a:solidFill>
                  <a:srgbClr val="000000"/>
                </a:solidFill>
                <a:latin typeface="DM Sans"/>
                <a:ea typeface="DM Sans"/>
                <a:cs typeface="DM Sans"/>
                <a:sym typeface="DM Sans"/>
              </a:rPr>
              <a:t>n</a:t>
            </a:r>
            <a:r>
              <a:rPr lang="en-US" sz="1599" strike="noStrike" u="none">
                <a:solidFill>
                  <a:srgbClr val="000000"/>
                </a:solidFill>
                <a:latin typeface="DM Sans"/>
                <a:ea typeface="DM Sans"/>
                <a:cs typeface="DM Sans"/>
                <a:sym typeface="DM Sans"/>
              </a:rPr>
              <a:t>ce high-frequency events (typing, mousemove, </a:t>
            </a:r>
            <a:r>
              <a:rPr lang="en-US" sz="1599" strike="noStrike" u="none">
                <a:solidFill>
                  <a:srgbClr val="000000"/>
                </a:solidFill>
                <a:latin typeface="DM Sans"/>
                <a:ea typeface="DM Sans"/>
                <a:cs typeface="DM Sans"/>
                <a:sym typeface="DM Sans"/>
              </a:rPr>
              <a:t>r</a:t>
            </a:r>
            <a:r>
              <a:rPr lang="en-US" sz="1599" strike="noStrike" u="none">
                <a:solidFill>
                  <a:srgbClr val="000000"/>
                </a:solidFill>
                <a:latin typeface="DM Sans"/>
                <a:ea typeface="DM Sans"/>
                <a:cs typeface="DM Sans"/>
                <a:sym typeface="DM Sans"/>
              </a:rPr>
              <a:t>esize) and throttle handlers.</a:t>
            </a:r>
          </a:p>
          <a:p>
            <a:pPr algn="l" marL="0" indent="0" lvl="0">
              <a:lnSpc>
                <a:spcPts val="2239"/>
              </a:lnSpc>
              <a:spcBef>
                <a:spcPct val="0"/>
              </a:spcBef>
            </a:pPr>
          </a:p>
        </p:txBody>
      </p:sp>
      <p:sp>
        <p:nvSpPr>
          <p:cNvPr name="TextBox 49" id="49"/>
          <p:cNvSpPr txBox="true"/>
          <p:nvPr/>
        </p:nvSpPr>
        <p:spPr>
          <a:xfrm rot="0">
            <a:off x="10965438" y="5349915"/>
            <a:ext cx="4774544" cy="306705"/>
          </a:xfrm>
          <a:prstGeom prst="rect">
            <a:avLst/>
          </a:prstGeom>
        </p:spPr>
        <p:txBody>
          <a:bodyPr anchor="t" rtlCol="false" tIns="0" lIns="0" bIns="0" rIns="0">
            <a:spAutoFit/>
          </a:bodyPr>
          <a:lstStyle/>
          <a:p>
            <a:pPr algn="l" marL="0" indent="0" lvl="0">
              <a:lnSpc>
                <a:spcPts val="2520"/>
              </a:lnSpc>
              <a:spcBef>
                <a:spcPct val="0"/>
              </a:spcBef>
            </a:pPr>
            <a:r>
              <a:rPr lang="en-US" b="true" sz="1800">
                <a:solidFill>
                  <a:srgbClr val="000000"/>
                </a:solidFill>
                <a:latin typeface="DM Sans Bold"/>
                <a:ea typeface="DM Sans Bold"/>
                <a:cs typeface="DM Sans Bold"/>
                <a:sym typeface="DM Sans Bold"/>
              </a:rPr>
              <a:t>Optimisation Techniques</a:t>
            </a:r>
          </a:p>
        </p:txBody>
      </p:sp>
      <p:sp>
        <p:nvSpPr>
          <p:cNvPr name="TextBox 50" id="50"/>
          <p:cNvSpPr txBox="true"/>
          <p:nvPr/>
        </p:nvSpPr>
        <p:spPr>
          <a:xfrm rot="0">
            <a:off x="2546714" y="7307137"/>
            <a:ext cx="4774544" cy="826135"/>
          </a:xfrm>
          <a:prstGeom prst="rect">
            <a:avLst/>
          </a:prstGeom>
        </p:spPr>
        <p:txBody>
          <a:bodyPr anchor="t" rtlCol="false" tIns="0" lIns="0" bIns="0" rIns="0">
            <a:spAutoFit/>
          </a:bodyPr>
          <a:lstStyle/>
          <a:p>
            <a:pPr algn="r" marL="0" indent="0" lvl="0">
              <a:lnSpc>
                <a:spcPts val="2239"/>
              </a:lnSpc>
              <a:spcBef>
                <a:spcPct val="0"/>
              </a:spcBef>
            </a:pPr>
            <a:r>
              <a:rPr lang="en-US" sz="1599">
                <a:solidFill>
                  <a:srgbClr val="000000"/>
                </a:solidFill>
                <a:latin typeface="DM Sans"/>
                <a:ea typeface="DM Sans"/>
                <a:cs typeface="DM Sans"/>
                <a:sym typeface="DM Sans"/>
              </a:rPr>
              <a:t>There are multiple DB in the application and  every event was expecting DB actions directly which was incresing load on the DB.</a:t>
            </a:r>
          </a:p>
        </p:txBody>
      </p:sp>
      <p:sp>
        <p:nvSpPr>
          <p:cNvPr name="TextBox 51" id="51"/>
          <p:cNvSpPr txBox="true"/>
          <p:nvPr/>
        </p:nvSpPr>
        <p:spPr>
          <a:xfrm rot="0">
            <a:off x="2546714" y="6848033"/>
            <a:ext cx="4774544" cy="306705"/>
          </a:xfrm>
          <a:prstGeom prst="rect">
            <a:avLst/>
          </a:prstGeom>
        </p:spPr>
        <p:txBody>
          <a:bodyPr anchor="t" rtlCol="false" tIns="0" lIns="0" bIns="0" rIns="0">
            <a:spAutoFit/>
          </a:bodyPr>
          <a:lstStyle/>
          <a:p>
            <a:pPr algn="r" marL="0" indent="0" lvl="0">
              <a:lnSpc>
                <a:spcPts val="2520"/>
              </a:lnSpc>
              <a:spcBef>
                <a:spcPct val="0"/>
              </a:spcBef>
            </a:pPr>
            <a:r>
              <a:rPr lang="en-US" b="true" sz="1800">
                <a:solidFill>
                  <a:srgbClr val="000000"/>
                </a:solidFill>
                <a:latin typeface="DM Sans Bold"/>
                <a:ea typeface="DM Sans Bold"/>
                <a:cs typeface="DM Sans Bold"/>
                <a:sym typeface="DM Sans Bold"/>
              </a:rPr>
              <a:t>DB Load</a:t>
            </a:r>
          </a:p>
        </p:txBody>
      </p:sp>
      <p:sp>
        <p:nvSpPr>
          <p:cNvPr name="TextBox 52" id="52"/>
          <p:cNvSpPr txBox="true"/>
          <p:nvPr/>
        </p:nvSpPr>
        <p:spPr>
          <a:xfrm rot="0">
            <a:off x="10965438" y="7307137"/>
            <a:ext cx="4774544" cy="549910"/>
          </a:xfrm>
          <a:prstGeom prst="rect">
            <a:avLst/>
          </a:prstGeom>
        </p:spPr>
        <p:txBody>
          <a:bodyPr anchor="t" rtlCol="false" tIns="0" lIns="0" bIns="0" rIns="0">
            <a:spAutoFit/>
          </a:bodyPr>
          <a:lstStyle/>
          <a:p>
            <a:pPr algn="l" marL="0" indent="0" lvl="0">
              <a:lnSpc>
                <a:spcPts val="2239"/>
              </a:lnSpc>
              <a:spcBef>
                <a:spcPct val="0"/>
              </a:spcBef>
            </a:pPr>
            <a:r>
              <a:rPr lang="en-US" sz="1599">
                <a:solidFill>
                  <a:srgbClr val="000000"/>
                </a:solidFill>
                <a:latin typeface="DM Sans"/>
                <a:ea typeface="DM Sans"/>
                <a:cs typeface="DM Sans"/>
                <a:sym typeface="DM Sans"/>
              </a:rPr>
              <a:t>Implemented Redis, where the request first goes to Redis before hitting the backend.</a:t>
            </a:r>
          </a:p>
        </p:txBody>
      </p:sp>
      <p:sp>
        <p:nvSpPr>
          <p:cNvPr name="TextBox 53" id="53"/>
          <p:cNvSpPr txBox="true"/>
          <p:nvPr/>
        </p:nvSpPr>
        <p:spPr>
          <a:xfrm rot="0">
            <a:off x="10965438" y="6848033"/>
            <a:ext cx="4774544" cy="306705"/>
          </a:xfrm>
          <a:prstGeom prst="rect">
            <a:avLst/>
          </a:prstGeom>
        </p:spPr>
        <p:txBody>
          <a:bodyPr anchor="t" rtlCol="false" tIns="0" lIns="0" bIns="0" rIns="0">
            <a:spAutoFit/>
          </a:bodyPr>
          <a:lstStyle/>
          <a:p>
            <a:pPr algn="l" marL="0" indent="0" lvl="0">
              <a:lnSpc>
                <a:spcPts val="2520"/>
              </a:lnSpc>
              <a:spcBef>
                <a:spcPct val="0"/>
              </a:spcBef>
            </a:pPr>
            <a:r>
              <a:rPr lang="en-US" b="true" sz="1800">
                <a:solidFill>
                  <a:srgbClr val="000000"/>
                </a:solidFill>
                <a:latin typeface="DM Sans Bold"/>
                <a:ea typeface="DM Sans Bold"/>
                <a:cs typeface="DM Sans Bold"/>
                <a:sym typeface="DM Sans Bold"/>
              </a:rPr>
              <a:t>Redis implementation</a:t>
            </a:r>
          </a:p>
        </p:txBody>
      </p:sp>
      <p:sp>
        <p:nvSpPr>
          <p:cNvPr name="TextBox 54" id="54"/>
          <p:cNvSpPr txBox="true"/>
          <p:nvPr/>
        </p:nvSpPr>
        <p:spPr>
          <a:xfrm rot="0">
            <a:off x="2546714" y="8805255"/>
            <a:ext cx="4774544" cy="549910"/>
          </a:xfrm>
          <a:prstGeom prst="rect">
            <a:avLst/>
          </a:prstGeom>
        </p:spPr>
        <p:txBody>
          <a:bodyPr anchor="t" rtlCol="false" tIns="0" lIns="0" bIns="0" rIns="0">
            <a:spAutoFit/>
          </a:bodyPr>
          <a:lstStyle/>
          <a:p>
            <a:pPr algn="r" marL="0" indent="0" lvl="0">
              <a:lnSpc>
                <a:spcPts val="2239"/>
              </a:lnSpc>
              <a:spcBef>
                <a:spcPct val="0"/>
              </a:spcBef>
            </a:pPr>
            <a:r>
              <a:rPr lang="en-US" sz="1599">
                <a:solidFill>
                  <a:srgbClr val="000000"/>
                </a:solidFill>
                <a:latin typeface="DM Sans"/>
                <a:ea typeface="DM Sans"/>
                <a:cs typeface="DM Sans"/>
                <a:sym typeface="DM Sans"/>
              </a:rPr>
              <a:t>Almost exhasuted every email id  that I had for tokens.</a:t>
            </a:r>
          </a:p>
        </p:txBody>
      </p:sp>
      <p:sp>
        <p:nvSpPr>
          <p:cNvPr name="TextBox 55" id="55"/>
          <p:cNvSpPr txBox="true"/>
          <p:nvPr/>
        </p:nvSpPr>
        <p:spPr>
          <a:xfrm rot="0">
            <a:off x="2546714" y="8346150"/>
            <a:ext cx="4774544" cy="306705"/>
          </a:xfrm>
          <a:prstGeom prst="rect">
            <a:avLst/>
          </a:prstGeom>
        </p:spPr>
        <p:txBody>
          <a:bodyPr anchor="t" rtlCol="false" tIns="0" lIns="0" bIns="0" rIns="0">
            <a:spAutoFit/>
          </a:bodyPr>
          <a:lstStyle/>
          <a:p>
            <a:pPr algn="r" marL="0" indent="0" lvl="0">
              <a:lnSpc>
                <a:spcPts val="2520"/>
              </a:lnSpc>
              <a:spcBef>
                <a:spcPct val="0"/>
              </a:spcBef>
            </a:pPr>
            <a:r>
              <a:rPr lang="en-US" b="true" sz="1800">
                <a:solidFill>
                  <a:srgbClr val="000000"/>
                </a:solidFill>
                <a:latin typeface="DM Sans Bold"/>
                <a:ea typeface="DM Sans Bold"/>
                <a:cs typeface="DM Sans Bold"/>
                <a:sym typeface="DM Sans Bold"/>
              </a:rPr>
              <a:t>Token Constraints</a:t>
            </a:r>
          </a:p>
        </p:txBody>
      </p:sp>
      <p:sp>
        <p:nvSpPr>
          <p:cNvPr name="TextBox 56" id="56"/>
          <p:cNvSpPr txBox="true"/>
          <p:nvPr/>
        </p:nvSpPr>
        <p:spPr>
          <a:xfrm rot="0">
            <a:off x="10965438" y="8805255"/>
            <a:ext cx="4774544" cy="826135"/>
          </a:xfrm>
          <a:prstGeom prst="rect">
            <a:avLst/>
          </a:prstGeom>
        </p:spPr>
        <p:txBody>
          <a:bodyPr anchor="t" rtlCol="false" tIns="0" lIns="0" bIns="0" rIns="0">
            <a:spAutoFit/>
          </a:bodyPr>
          <a:lstStyle/>
          <a:p>
            <a:pPr algn="l" marL="0" indent="0" lvl="0">
              <a:lnSpc>
                <a:spcPts val="2239"/>
              </a:lnSpc>
              <a:spcBef>
                <a:spcPct val="0"/>
              </a:spcBef>
            </a:pPr>
            <a:r>
              <a:rPr lang="en-US" sz="1599">
                <a:solidFill>
                  <a:srgbClr val="000000"/>
                </a:solidFill>
                <a:latin typeface="DM Sans"/>
                <a:ea typeface="DM Sans"/>
                <a:cs typeface="DM Sans"/>
                <a:sym typeface="DM Sans"/>
              </a:rPr>
              <a:t>Added skills.md to the project so the AI knows exactly what we are expecting it to do, used graphify to control the number of token used.</a:t>
            </a:r>
          </a:p>
        </p:txBody>
      </p:sp>
      <p:sp>
        <p:nvSpPr>
          <p:cNvPr name="TextBox 57" id="57"/>
          <p:cNvSpPr txBox="true"/>
          <p:nvPr/>
        </p:nvSpPr>
        <p:spPr>
          <a:xfrm rot="0">
            <a:off x="10965438" y="8346150"/>
            <a:ext cx="4774544" cy="306705"/>
          </a:xfrm>
          <a:prstGeom prst="rect">
            <a:avLst/>
          </a:prstGeom>
        </p:spPr>
        <p:txBody>
          <a:bodyPr anchor="t" rtlCol="false" tIns="0" lIns="0" bIns="0" rIns="0">
            <a:spAutoFit/>
          </a:bodyPr>
          <a:lstStyle/>
          <a:p>
            <a:pPr algn="l" marL="0" indent="0" lvl="0">
              <a:lnSpc>
                <a:spcPts val="2520"/>
              </a:lnSpc>
              <a:spcBef>
                <a:spcPct val="0"/>
              </a:spcBef>
            </a:pPr>
            <a:r>
              <a:rPr lang="en-US" b="true" sz="1800">
                <a:solidFill>
                  <a:srgbClr val="000000"/>
                </a:solidFill>
                <a:latin typeface="DM Sans Bold"/>
                <a:ea typeface="DM Sans Bold"/>
                <a:cs typeface="DM Sans Bold"/>
                <a:sym typeface="DM Sans Bold"/>
              </a:rPr>
              <a:t>Graphify and Skills</a:t>
            </a:r>
          </a:p>
        </p:txBody>
      </p:sp>
      <p:sp>
        <p:nvSpPr>
          <p:cNvPr name="AutoShape 58" id="58"/>
          <p:cNvSpPr/>
          <p:nvPr/>
        </p:nvSpPr>
        <p:spPr>
          <a:xfrm>
            <a:off x="5897880" y="1876425"/>
            <a:ext cx="6492240" cy="0"/>
          </a:xfrm>
          <a:prstGeom prst="line">
            <a:avLst/>
          </a:prstGeom>
          <a:ln cap="flat" w="38100">
            <a:solidFill>
              <a:srgbClr val="E44650"/>
            </a:solidFill>
            <a:prstDash val="solid"/>
            <a:headEnd type="none" len="sm" w="sm"/>
            <a:tailEnd type="none" len="sm" w="sm"/>
          </a:ln>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DF3F6"/>
        </a:solidFill>
      </p:bgPr>
    </p:bg>
    <p:spTree>
      <p:nvGrpSpPr>
        <p:cNvPr id="1" name=""/>
        <p:cNvGrpSpPr/>
        <p:nvPr/>
      </p:nvGrpSpPr>
      <p:grpSpPr>
        <a:xfrm>
          <a:off x="0" y="0"/>
          <a:ext cx="0" cy="0"/>
          <a:chOff x="0" y="0"/>
          <a:chExt cx="0" cy="0"/>
        </a:xfrm>
      </p:grpSpPr>
      <p:sp>
        <p:nvSpPr>
          <p:cNvPr name="TextBox 2" id="2"/>
          <p:cNvSpPr txBox="true"/>
          <p:nvPr/>
        </p:nvSpPr>
        <p:spPr>
          <a:xfrm rot="0">
            <a:off x="4419037" y="996315"/>
            <a:ext cx="9027596" cy="613410"/>
          </a:xfrm>
          <a:prstGeom prst="rect">
            <a:avLst/>
          </a:prstGeom>
        </p:spPr>
        <p:txBody>
          <a:bodyPr anchor="t" rtlCol="false" tIns="0" lIns="0" bIns="0" rIns="0">
            <a:spAutoFit/>
          </a:bodyPr>
          <a:lstStyle/>
          <a:p>
            <a:pPr algn="ctr">
              <a:lnSpc>
                <a:spcPts val="5039"/>
              </a:lnSpc>
              <a:spcBef>
                <a:spcPct val="0"/>
              </a:spcBef>
            </a:pPr>
            <a:r>
              <a:rPr lang="en-US" b="true" sz="3599">
                <a:solidFill>
                  <a:srgbClr val="000000"/>
                </a:solidFill>
                <a:latin typeface="DM Sans Bold"/>
                <a:ea typeface="DM Sans Bold"/>
                <a:cs typeface="DM Sans Bold"/>
                <a:sym typeface="DM Sans Bold"/>
              </a:rPr>
              <a:t>Challenges Faced - Anwesha</a:t>
            </a:r>
          </a:p>
        </p:txBody>
      </p:sp>
      <p:sp>
        <p:nvSpPr>
          <p:cNvPr name="Freeform 3" id="3"/>
          <p:cNvSpPr/>
          <p:nvPr/>
        </p:nvSpPr>
        <p:spPr>
          <a:xfrm flipH="false" flipV="false" rot="0">
            <a:off x="2546714" y="3229542"/>
            <a:ext cx="4774544" cy="300021"/>
          </a:xfrm>
          <a:custGeom>
            <a:avLst/>
            <a:gdLst/>
            <a:ahLst/>
            <a:cxnLst/>
            <a:rect r="r" b="b" t="t" l="l"/>
            <a:pathLst>
              <a:path h="300021" w="4774544">
                <a:moveTo>
                  <a:pt x="0" y="0"/>
                </a:moveTo>
                <a:lnTo>
                  <a:pt x="4774544" y="0"/>
                </a:lnTo>
                <a:lnTo>
                  <a:pt x="4774544" y="300021"/>
                </a:lnTo>
                <a:lnTo>
                  <a:pt x="0" y="300021"/>
                </a:lnTo>
                <a:lnTo>
                  <a:pt x="0" y="0"/>
                </a:lnTo>
                <a:close/>
              </a:path>
            </a:pathLst>
          </a:custGeom>
          <a:blipFill>
            <a:blip r:embed="rId2">
              <a:alphaModFix amt="65000"/>
            </a:blip>
            <a:stretch>
              <a:fillRect l="0" t="-82288" r="0" b="0"/>
            </a:stretch>
          </a:blipFill>
        </p:spPr>
      </p:sp>
      <p:sp>
        <p:nvSpPr>
          <p:cNvPr name="Freeform 4" id="4"/>
          <p:cNvSpPr/>
          <p:nvPr/>
        </p:nvSpPr>
        <p:spPr>
          <a:xfrm flipH="false" flipV="false" rot="0">
            <a:off x="10965737" y="3229542"/>
            <a:ext cx="4774544" cy="300021"/>
          </a:xfrm>
          <a:custGeom>
            <a:avLst/>
            <a:gdLst/>
            <a:ahLst/>
            <a:cxnLst/>
            <a:rect r="r" b="b" t="t" l="l"/>
            <a:pathLst>
              <a:path h="300021" w="4774544">
                <a:moveTo>
                  <a:pt x="0" y="0"/>
                </a:moveTo>
                <a:lnTo>
                  <a:pt x="4774544" y="0"/>
                </a:lnTo>
                <a:lnTo>
                  <a:pt x="4774544" y="300021"/>
                </a:lnTo>
                <a:lnTo>
                  <a:pt x="0" y="300021"/>
                </a:lnTo>
                <a:lnTo>
                  <a:pt x="0" y="0"/>
                </a:lnTo>
                <a:close/>
              </a:path>
            </a:pathLst>
          </a:custGeom>
          <a:blipFill>
            <a:blip r:embed="rId2">
              <a:alphaModFix amt="65000"/>
            </a:blip>
            <a:stretch>
              <a:fillRect l="0" t="-82288" r="0" b="0"/>
            </a:stretch>
          </a:blipFill>
        </p:spPr>
      </p:sp>
      <p:grpSp>
        <p:nvGrpSpPr>
          <p:cNvPr name="Group 5" id="5"/>
          <p:cNvGrpSpPr/>
          <p:nvPr/>
        </p:nvGrpSpPr>
        <p:grpSpPr>
          <a:xfrm rot="0">
            <a:off x="2546714" y="2668366"/>
            <a:ext cx="4771936" cy="687686"/>
            <a:chOff x="0" y="0"/>
            <a:chExt cx="1081126" cy="155801"/>
          </a:xfrm>
        </p:grpSpPr>
        <p:sp>
          <p:nvSpPr>
            <p:cNvPr name="Freeform 6" id="6"/>
            <p:cNvSpPr/>
            <p:nvPr/>
          </p:nvSpPr>
          <p:spPr>
            <a:xfrm flipH="false" flipV="false" rot="0">
              <a:off x="0" y="0"/>
              <a:ext cx="1081126" cy="155801"/>
            </a:xfrm>
            <a:custGeom>
              <a:avLst/>
              <a:gdLst/>
              <a:ahLst/>
              <a:cxnLst/>
              <a:rect r="r" b="b" t="t" l="l"/>
              <a:pathLst>
                <a:path h="155801" w="1081126">
                  <a:moveTo>
                    <a:pt x="12979" y="0"/>
                  </a:moveTo>
                  <a:lnTo>
                    <a:pt x="1068147" y="0"/>
                  </a:lnTo>
                  <a:cubicBezTo>
                    <a:pt x="1075315" y="0"/>
                    <a:pt x="1081126" y="5811"/>
                    <a:pt x="1081126" y="12979"/>
                  </a:cubicBezTo>
                  <a:lnTo>
                    <a:pt x="1081126" y="142822"/>
                  </a:lnTo>
                  <a:cubicBezTo>
                    <a:pt x="1081126" y="146265"/>
                    <a:pt x="1079758" y="149566"/>
                    <a:pt x="1077324" y="152000"/>
                  </a:cubicBezTo>
                  <a:cubicBezTo>
                    <a:pt x="1074890" y="154434"/>
                    <a:pt x="1071589" y="155801"/>
                    <a:pt x="1068147" y="155801"/>
                  </a:cubicBezTo>
                  <a:lnTo>
                    <a:pt x="12979" y="155801"/>
                  </a:lnTo>
                  <a:cubicBezTo>
                    <a:pt x="5811" y="155801"/>
                    <a:pt x="0" y="149991"/>
                    <a:pt x="0" y="142822"/>
                  </a:cubicBezTo>
                  <a:lnTo>
                    <a:pt x="0" y="12979"/>
                  </a:lnTo>
                  <a:cubicBezTo>
                    <a:pt x="0" y="5811"/>
                    <a:pt x="5811" y="0"/>
                    <a:pt x="12979" y="0"/>
                  </a:cubicBezTo>
                  <a:close/>
                </a:path>
              </a:pathLst>
            </a:custGeom>
            <a:solidFill>
              <a:srgbClr val="02B2E4"/>
            </a:solidFill>
          </p:spPr>
        </p:sp>
        <p:sp>
          <p:nvSpPr>
            <p:cNvPr name="TextBox 7" id="7"/>
            <p:cNvSpPr txBox="true"/>
            <p:nvPr/>
          </p:nvSpPr>
          <p:spPr>
            <a:xfrm>
              <a:off x="0" y="-47625"/>
              <a:ext cx="1081126" cy="203426"/>
            </a:xfrm>
            <a:prstGeom prst="rect">
              <a:avLst/>
            </a:prstGeom>
          </p:spPr>
          <p:txBody>
            <a:bodyPr anchor="ctr" rtlCol="false" tIns="50800" lIns="50800" bIns="50800" rIns="50800"/>
            <a:lstStyle/>
            <a:p>
              <a:pPr algn="ctr" marL="0" indent="0" lvl="0">
                <a:lnSpc>
                  <a:spcPts val="3079"/>
                </a:lnSpc>
                <a:spcBef>
                  <a:spcPct val="0"/>
                </a:spcBef>
              </a:pPr>
              <a:r>
                <a:rPr lang="en-US" b="true" sz="2199">
                  <a:solidFill>
                    <a:srgbClr val="000000"/>
                  </a:solidFill>
                  <a:latin typeface="DM Sans Bold"/>
                  <a:ea typeface="DM Sans Bold"/>
                  <a:cs typeface="DM Sans Bold"/>
                  <a:sym typeface="DM Sans Bold"/>
                </a:rPr>
                <a:t>From Issues</a:t>
              </a:r>
            </a:p>
          </p:txBody>
        </p:sp>
      </p:grpSp>
      <p:grpSp>
        <p:nvGrpSpPr>
          <p:cNvPr name="Group 8" id="8"/>
          <p:cNvGrpSpPr/>
          <p:nvPr/>
        </p:nvGrpSpPr>
        <p:grpSpPr>
          <a:xfrm rot="0">
            <a:off x="7616533" y="2694936"/>
            <a:ext cx="3053929" cy="634547"/>
            <a:chOff x="0" y="0"/>
            <a:chExt cx="2567133" cy="533400"/>
          </a:xfrm>
        </p:grpSpPr>
        <p:sp>
          <p:nvSpPr>
            <p:cNvPr name="Freeform 9" id="9"/>
            <p:cNvSpPr/>
            <p:nvPr/>
          </p:nvSpPr>
          <p:spPr>
            <a:xfrm flipH="false" flipV="false" rot="0">
              <a:off x="0" y="0"/>
              <a:ext cx="2567133" cy="533400"/>
            </a:xfrm>
            <a:custGeom>
              <a:avLst/>
              <a:gdLst/>
              <a:ahLst/>
              <a:cxnLst/>
              <a:rect r="r" b="b" t="t" l="l"/>
              <a:pathLst>
                <a:path h="533400" w="2567133">
                  <a:moveTo>
                    <a:pt x="273050" y="0"/>
                  </a:moveTo>
                  <a:lnTo>
                    <a:pt x="0" y="266700"/>
                  </a:lnTo>
                  <a:lnTo>
                    <a:pt x="273050" y="533400"/>
                  </a:lnTo>
                  <a:lnTo>
                    <a:pt x="273050" y="400050"/>
                  </a:lnTo>
                  <a:lnTo>
                    <a:pt x="2294083" y="400050"/>
                  </a:lnTo>
                  <a:lnTo>
                    <a:pt x="2294083" y="533400"/>
                  </a:lnTo>
                  <a:lnTo>
                    <a:pt x="2567133" y="266700"/>
                  </a:lnTo>
                  <a:lnTo>
                    <a:pt x="2294083" y="0"/>
                  </a:lnTo>
                  <a:lnTo>
                    <a:pt x="2294083" y="133350"/>
                  </a:lnTo>
                  <a:lnTo>
                    <a:pt x="273050" y="133350"/>
                  </a:lnTo>
                  <a:lnTo>
                    <a:pt x="273050" y="0"/>
                  </a:lnTo>
                  <a:close/>
                </a:path>
              </a:pathLst>
            </a:custGeom>
            <a:solidFill>
              <a:srgbClr val="FFFFFF"/>
            </a:solidFill>
          </p:spPr>
        </p:sp>
        <p:sp>
          <p:nvSpPr>
            <p:cNvPr name="TextBox 10" id="10"/>
            <p:cNvSpPr txBox="true"/>
            <p:nvPr/>
          </p:nvSpPr>
          <p:spPr>
            <a:xfrm>
              <a:off x="101600" y="101600"/>
              <a:ext cx="2363933" cy="292100"/>
            </a:xfrm>
            <a:prstGeom prst="rect">
              <a:avLst/>
            </a:prstGeom>
          </p:spPr>
          <p:txBody>
            <a:bodyPr anchor="ctr" rtlCol="false" tIns="50800" lIns="50800" bIns="50800" rIns="50800"/>
            <a:lstStyle/>
            <a:p>
              <a:pPr algn="ctr">
                <a:lnSpc>
                  <a:spcPts val="2520"/>
                </a:lnSpc>
              </a:pPr>
            </a:p>
          </p:txBody>
        </p:sp>
      </p:grpSp>
      <p:grpSp>
        <p:nvGrpSpPr>
          <p:cNvPr name="Group 11" id="11"/>
          <p:cNvGrpSpPr/>
          <p:nvPr/>
        </p:nvGrpSpPr>
        <p:grpSpPr>
          <a:xfrm rot="0">
            <a:off x="10965438" y="2668366"/>
            <a:ext cx="4774544" cy="687686"/>
            <a:chOff x="0" y="0"/>
            <a:chExt cx="1081717" cy="155801"/>
          </a:xfrm>
        </p:grpSpPr>
        <p:sp>
          <p:nvSpPr>
            <p:cNvPr name="Freeform 12" id="12"/>
            <p:cNvSpPr/>
            <p:nvPr/>
          </p:nvSpPr>
          <p:spPr>
            <a:xfrm flipH="false" flipV="false" rot="0">
              <a:off x="0" y="0"/>
              <a:ext cx="1081717" cy="155801"/>
            </a:xfrm>
            <a:custGeom>
              <a:avLst/>
              <a:gdLst/>
              <a:ahLst/>
              <a:cxnLst/>
              <a:rect r="r" b="b" t="t" l="l"/>
              <a:pathLst>
                <a:path h="155801" w="1081717">
                  <a:moveTo>
                    <a:pt x="12972" y="0"/>
                  </a:moveTo>
                  <a:lnTo>
                    <a:pt x="1068745" y="0"/>
                  </a:lnTo>
                  <a:cubicBezTo>
                    <a:pt x="1072185" y="0"/>
                    <a:pt x="1075485" y="1367"/>
                    <a:pt x="1077917" y="3799"/>
                  </a:cubicBezTo>
                  <a:cubicBezTo>
                    <a:pt x="1080350" y="6232"/>
                    <a:pt x="1081717" y="9532"/>
                    <a:pt x="1081717" y="12972"/>
                  </a:cubicBezTo>
                  <a:lnTo>
                    <a:pt x="1081717" y="142829"/>
                  </a:lnTo>
                  <a:cubicBezTo>
                    <a:pt x="1081717" y="146270"/>
                    <a:pt x="1080350" y="149569"/>
                    <a:pt x="1077917" y="152002"/>
                  </a:cubicBezTo>
                  <a:cubicBezTo>
                    <a:pt x="1075485" y="154435"/>
                    <a:pt x="1072185" y="155801"/>
                    <a:pt x="1068745" y="155801"/>
                  </a:cubicBezTo>
                  <a:lnTo>
                    <a:pt x="12972" y="155801"/>
                  </a:lnTo>
                  <a:cubicBezTo>
                    <a:pt x="9532" y="155801"/>
                    <a:pt x="6232" y="154435"/>
                    <a:pt x="3799" y="152002"/>
                  </a:cubicBezTo>
                  <a:cubicBezTo>
                    <a:pt x="1367" y="149569"/>
                    <a:pt x="0" y="146270"/>
                    <a:pt x="0" y="142829"/>
                  </a:cubicBezTo>
                  <a:lnTo>
                    <a:pt x="0" y="12972"/>
                  </a:lnTo>
                  <a:cubicBezTo>
                    <a:pt x="0" y="9532"/>
                    <a:pt x="1367" y="6232"/>
                    <a:pt x="3799" y="3799"/>
                  </a:cubicBezTo>
                  <a:cubicBezTo>
                    <a:pt x="6232" y="1367"/>
                    <a:pt x="9532" y="0"/>
                    <a:pt x="12972" y="0"/>
                  </a:cubicBezTo>
                  <a:close/>
                </a:path>
              </a:pathLst>
            </a:custGeom>
            <a:solidFill>
              <a:srgbClr val="5DDB78"/>
            </a:solidFill>
          </p:spPr>
        </p:sp>
        <p:sp>
          <p:nvSpPr>
            <p:cNvPr name="TextBox 13" id="13"/>
            <p:cNvSpPr txBox="true"/>
            <p:nvPr/>
          </p:nvSpPr>
          <p:spPr>
            <a:xfrm>
              <a:off x="0" y="-47625"/>
              <a:ext cx="1081717" cy="203426"/>
            </a:xfrm>
            <a:prstGeom prst="rect">
              <a:avLst/>
            </a:prstGeom>
          </p:spPr>
          <p:txBody>
            <a:bodyPr anchor="ctr" rtlCol="false" tIns="50800" lIns="50800" bIns="50800" rIns="50800"/>
            <a:lstStyle/>
            <a:p>
              <a:pPr algn="ctr" marL="0" indent="0" lvl="0">
                <a:lnSpc>
                  <a:spcPts val="3079"/>
                </a:lnSpc>
                <a:spcBef>
                  <a:spcPct val="0"/>
                </a:spcBef>
              </a:pPr>
              <a:r>
                <a:rPr lang="en-US" b="true" sz="2199">
                  <a:solidFill>
                    <a:srgbClr val="000000"/>
                  </a:solidFill>
                  <a:latin typeface="DM Sans Bold"/>
                  <a:ea typeface="DM Sans Bold"/>
                  <a:cs typeface="DM Sans Bold"/>
                  <a:sym typeface="DM Sans Bold"/>
                </a:rPr>
                <a:t>To Improvements</a:t>
              </a:r>
            </a:p>
          </p:txBody>
        </p:sp>
      </p:grpSp>
      <p:sp>
        <p:nvSpPr>
          <p:cNvPr name="Freeform 14" id="14"/>
          <p:cNvSpPr/>
          <p:nvPr/>
        </p:nvSpPr>
        <p:spPr>
          <a:xfrm flipH="false" flipV="false" rot="0">
            <a:off x="8741091" y="2667000"/>
            <a:ext cx="804812" cy="803806"/>
          </a:xfrm>
          <a:custGeom>
            <a:avLst/>
            <a:gdLst/>
            <a:ahLst/>
            <a:cxnLst/>
            <a:rect r="r" b="b" t="t" l="l"/>
            <a:pathLst>
              <a:path h="803806" w="804812">
                <a:moveTo>
                  <a:pt x="0" y="0"/>
                </a:moveTo>
                <a:lnTo>
                  <a:pt x="804812" y="0"/>
                </a:lnTo>
                <a:lnTo>
                  <a:pt x="804812" y="803806"/>
                </a:lnTo>
                <a:lnTo>
                  <a:pt x="0" y="803806"/>
                </a:lnTo>
                <a:lnTo>
                  <a:pt x="0" y="0"/>
                </a:lnTo>
                <a:close/>
              </a:path>
            </a:pathLst>
          </a:custGeom>
          <a:blipFill>
            <a:blip r:embed="rId3"/>
            <a:stretch>
              <a:fillRect l="0" t="0" r="0" b="0"/>
            </a:stretch>
          </a:blipFill>
        </p:spPr>
      </p:sp>
      <p:grpSp>
        <p:nvGrpSpPr>
          <p:cNvPr name="Group 15" id="15"/>
          <p:cNvGrpSpPr/>
          <p:nvPr/>
        </p:nvGrpSpPr>
        <p:grpSpPr>
          <a:xfrm rot="0">
            <a:off x="8798288" y="2667000"/>
            <a:ext cx="690418" cy="690418"/>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marL="0" indent="0" lvl="0">
                <a:lnSpc>
                  <a:spcPts val="2519"/>
                </a:lnSpc>
                <a:spcBef>
                  <a:spcPct val="0"/>
                </a:spcBef>
              </a:pPr>
            </a:p>
          </p:txBody>
        </p:sp>
      </p:grpSp>
      <p:sp>
        <p:nvSpPr>
          <p:cNvPr name="Freeform 18" id="18"/>
          <p:cNvSpPr/>
          <p:nvPr/>
        </p:nvSpPr>
        <p:spPr>
          <a:xfrm flipH="false" flipV="false" rot="5400000">
            <a:off x="7966950" y="3643438"/>
            <a:ext cx="1310584" cy="1463833"/>
          </a:xfrm>
          <a:custGeom>
            <a:avLst/>
            <a:gdLst/>
            <a:ahLst/>
            <a:cxnLst/>
            <a:rect r="r" b="b" t="t" l="l"/>
            <a:pathLst>
              <a:path h="1463833" w="1310584">
                <a:moveTo>
                  <a:pt x="0" y="0"/>
                </a:moveTo>
                <a:lnTo>
                  <a:pt x="1310585" y="0"/>
                </a:lnTo>
                <a:lnTo>
                  <a:pt x="1310585" y="1463833"/>
                </a:lnTo>
                <a:lnTo>
                  <a:pt x="0" y="14638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true" rot="5400000">
            <a:off x="9009460" y="3643438"/>
            <a:ext cx="1310584" cy="1463833"/>
          </a:xfrm>
          <a:custGeom>
            <a:avLst/>
            <a:gdLst/>
            <a:ahLst/>
            <a:cxnLst/>
            <a:rect r="r" b="b" t="t" l="l"/>
            <a:pathLst>
              <a:path h="1463833" w="1310584">
                <a:moveTo>
                  <a:pt x="0" y="1463833"/>
                </a:moveTo>
                <a:lnTo>
                  <a:pt x="1310584" y="1463833"/>
                </a:lnTo>
                <a:lnTo>
                  <a:pt x="1310584" y="0"/>
                </a:lnTo>
                <a:lnTo>
                  <a:pt x="0" y="0"/>
                </a:lnTo>
                <a:lnTo>
                  <a:pt x="0" y="1463833"/>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0" id="20"/>
          <p:cNvSpPr/>
          <p:nvPr/>
        </p:nvSpPr>
        <p:spPr>
          <a:xfrm flipH="false" flipV="false" rot="0">
            <a:off x="8741091" y="3973452"/>
            <a:ext cx="804812" cy="803806"/>
          </a:xfrm>
          <a:custGeom>
            <a:avLst/>
            <a:gdLst/>
            <a:ahLst/>
            <a:cxnLst/>
            <a:rect r="r" b="b" t="t" l="l"/>
            <a:pathLst>
              <a:path h="803806" w="804812">
                <a:moveTo>
                  <a:pt x="0" y="0"/>
                </a:moveTo>
                <a:lnTo>
                  <a:pt x="804812" y="0"/>
                </a:lnTo>
                <a:lnTo>
                  <a:pt x="804812" y="803806"/>
                </a:lnTo>
                <a:lnTo>
                  <a:pt x="0" y="803806"/>
                </a:lnTo>
                <a:lnTo>
                  <a:pt x="0" y="0"/>
                </a:lnTo>
                <a:close/>
              </a:path>
            </a:pathLst>
          </a:custGeom>
          <a:blipFill>
            <a:blip r:embed="rId3"/>
            <a:stretch>
              <a:fillRect l="0" t="0" r="0" b="0"/>
            </a:stretch>
          </a:blipFill>
        </p:spPr>
      </p:sp>
      <p:grpSp>
        <p:nvGrpSpPr>
          <p:cNvPr name="Group 21" id="21"/>
          <p:cNvGrpSpPr/>
          <p:nvPr/>
        </p:nvGrpSpPr>
        <p:grpSpPr>
          <a:xfrm rot="0">
            <a:off x="8869504" y="4101477"/>
            <a:ext cx="547756" cy="547756"/>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marL="0" indent="0" lvl="0">
                <a:lnSpc>
                  <a:spcPts val="2519"/>
                </a:lnSpc>
                <a:spcBef>
                  <a:spcPct val="0"/>
                </a:spcBef>
              </a:pPr>
              <a:r>
                <a:rPr lang="en-US" b="true" sz="1799">
                  <a:solidFill>
                    <a:srgbClr val="000000"/>
                  </a:solidFill>
                  <a:latin typeface="DM Sans Bold"/>
                  <a:ea typeface="DM Sans Bold"/>
                  <a:cs typeface="DM Sans Bold"/>
                  <a:sym typeface="DM Sans Bold"/>
                </a:rPr>
                <a:t>01</a:t>
              </a:r>
            </a:p>
          </p:txBody>
        </p:sp>
      </p:grpSp>
      <p:sp>
        <p:nvSpPr>
          <p:cNvPr name="Freeform 24" id="24"/>
          <p:cNvSpPr/>
          <p:nvPr/>
        </p:nvSpPr>
        <p:spPr>
          <a:xfrm flipH="false" flipV="false" rot="5400000">
            <a:off x="7966950" y="5141556"/>
            <a:ext cx="1310584" cy="1463833"/>
          </a:xfrm>
          <a:custGeom>
            <a:avLst/>
            <a:gdLst/>
            <a:ahLst/>
            <a:cxnLst/>
            <a:rect r="r" b="b" t="t" l="l"/>
            <a:pathLst>
              <a:path h="1463833" w="1310584">
                <a:moveTo>
                  <a:pt x="0" y="0"/>
                </a:moveTo>
                <a:lnTo>
                  <a:pt x="1310585" y="0"/>
                </a:lnTo>
                <a:lnTo>
                  <a:pt x="1310585" y="1463833"/>
                </a:lnTo>
                <a:lnTo>
                  <a:pt x="0" y="14638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false" flipV="false" rot="0">
            <a:off x="8741091" y="5471569"/>
            <a:ext cx="804812" cy="803806"/>
          </a:xfrm>
          <a:custGeom>
            <a:avLst/>
            <a:gdLst/>
            <a:ahLst/>
            <a:cxnLst/>
            <a:rect r="r" b="b" t="t" l="l"/>
            <a:pathLst>
              <a:path h="803806" w="804812">
                <a:moveTo>
                  <a:pt x="0" y="0"/>
                </a:moveTo>
                <a:lnTo>
                  <a:pt x="804812" y="0"/>
                </a:lnTo>
                <a:lnTo>
                  <a:pt x="804812" y="803807"/>
                </a:lnTo>
                <a:lnTo>
                  <a:pt x="0" y="803807"/>
                </a:lnTo>
                <a:lnTo>
                  <a:pt x="0" y="0"/>
                </a:lnTo>
                <a:close/>
              </a:path>
            </a:pathLst>
          </a:custGeom>
          <a:blipFill>
            <a:blip r:embed="rId3"/>
            <a:stretch>
              <a:fillRect l="0" t="0" r="0" b="0"/>
            </a:stretch>
          </a:blipFill>
        </p:spPr>
      </p:sp>
      <p:sp>
        <p:nvSpPr>
          <p:cNvPr name="Freeform 26" id="26"/>
          <p:cNvSpPr/>
          <p:nvPr/>
        </p:nvSpPr>
        <p:spPr>
          <a:xfrm flipH="false" flipV="true" rot="5400000">
            <a:off x="9009460" y="5141556"/>
            <a:ext cx="1310584" cy="1463833"/>
          </a:xfrm>
          <a:custGeom>
            <a:avLst/>
            <a:gdLst/>
            <a:ahLst/>
            <a:cxnLst/>
            <a:rect r="r" b="b" t="t" l="l"/>
            <a:pathLst>
              <a:path h="1463833" w="1310584">
                <a:moveTo>
                  <a:pt x="0" y="1463833"/>
                </a:moveTo>
                <a:lnTo>
                  <a:pt x="1310584" y="1463833"/>
                </a:lnTo>
                <a:lnTo>
                  <a:pt x="1310584" y="0"/>
                </a:lnTo>
                <a:lnTo>
                  <a:pt x="0" y="0"/>
                </a:lnTo>
                <a:lnTo>
                  <a:pt x="0" y="1463833"/>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7" id="27"/>
          <p:cNvGrpSpPr/>
          <p:nvPr/>
        </p:nvGrpSpPr>
        <p:grpSpPr>
          <a:xfrm rot="0">
            <a:off x="8869504" y="5599594"/>
            <a:ext cx="547756" cy="547756"/>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9" id="29"/>
            <p:cNvSpPr txBox="true"/>
            <p:nvPr/>
          </p:nvSpPr>
          <p:spPr>
            <a:xfrm>
              <a:off x="76200" y="38100"/>
              <a:ext cx="660400" cy="698500"/>
            </a:xfrm>
            <a:prstGeom prst="rect">
              <a:avLst/>
            </a:prstGeom>
          </p:spPr>
          <p:txBody>
            <a:bodyPr anchor="ctr" rtlCol="false" tIns="50800" lIns="50800" bIns="50800" rIns="50800"/>
            <a:lstStyle/>
            <a:p>
              <a:pPr algn="ctr" marL="0" indent="0" lvl="0">
                <a:lnSpc>
                  <a:spcPts val="2519"/>
                </a:lnSpc>
                <a:spcBef>
                  <a:spcPct val="0"/>
                </a:spcBef>
              </a:pPr>
              <a:r>
                <a:rPr lang="en-US" b="true" sz="1799">
                  <a:solidFill>
                    <a:srgbClr val="000000"/>
                  </a:solidFill>
                  <a:latin typeface="DM Sans Bold"/>
                  <a:ea typeface="DM Sans Bold"/>
                  <a:cs typeface="DM Sans Bold"/>
                  <a:sym typeface="DM Sans Bold"/>
                </a:rPr>
                <a:t>02</a:t>
              </a:r>
            </a:p>
          </p:txBody>
        </p:sp>
      </p:grpSp>
      <p:sp>
        <p:nvSpPr>
          <p:cNvPr name="Freeform 30" id="30"/>
          <p:cNvSpPr/>
          <p:nvPr/>
        </p:nvSpPr>
        <p:spPr>
          <a:xfrm flipH="false" flipV="false" rot="5400000">
            <a:off x="7966950" y="6639674"/>
            <a:ext cx="1310584" cy="1463833"/>
          </a:xfrm>
          <a:custGeom>
            <a:avLst/>
            <a:gdLst/>
            <a:ahLst/>
            <a:cxnLst/>
            <a:rect r="r" b="b" t="t" l="l"/>
            <a:pathLst>
              <a:path h="1463833" w="1310584">
                <a:moveTo>
                  <a:pt x="0" y="0"/>
                </a:moveTo>
                <a:lnTo>
                  <a:pt x="1310585" y="0"/>
                </a:lnTo>
                <a:lnTo>
                  <a:pt x="1310585" y="1463833"/>
                </a:lnTo>
                <a:lnTo>
                  <a:pt x="0" y="14638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1" id="31"/>
          <p:cNvSpPr/>
          <p:nvPr/>
        </p:nvSpPr>
        <p:spPr>
          <a:xfrm flipH="false" flipV="false" rot="0">
            <a:off x="8741091" y="6972240"/>
            <a:ext cx="804812" cy="803806"/>
          </a:xfrm>
          <a:custGeom>
            <a:avLst/>
            <a:gdLst/>
            <a:ahLst/>
            <a:cxnLst/>
            <a:rect r="r" b="b" t="t" l="l"/>
            <a:pathLst>
              <a:path h="803806" w="804812">
                <a:moveTo>
                  <a:pt x="0" y="0"/>
                </a:moveTo>
                <a:lnTo>
                  <a:pt x="804812" y="0"/>
                </a:lnTo>
                <a:lnTo>
                  <a:pt x="804812" y="803806"/>
                </a:lnTo>
                <a:lnTo>
                  <a:pt x="0" y="803806"/>
                </a:lnTo>
                <a:lnTo>
                  <a:pt x="0" y="0"/>
                </a:lnTo>
                <a:close/>
              </a:path>
            </a:pathLst>
          </a:custGeom>
          <a:blipFill>
            <a:blip r:embed="rId3"/>
            <a:stretch>
              <a:fillRect l="0" t="0" r="0" b="0"/>
            </a:stretch>
          </a:blipFill>
        </p:spPr>
      </p:sp>
      <p:sp>
        <p:nvSpPr>
          <p:cNvPr name="Freeform 32" id="32"/>
          <p:cNvSpPr/>
          <p:nvPr/>
        </p:nvSpPr>
        <p:spPr>
          <a:xfrm flipH="false" flipV="true" rot="5400000">
            <a:off x="9009460" y="6639674"/>
            <a:ext cx="1310584" cy="1463833"/>
          </a:xfrm>
          <a:custGeom>
            <a:avLst/>
            <a:gdLst/>
            <a:ahLst/>
            <a:cxnLst/>
            <a:rect r="r" b="b" t="t" l="l"/>
            <a:pathLst>
              <a:path h="1463833" w="1310584">
                <a:moveTo>
                  <a:pt x="0" y="1463833"/>
                </a:moveTo>
                <a:lnTo>
                  <a:pt x="1310584" y="1463833"/>
                </a:lnTo>
                <a:lnTo>
                  <a:pt x="1310584" y="0"/>
                </a:lnTo>
                <a:lnTo>
                  <a:pt x="0" y="0"/>
                </a:lnTo>
                <a:lnTo>
                  <a:pt x="0" y="1463833"/>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3" id="33"/>
          <p:cNvGrpSpPr/>
          <p:nvPr/>
        </p:nvGrpSpPr>
        <p:grpSpPr>
          <a:xfrm rot="0">
            <a:off x="8869504" y="7100265"/>
            <a:ext cx="547756" cy="547756"/>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5" id="35"/>
            <p:cNvSpPr txBox="true"/>
            <p:nvPr/>
          </p:nvSpPr>
          <p:spPr>
            <a:xfrm>
              <a:off x="76200" y="38100"/>
              <a:ext cx="660400" cy="698500"/>
            </a:xfrm>
            <a:prstGeom prst="rect">
              <a:avLst/>
            </a:prstGeom>
          </p:spPr>
          <p:txBody>
            <a:bodyPr anchor="ctr" rtlCol="false" tIns="50800" lIns="50800" bIns="50800" rIns="50800"/>
            <a:lstStyle/>
            <a:p>
              <a:pPr algn="ctr" marL="0" indent="0" lvl="0">
                <a:lnSpc>
                  <a:spcPts val="2519"/>
                </a:lnSpc>
                <a:spcBef>
                  <a:spcPct val="0"/>
                </a:spcBef>
              </a:pPr>
              <a:r>
                <a:rPr lang="en-US" b="true" sz="1799">
                  <a:solidFill>
                    <a:srgbClr val="000000"/>
                  </a:solidFill>
                  <a:latin typeface="DM Sans Bold"/>
                  <a:ea typeface="DM Sans Bold"/>
                  <a:cs typeface="DM Sans Bold"/>
                  <a:sym typeface="DM Sans Bold"/>
                </a:rPr>
                <a:t>03</a:t>
              </a:r>
            </a:p>
          </p:txBody>
        </p:sp>
      </p:grpSp>
      <p:sp>
        <p:nvSpPr>
          <p:cNvPr name="Freeform 36" id="36"/>
          <p:cNvSpPr/>
          <p:nvPr/>
        </p:nvSpPr>
        <p:spPr>
          <a:xfrm flipH="false" flipV="false" rot="5400000">
            <a:off x="7966950" y="8137791"/>
            <a:ext cx="1310584" cy="1463833"/>
          </a:xfrm>
          <a:custGeom>
            <a:avLst/>
            <a:gdLst/>
            <a:ahLst/>
            <a:cxnLst/>
            <a:rect r="r" b="b" t="t" l="l"/>
            <a:pathLst>
              <a:path h="1463833" w="1310584">
                <a:moveTo>
                  <a:pt x="0" y="0"/>
                </a:moveTo>
                <a:lnTo>
                  <a:pt x="1310585" y="0"/>
                </a:lnTo>
                <a:lnTo>
                  <a:pt x="1310585" y="1463833"/>
                </a:lnTo>
                <a:lnTo>
                  <a:pt x="0" y="14638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7" id="37"/>
          <p:cNvSpPr/>
          <p:nvPr/>
        </p:nvSpPr>
        <p:spPr>
          <a:xfrm flipH="false" flipV="true" rot="5400000">
            <a:off x="9009460" y="8137791"/>
            <a:ext cx="1310584" cy="1463833"/>
          </a:xfrm>
          <a:custGeom>
            <a:avLst/>
            <a:gdLst/>
            <a:ahLst/>
            <a:cxnLst/>
            <a:rect r="r" b="b" t="t" l="l"/>
            <a:pathLst>
              <a:path h="1463833" w="1310584">
                <a:moveTo>
                  <a:pt x="0" y="1463833"/>
                </a:moveTo>
                <a:lnTo>
                  <a:pt x="1310584" y="1463833"/>
                </a:lnTo>
                <a:lnTo>
                  <a:pt x="1310584" y="0"/>
                </a:lnTo>
                <a:lnTo>
                  <a:pt x="0" y="0"/>
                </a:lnTo>
                <a:lnTo>
                  <a:pt x="0" y="1463833"/>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8" id="38"/>
          <p:cNvSpPr/>
          <p:nvPr/>
        </p:nvSpPr>
        <p:spPr>
          <a:xfrm flipH="false" flipV="false" rot="0">
            <a:off x="8741091" y="8472910"/>
            <a:ext cx="804812" cy="803806"/>
          </a:xfrm>
          <a:custGeom>
            <a:avLst/>
            <a:gdLst/>
            <a:ahLst/>
            <a:cxnLst/>
            <a:rect r="r" b="b" t="t" l="l"/>
            <a:pathLst>
              <a:path h="803806" w="804812">
                <a:moveTo>
                  <a:pt x="0" y="0"/>
                </a:moveTo>
                <a:lnTo>
                  <a:pt x="804812" y="0"/>
                </a:lnTo>
                <a:lnTo>
                  <a:pt x="804812" y="803806"/>
                </a:lnTo>
                <a:lnTo>
                  <a:pt x="0" y="803806"/>
                </a:lnTo>
                <a:lnTo>
                  <a:pt x="0" y="0"/>
                </a:lnTo>
                <a:close/>
              </a:path>
            </a:pathLst>
          </a:custGeom>
          <a:blipFill>
            <a:blip r:embed="rId3"/>
            <a:stretch>
              <a:fillRect l="0" t="0" r="0" b="0"/>
            </a:stretch>
          </a:blipFill>
        </p:spPr>
      </p:sp>
      <p:grpSp>
        <p:nvGrpSpPr>
          <p:cNvPr name="Group 39" id="39"/>
          <p:cNvGrpSpPr/>
          <p:nvPr/>
        </p:nvGrpSpPr>
        <p:grpSpPr>
          <a:xfrm rot="0">
            <a:off x="8869504" y="8595830"/>
            <a:ext cx="547756" cy="547756"/>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1" id="41"/>
            <p:cNvSpPr txBox="true"/>
            <p:nvPr/>
          </p:nvSpPr>
          <p:spPr>
            <a:xfrm>
              <a:off x="76200" y="38100"/>
              <a:ext cx="660400" cy="698500"/>
            </a:xfrm>
            <a:prstGeom prst="rect">
              <a:avLst/>
            </a:prstGeom>
          </p:spPr>
          <p:txBody>
            <a:bodyPr anchor="ctr" rtlCol="false" tIns="50800" lIns="50800" bIns="50800" rIns="50800"/>
            <a:lstStyle/>
            <a:p>
              <a:pPr algn="ctr" marL="0" indent="0" lvl="0">
                <a:lnSpc>
                  <a:spcPts val="2519"/>
                </a:lnSpc>
                <a:spcBef>
                  <a:spcPct val="0"/>
                </a:spcBef>
              </a:pPr>
              <a:r>
                <a:rPr lang="en-US" b="true" sz="1799">
                  <a:solidFill>
                    <a:srgbClr val="000000"/>
                  </a:solidFill>
                  <a:latin typeface="DM Sans Bold"/>
                  <a:ea typeface="DM Sans Bold"/>
                  <a:cs typeface="DM Sans Bold"/>
                  <a:sym typeface="DM Sans Bold"/>
                </a:rPr>
                <a:t>04</a:t>
              </a:r>
            </a:p>
          </p:txBody>
        </p:sp>
      </p:grpSp>
      <p:sp>
        <p:nvSpPr>
          <p:cNvPr name="TextBox 42" id="42"/>
          <p:cNvSpPr txBox="true"/>
          <p:nvPr/>
        </p:nvSpPr>
        <p:spPr>
          <a:xfrm rot="0">
            <a:off x="2546714" y="4310902"/>
            <a:ext cx="4774544" cy="549910"/>
          </a:xfrm>
          <a:prstGeom prst="rect">
            <a:avLst/>
          </a:prstGeom>
        </p:spPr>
        <p:txBody>
          <a:bodyPr anchor="t" rtlCol="false" tIns="0" lIns="0" bIns="0" rIns="0">
            <a:spAutoFit/>
          </a:bodyPr>
          <a:lstStyle/>
          <a:p>
            <a:pPr algn="r" marL="0" indent="0" lvl="0">
              <a:lnSpc>
                <a:spcPts val="2239"/>
              </a:lnSpc>
              <a:spcBef>
                <a:spcPct val="0"/>
              </a:spcBef>
            </a:pPr>
            <a:r>
              <a:rPr lang="en-US" sz="1599">
                <a:solidFill>
                  <a:srgbClr val="000000"/>
                </a:solidFill>
                <a:latin typeface="DM Sans"/>
                <a:ea typeface="DM Sans"/>
                <a:cs typeface="DM Sans"/>
                <a:sym typeface="DM Sans"/>
              </a:rPr>
              <a:t>Initial prompts produc</a:t>
            </a:r>
            <a:r>
              <a:rPr lang="en-US" sz="1599" strike="noStrike" u="none">
                <a:solidFill>
                  <a:srgbClr val="000000"/>
                </a:solidFill>
                <a:latin typeface="DM Sans"/>
                <a:ea typeface="DM Sans"/>
                <a:cs typeface="DM Sans"/>
                <a:sym typeface="DM Sans"/>
              </a:rPr>
              <a:t>ed inconsistent architectures and UI desi</a:t>
            </a:r>
            <a:r>
              <a:rPr lang="en-US" sz="1599" strike="noStrike" u="none">
                <a:solidFill>
                  <a:srgbClr val="000000"/>
                </a:solidFill>
                <a:latin typeface="DM Sans"/>
                <a:ea typeface="DM Sans"/>
                <a:cs typeface="DM Sans"/>
                <a:sym typeface="DM Sans"/>
              </a:rPr>
              <a:t>g</a:t>
            </a:r>
            <a:r>
              <a:rPr lang="en-US" sz="1599" strike="noStrike" u="none">
                <a:solidFill>
                  <a:srgbClr val="000000"/>
                </a:solidFill>
                <a:latin typeface="DM Sans"/>
                <a:ea typeface="DM Sans"/>
                <a:cs typeface="DM Sans"/>
                <a:sym typeface="DM Sans"/>
              </a:rPr>
              <a:t>ns.</a:t>
            </a:r>
          </a:p>
        </p:txBody>
      </p:sp>
      <p:sp>
        <p:nvSpPr>
          <p:cNvPr name="TextBox 43" id="43"/>
          <p:cNvSpPr txBox="true"/>
          <p:nvPr/>
        </p:nvSpPr>
        <p:spPr>
          <a:xfrm rot="0">
            <a:off x="2546714" y="3851797"/>
            <a:ext cx="4774544" cy="306705"/>
          </a:xfrm>
          <a:prstGeom prst="rect">
            <a:avLst/>
          </a:prstGeom>
        </p:spPr>
        <p:txBody>
          <a:bodyPr anchor="t" rtlCol="false" tIns="0" lIns="0" bIns="0" rIns="0">
            <a:spAutoFit/>
          </a:bodyPr>
          <a:lstStyle/>
          <a:p>
            <a:pPr algn="r" marL="0" indent="0" lvl="0">
              <a:lnSpc>
                <a:spcPts val="2520"/>
              </a:lnSpc>
              <a:spcBef>
                <a:spcPct val="0"/>
              </a:spcBef>
            </a:pPr>
            <a:r>
              <a:rPr lang="en-US" b="true" sz="1800">
                <a:solidFill>
                  <a:srgbClr val="000000"/>
                </a:solidFill>
                <a:latin typeface="DM Sans Bold"/>
                <a:ea typeface="DM Sans Bold"/>
                <a:cs typeface="DM Sans Bold"/>
                <a:sym typeface="DM Sans Bold"/>
              </a:rPr>
              <a:t>Unst</a:t>
            </a:r>
            <a:r>
              <a:rPr lang="en-US" b="true" sz="1800">
                <a:solidFill>
                  <a:srgbClr val="000000"/>
                </a:solidFill>
                <a:latin typeface="DM Sans Bold"/>
                <a:ea typeface="DM Sans Bold"/>
                <a:cs typeface="DM Sans Bold"/>
                <a:sym typeface="DM Sans Bold"/>
              </a:rPr>
              <a:t>ructured Prompts </a:t>
            </a:r>
          </a:p>
        </p:txBody>
      </p:sp>
      <p:sp>
        <p:nvSpPr>
          <p:cNvPr name="TextBox 44" id="44"/>
          <p:cNvSpPr txBox="true"/>
          <p:nvPr/>
        </p:nvSpPr>
        <p:spPr>
          <a:xfrm rot="0">
            <a:off x="10965438" y="4310902"/>
            <a:ext cx="4774544" cy="549910"/>
          </a:xfrm>
          <a:prstGeom prst="rect">
            <a:avLst/>
          </a:prstGeom>
        </p:spPr>
        <p:txBody>
          <a:bodyPr anchor="t" rtlCol="false" tIns="0" lIns="0" bIns="0" rIns="0">
            <a:spAutoFit/>
          </a:bodyPr>
          <a:lstStyle/>
          <a:p>
            <a:pPr algn="l" marL="0" indent="0" lvl="0">
              <a:lnSpc>
                <a:spcPts val="2239"/>
              </a:lnSpc>
              <a:spcBef>
                <a:spcPct val="0"/>
              </a:spcBef>
            </a:pPr>
            <a:r>
              <a:rPr lang="en-US" sz="1599">
                <a:solidFill>
                  <a:srgbClr val="000000"/>
                </a:solidFill>
                <a:latin typeface="DM Sans"/>
                <a:ea typeface="DM Sans"/>
                <a:cs typeface="DM Sans"/>
                <a:sym typeface="DM Sans"/>
              </a:rPr>
              <a:t>Int</a:t>
            </a:r>
            <a:r>
              <a:rPr lang="en-US" sz="1599">
                <a:solidFill>
                  <a:srgbClr val="000000"/>
                </a:solidFill>
                <a:latin typeface="DM Sans"/>
                <a:ea typeface="DM Sans"/>
                <a:cs typeface="DM Sans"/>
                <a:sym typeface="DM Sans"/>
              </a:rPr>
              <a:t>roduc</a:t>
            </a:r>
            <a:r>
              <a:rPr lang="en-US" sz="1599" strike="noStrike" u="none">
                <a:solidFill>
                  <a:srgbClr val="000000"/>
                </a:solidFill>
                <a:latin typeface="DM Sans"/>
                <a:ea typeface="DM Sans"/>
                <a:cs typeface="DM Sans"/>
                <a:sym typeface="DM Sans"/>
              </a:rPr>
              <a:t>ed rol</a:t>
            </a:r>
            <a:r>
              <a:rPr lang="en-US" sz="1599" strike="noStrike" u="none">
                <a:solidFill>
                  <a:srgbClr val="000000"/>
                </a:solidFill>
                <a:latin typeface="DM Sans"/>
                <a:ea typeface="DM Sans"/>
                <a:cs typeface="DM Sans"/>
                <a:sym typeface="DM Sans"/>
              </a:rPr>
              <a:t>e-b</a:t>
            </a:r>
            <a:r>
              <a:rPr lang="en-US" sz="1599" strike="noStrike" u="none">
                <a:solidFill>
                  <a:srgbClr val="000000"/>
                </a:solidFill>
                <a:latin typeface="DM Sans"/>
                <a:ea typeface="DM Sans"/>
                <a:cs typeface="DM Sans"/>
                <a:sym typeface="DM Sans"/>
              </a:rPr>
              <a:t>ased prompting and divided development into</a:t>
            </a:r>
            <a:r>
              <a:rPr lang="en-US" sz="1599" strike="noStrike" u="none">
                <a:solidFill>
                  <a:srgbClr val="000000"/>
                </a:solidFill>
                <a:latin typeface="DM Sans"/>
                <a:ea typeface="DM Sans"/>
                <a:cs typeface="DM Sans"/>
                <a:sym typeface="DM Sans"/>
              </a:rPr>
              <a:t> </a:t>
            </a:r>
            <a:r>
              <a:rPr lang="en-US" sz="1599" strike="noStrike" u="none">
                <a:solidFill>
                  <a:srgbClr val="000000"/>
                </a:solidFill>
                <a:latin typeface="DM Sans"/>
                <a:ea typeface="DM Sans"/>
                <a:cs typeface="DM Sans"/>
                <a:sym typeface="DM Sans"/>
              </a:rPr>
              <a:t>smaller implement</a:t>
            </a:r>
            <a:r>
              <a:rPr lang="en-US" sz="1599" strike="noStrike" u="none">
                <a:solidFill>
                  <a:srgbClr val="000000"/>
                </a:solidFill>
                <a:latin typeface="DM Sans"/>
                <a:ea typeface="DM Sans"/>
                <a:cs typeface="DM Sans"/>
                <a:sym typeface="DM Sans"/>
              </a:rPr>
              <a:t>a</a:t>
            </a:r>
            <a:r>
              <a:rPr lang="en-US" sz="1599" strike="noStrike" u="none">
                <a:solidFill>
                  <a:srgbClr val="000000"/>
                </a:solidFill>
                <a:latin typeface="DM Sans"/>
                <a:ea typeface="DM Sans"/>
                <a:cs typeface="DM Sans"/>
                <a:sym typeface="DM Sans"/>
              </a:rPr>
              <a:t>tion phases.</a:t>
            </a:r>
          </a:p>
        </p:txBody>
      </p:sp>
      <p:sp>
        <p:nvSpPr>
          <p:cNvPr name="TextBox 45" id="45"/>
          <p:cNvSpPr txBox="true"/>
          <p:nvPr/>
        </p:nvSpPr>
        <p:spPr>
          <a:xfrm rot="0">
            <a:off x="10965438" y="3851797"/>
            <a:ext cx="4774544" cy="306705"/>
          </a:xfrm>
          <a:prstGeom prst="rect">
            <a:avLst/>
          </a:prstGeom>
        </p:spPr>
        <p:txBody>
          <a:bodyPr anchor="t" rtlCol="false" tIns="0" lIns="0" bIns="0" rIns="0">
            <a:spAutoFit/>
          </a:bodyPr>
          <a:lstStyle/>
          <a:p>
            <a:pPr algn="l" marL="0" indent="0" lvl="0">
              <a:lnSpc>
                <a:spcPts val="2520"/>
              </a:lnSpc>
              <a:spcBef>
                <a:spcPct val="0"/>
              </a:spcBef>
            </a:pPr>
            <a:r>
              <a:rPr lang="en-US" b="true" sz="1800">
                <a:solidFill>
                  <a:srgbClr val="000000"/>
                </a:solidFill>
                <a:latin typeface="DM Sans Bold"/>
                <a:ea typeface="DM Sans Bold"/>
                <a:cs typeface="DM Sans Bold"/>
                <a:sym typeface="DM Sans Bold"/>
              </a:rPr>
              <a:t>Role-Based and Ph</a:t>
            </a:r>
            <a:r>
              <a:rPr lang="en-US" b="true" sz="1800">
                <a:solidFill>
                  <a:srgbClr val="000000"/>
                </a:solidFill>
                <a:latin typeface="DM Sans Bold"/>
                <a:ea typeface="DM Sans Bold"/>
                <a:cs typeface="DM Sans Bold"/>
                <a:sym typeface="DM Sans Bold"/>
              </a:rPr>
              <a:t>ased Development</a:t>
            </a:r>
          </a:p>
        </p:txBody>
      </p:sp>
      <p:sp>
        <p:nvSpPr>
          <p:cNvPr name="TextBox 46" id="46"/>
          <p:cNvSpPr txBox="true"/>
          <p:nvPr/>
        </p:nvSpPr>
        <p:spPr>
          <a:xfrm rot="0">
            <a:off x="2546714" y="5809020"/>
            <a:ext cx="4774544" cy="549910"/>
          </a:xfrm>
          <a:prstGeom prst="rect">
            <a:avLst/>
          </a:prstGeom>
        </p:spPr>
        <p:txBody>
          <a:bodyPr anchor="t" rtlCol="false" tIns="0" lIns="0" bIns="0" rIns="0">
            <a:spAutoFit/>
          </a:bodyPr>
          <a:lstStyle/>
          <a:p>
            <a:pPr algn="r" marL="0" indent="0" lvl="0">
              <a:lnSpc>
                <a:spcPts val="2239"/>
              </a:lnSpc>
              <a:spcBef>
                <a:spcPct val="0"/>
              </a:spcBef>
            </a:pPr>
            <a:r>
              <a:rPr lang="en-US" sz="1599">
                <a:solidFill>
                  <a:srgbClr val="000000"/>
                </a:solidFill>
                <a:latin typeface="DM Sans"/>
                <a:ea typeface="DM Sans"/>
                <a:cs typeface="DM Sans"/>
                <a:sym typeface="DM Sans"/>
              </a:rPr>
              <a:t>Some ou</a:t>
            </a:r>
            <a:r>
              <a:rPr lang="en-US" sz="1599" strike="noStrike" u="none">
                <a:solidFill>
                  <a:srgbClr val="000000"/>
                </a:solidFill>
                <a:latin typeface="DM Sans"/>
                <a:ea typeface="DM Sans"/>
                <a:cs typeface="DM Sans"/>
                <a:sym typeface="DM Sans"/>
              </a:rPr>
              <a:t>tputs looked correct but followed incorrect reasoning paths or assumptions.</a:t>
            </a:r>
          </a:p>
        </p:txBody>
      </p:sp>
      <p:sp>
        <p:nvSpPr>
          <p:cNvPr name="TextBox 47" id="47"/>
          <p:cNvSpPr txBox="true"/>
          <p:nvPr/>
        </p:nvSpPr>
        <p:spPr>
          <a:xfrm rot="0">
            <a:off x="2546714" y="5349915"/>
            <a:ext cx="4774544" cy="306705"/>
          </a:xfrm>
          <a:prstGeom prst="rect">
            <a:avLst/>
          </a:prstGeom>
        </p:spPr>
        <p:txBody>
          <a:bodyPr anchor="t" rtlCol="false" tIns="0" lIns="0" bIns="0" rIns="0">
            <a:spAutoFit/>
          </a:bodyPr>
          <a:lstStyle/>
          <a:p>
            <a:pPr algn="r" marL="0" indent="0" lvl="0">
              <a:lnSpc>
                <a:spcPts val="2520"/>
              </a:lnSpc>
              <a:spcBef>
                <a:spcPct val="0"/>
              </a:spcBef>
            </a:pPr>
            <a:r>
              <a:rPr lang="en-US" b="true" sz="1800">
                <a:solidFill>
                  <a:srgbClr val="000000"/>
                </a:solidFill>
                <a:latin typeface="DM Sans Bold"/>
                <a:ea typeface="DM Sans Bold"/>
                <a:cs typeface="DM Sans Bold"/>
                <a:sym typeface="DM Sans Bold"/>
              </a:rPr>
              <a:t>Hallucinations &amp; Incorrect Assumptions</a:t>
            </a:r>
          </a:p>
        </p:txBody>
      </p:sp>
      <p:sp>
        <p:nvSpPr>
          <p:cNvPr name="TextBox 48" id="48"/>
          <p:cNvSpPr txBox="true"/>
          <p:nvPr/>
        </p:nvSpPr>
        <p:spPr>
          <a:xfrm rot="0">
            <a:off x="10965438" y="5809020"/>
            <a:ext cx="4774544" cy="549910"/>
          </a:xfrm>
          <a:prstGeom prst="rect">
            <a:avLst/>
          </a:prstGeom>
        </p:spPr>
        <p:txBody>
          <a:bodyPr anchor="t" rtlCol="false" tIns="0" lIns="0" bIns="0" rIns="0">
            <a:spAutoFit/>
          </a:bodyPr>
          <a:lstStyle/>
          <a:p>
            <a:pPr algn="l" marL="0" indent="0" lvl="0">
              <a:lnSpc>
                <a:spcPts val="2239"/>
              </a:lnSpc>
              <a:spcBef>
                <a:spcPct val="0"/>
              </a:spcBef>
            </a:pPr>
            <a:r>
              <a:rPr lang="en-US" sz="1599">
                <a:solidFill>
                  <a:srgbClr val="000000"/>
                </a:solidFill>
                <a:latin typeface="DM Sans"/>
                <a:ea typeface="DM Sans"/>
                <a:cs typeface="DM Sans"/>
                <a:sym typeface="DM Sans"/>
              </a:rPr>
              <a:t>Cross-ver</a:t>
            </a:r>
            <a:r>
              <a:rPr lang="en-US" sz="1599" strike="noStrike" u="none">
                <a:solidFill>
                  <a:srgbClr val="000000"/>
                </a:solidFill>
                <a:latin typeface="DM Sans"/>
                <a:ea typeface="DM Sans"/>
                <a:cs typeface="DM Sans"/>
                <a:sym typeface="DM Sans"/>
              </a:rPr>
              <a:t>ified outputs, refined pro</a:t>
            </a:r>
            <a:r>
              <a:rPr lang="en-US" sz="1599" strike="noStrike" u="none">
                <a:solidFill>
                  <a:srgbClr val="000000"/>
                </a:solidFill>
                <a:latin typeface="DM Sans"/>
                <a:ea typeface="DM Sans"/>
                <a:cs typeface="DM Sans"/>
                <a:sym typeface="DM Sans"/>
              </a:rPr>
              <a:t>mpts, an</a:t>
            </a:r>
            <a:r>
              <a:rPr lang="en-US" sz="1599" strike="noStrike" u="none">
                <a:solidFill>
                  <a:srgbClr val="000000"/>
                </a:solidFill>
                <a:latin typeface="DM Sans"/>
                <a:ea typeface="DM Sans"/>
                <a:cs typeface="DM Sans"/>
                <a:sym typeface="DM Sans"/>
              </a:rPr>
              <a:t>d</a:t>
            </a:r>
            <a:r>
              <a:rPr lang="en-US" sz="1599" strike="noStrike" u="none">
                <a:solidFill>
                  <a:srgbClr val="000000"/>
                </a:solidFill>
                <a:latin typeface="DM Sans"/>
                <a:ea typeface="DM Sans"/>
                <a:cs typeface="DM Sans"/>
                <a:sym typeface="DM Sans"/>
              </a:rPr>
              <a:t> </a:t>
            </a:r>
            <a:r>
              <a:rPr lang="en-US" sz="1599" strike="noStrike" u="none">
                <a:solidFill>
                  <a:srgbClr val="000000"/>
                </a:solidFill>
                <a:latin typeface="DM Sans"/>
                <a:ea typeface="DM Sans"/>
                <a:cs typeface="DM Sans"/>
                <a:sym typeface="DM Sans"/>
              </a:rPr>
              <a:t>u</a:t>
            </a:r>
            <a:r>
              <a:rPr lang="en-US" sz="1599" strike="noStrike" u="none">
                <a:solidFill>
                  <a:srgbClr val="000000"/>
                </a:solidFill>
                <a:latin typeface="DM Sans"/>
                <a:ea typeface="DM Sans"/>
                <a:cs typeface="DM Sans"/>
                <a:sym typeface="DM Sans"/>
              </a:rPr>
              <a:t>s</a:t>
            </a:r>
            <a:r>
              <a:rPr lang="en-US" sz="1599" strike="noStrike" u="none">
                <a:solidFill>
                  <a:srgbClr val="000000"/>
                </a:solidFill>
                <a:latin typeface="DM Sans"/>
                <a:ea typeface="DM Sans"/>
                <a:cs typeface="DM Sans"/>
                <a:sym typeface="DM Sans"/>
              </a:rPr>
              <a:t>ed different mode</a:t>
            </a:r>
            <a:r>
              <a:rPr lang="en-US" sz="1599" strike="noStrike" u="none">
                <a:solidFill>
                  <a:srgbClr val="000000"/>
                </a:solidFill>
                <a:latin typeface="DM Sans"/>
                <a:ea typeface="DM Sans"/>
                <a:cs typeface="DM Sans"/>
                <a:sym typeface="DM Sans"/>
              </a:rPr>
              <a:t>l</a:t>
            </a:r>
            <a:r>
              <a:rPr lang="en-US" sz="1599" strike="noStrike" u="none">
                <a:solidFill>
                  <a:srgbClr val="000000"/>
                </a:solidFill>
                <a:latin typeface="DM Sans"/>
                <a:ea typeface="DM Sans"/>
                <a:cs typeface="DM Sans"/>
                <a:sym typeface="DM Sans"/>
              </a:rPr>
              <a:t>s </a:t>
            </a:r>
            <a:r>
              <a:rPr lang="en-US" sz="1599" strike="noStrike" u="none">
                <a:solidFill>
                  <a:srgbClr val="000000"/>
                </a:solidFill>
                <a:latin typeface="DM Sans"/>
                <a:ea typeface="DM Sans"/>
                <a:cs typeface="DM Sans"/>
                <a:sym typeface="DM Sans"/>
              </a:rPr>
              <a:t>ba</a:t>
            </a:r>
            <a:r>
              <a:rPr lang="en-US" sz="1599" strike="noStrike" u="none">
                <a:solidFill>
                  <a:srgbClr val="000000"/>
                </a:solidFill>
                <a:latin typeface="DM Sans"/>
                <a:ea typeface="DM Sans"/>
                <a:cs typeface="DM Sans"/>
                <a:sym typeface="DM Sans"/>
              </a:rPr>
              <a:t>s</a:t>
            </a:r>
            <a:r>
              <a:rPr lang="en-US" sz="1599" strike="noStrike" u="none">
                <a:solidFill>
                  <a:srgbClr val="000000"/>
                </a:solidFill>
                <a:latin typeface="DM Sans"/>
                <a:ea typeface="DM Sans"/>
                <a:cs typeface="DM Sans"/>
                <a:sym typeface="DM Sans"/>
              </a:rPr>
              <a:t>ed o</a:t>
            </a:r>
            <a:r>
              <a:rPr lang="en-US" sz="1599" strike="noStrike" u="none">
                <a:solidFill>
                  <a:srgbClr val="000000"/>
                </a:solidFill>
                <a:latin typeface="DM Sans"/>
                <a:ea typeface="DM Sans"/>
                <a:cs typeface="DM Sans"/>
                <a:sym typeface="DM Sans"/>
              </a:rPr>
              <a:t>n task complexity.</a:t>
            </a:r>
          </a:p>
        </p:txBody>
      </p:sp>
      <p:sp>
        <p:nvSpPr>
          <p:cNvPr name="TextBox 49" id="49"/>
          <p:cNvSpPr txBox="true"/>
          <p:nvPr/>
        </p:nvSpPr>
        <p:spPr>
          <a:xfrm rot="0">
            <a:off x="10965438" y="5349915"/>
            <a:ext cx="4774544" cy="306705"/>
          </a:xfrm>
          <a:prstGeom prst="rect">
            <a:avLst/>
          </a:prstGeom>
        </p:spPr>
        <p:txBody>
          <a:bodyPr anchor="t" rtlCol="false" tIns="0" lIns="0" bIns="0" rIns="0">
            <a:spAutoFit/>
          </a:bodyPr>
          <a:lstStyle/>
          <a:p>
            <a:pPr algn="l" marL="0" indent="0" lvl="0">
              <a:lnSpc>
                <a:spcPts val="2520"/>
              </a:lnSpc>
              <a:spcBef>
                <a:spcPct val="0"/>
              </a:spcBef>
            </a:pPr>
            <a:r>
              <a:rPr lang="en-US" b="true" sz="1800">
                <a:solidFill>
                  <a:srgbClr val="000000"/>
                </a:solidFill>
                <a:latin typeface="DM Sans Bold"/>
                <a:ea typeface="DM Sans Bold"/>
                <a:cs typeface="DM Sans Bold"/>
                <a:sym typeface="DM Sans Bold"/>
              </a:rPr>
              <a:t>Cont</a:t>
            </a:r>
            <a:r>
              <a:rPr lang="en-US" b="true" sz="1800">
                <a:solidFill>
                  <a:srgbClr val="000000"/>
                </a:solidFill>
                <a:latin typeface="DM Sans Bold"/>
                <a:ea typeface="DM Sans Bold"/>
                <a:cs typeface="DM Sans Bold"/>
                <a:sym typeface="DM Sans Bold"/>
              </a:rPr>
              <a:t>inuous Validation and Model Selection</a:t>
            </a:r>
          </a:p>
        </p:txBody>
      </p:sp>
      <p:sp>
        <p:nvSpPr>
          <p:cNvPr name="TextBox 50" id="50"/>
          <p:cNvSpPr txBox="true"/>
          <p:nvPr/>
        </p:nvSpPr>
        <p:spPr>
          <a:xfrm rot="0">
            <a:off x="2546714" y="7307137"/>
            <a:ext cx="4774544" cy="549910"/>
          </a:xfrm>
          <a:prstGeom prst="rect">
            <a:avLst/>
          </a:prstGeom>
        </p:spPr>
        <p:txBody>
          <a:bodyPr anchor="t" rtlCol="false" tIns="0" lIns="0" bIns="0" rIns="0">
            <a:spAutoFit/>
          </a:bodyPr>
          <a:lstStyle/>
          <a:p>
            <a:pPr algn="r" marL="0" indent="0" lvl="0">
              <a:lnSpc>
                <a:spcPts val="2239"/>
              </a:lnSpc>
              <a:spcBef>
                <a:spcPct val="0"/>
              </a:spcBef>
            </a:pPr>
            <a:r>
              <a:rPr lang="en-US" sz="1599">
                <a:solidFill>
                  <a:srgbClr val="000000"/>
                </a:solidFill>
                <a:latin typeface="DM Sans"/>
                <a:ea typeface="DM Sans"/>
                <a:cs typeface="DM Sans"/>
                <a:sym typeface="DM Sans"/>
              </a:rPr>
              <a:t>Larg</a:t>
            </a:r>
            <a:r>
              <a:rPr lang="en-US" sz="1599" strike="noStrike" u="none">
                <a:solidFill>
                  <a:srgbClr val="000000"/>
                </a:solidFill>
                <a:latin typeface="DM Sans"/>
                <a:ea typeface="DM Sans"/>
                <a:cs typeface="DM Sans"/>
                <a:sym typeface="DM Sans"/>
              </a:rPr>
              <a:t>e code</a:t>
            </a:r>
            <a:r>
              <a:rPr lang="en-US" sz="1599" strike="noStrike" u="none">
                <a:solidFill>
                  <a:srgbClr val="000000"/>
                </a:solidFill>
                <a:latin typeface="DM Sans"/>
                <a:ea typeface="DM Sans"/>
                <a:cs typeface="DM Sans"/>
                <a:sym typeface="DM Sans"/>
              </a:rPr>
              <a:t>b</a:t>
            </a:r>
            <a:r>
              <a:rPr lang="en-US" sz="1599" strike="noStrike" u="none">
                <a:solidFill>
                  <a:srgbClr val="000000"/>
                </a:solidFill>
                <a:latin typeface="DM Sans"/>
                <a:ea typeface="DM Sans"/>
                <a:cs typeface="DM Sans"/>
                <a:sym typeface="DM Sans"/>
              </a:rPr>
              <a:t>a</a:t>
            </a:r>
            <a:r>
              <a:rPr lang="en-US" sz="1599" strike="noStrike" u="none">
                <a:solidFill>
                  <a:srgbClr val="000000"/>
                </a:solidFill>
                <a:latin typeface="DM Sans"/>
                <a:ea typeface="DM Sans"/>
                <a:cs typeface="DM Sans"/>
                <a:sym typeface="DM Sans"/>
              </a:rPr>
              <a:t>s</a:t>
            </a:r>
            <a:r>
              <a:rPr lang="en-US" sz="1599" strike="noStrike" u="none">
                <a:solidFill>
                  <a:srgbClr val="000000"/>
                </a:solidFill>
                <a:latin typeface="DM Sans"/>
                <a:ea typeface="DM Sans"/>
                <a:cs typeface="DM Sans"/>
                <a:sym typeface="DM Sans"/>
              </a:rPr>
              <a:t>e caused miss</a:t>
            </a:r>
            <a:r>
              <a:rPr lang="en-US" sz="1599" strike="noStrike" u="none">
                <a:solidFill>
                  <a:srgbClr val="000000"/>
                </a:solidFill>
                <a:latin typeface="DM Sans"/>
                <a:ea typeface="DM Sans"/>
                <a:cs typeface="DM Sans"/>
                <a:sym typeface="DM Sans"/>
              </a:rPr>
              <a:t>ing</a:t>
            </a:r>
            <a:r>
              <a:rPr lang="en-US" sz="1599" strike="noStrike" u="none">
                <a:solidFill>
                  <a:srgbClr val="000000"/>
                </a:solidFill>
                <a:latin typeface="DM Sans"/>
                <a:ea typeface="DM Sans"/>
                <a:cs typeface="DM Sans"/>
                <a:sym typeface="DM Sans"/>
              </a:rPr>
              <a:t> c</a:t>
            </a:r>
            <a:r>
              <a:rPr lang="en-US" sz="1599" strike="noStrike" u="none">
                <a:solidFill>
                  <a:srgbClr val="000000"/>
                </a:solidFill>
                <a:latin typeface="DM Sans"/>
                <a:ea typeface="DM Sans"/>
                <a:cs typeface="DM Sans"/>
                <a:sym typeface="DM Sans"/>
              </a:rPr>
              <a:t>on</a:t>
            </a:r>
            <a:r>
              <a:rPr lang="en-US" sz="1599" strike="noStrike" u="none">
                <a:solidFill>
                  <a:srgbClr val="000000"/>
                </a:solidFill>
                <a:latin typeface="DM Sans"/>
                <a:ea typeface="DM Sans"/>
                <a:cs typeface="DM Sans"/>
                <a:sym typeface="DM Sans"/>
              </a:rPr>
              <a:t>t</a:t>
            </a:r>
            <a:r>
              <a:rPr lang="en-US" sz="1599" strike="noStrike" u="none">
                <a:solidFill>
                  <a:srgbClr val="000000"/>
                </a:solidFill>
                <a:latin typeface="DM Sans"/>
                <a:ea typeface="DM Sans"/>
                <a:cs typeface="DM Sans"/>
                <a:sym typeface="DM Sans"/>
              </a:rPr>
              <a:t>ext</a:t>
            </a:r>
            <a:r>
              <a:rPr lang="en-US" sz="1599" strike="noStrike" u="none">
                <a:solidFill>
                  <a:srgbClr val="000000"/>
                </a:solidFill>
                <a:latin typeface="DM Sans"/>
                <a:ea typeface="DM Sans"/>
                <a:cs typeface="DM Sans"/>
                <a:sym typeface="DM Sans"/>
              </a:rPr>
              <a:t> and </a:t>
            </a:r>
            <a:r>
              <a:rPr lang="en-US" sz="1599" strike="noStrike" u="none">
                <a:solidFill>
                  <a:srgbClr val="000000"/>
                </a:solidFill>
                <a:latin typeface="DM Sans"/>
                <a:ea typeface="DM Sans"/>
                <a:cs typeface="DM Sans"/>
                <a:sym typeface="DM Sans"/>
              </a:rPr>
              <a:t>i</a:t>
            </a:r>
            <a:r>
              <a:rPr lang="en-US" sz="1599" strike="noStrike" u="none">
                <a:solidFill>
                  <a:srgbClr val="000000"/>
                </a:solidFill>
                <a:latin typeface="DM Sans"/>
                <a:ea typeface="DM Sans"/>
                <a:cs typeface="DM Sans"/>
                <a:sym typeface="DM Sans"/>
              </a:rPr>
              <a:t>ncompl</a:t>
            </a:r>
            <a:r>
              <a:rPr lang="en-US" sz="1599" strike="noStrike" u="none">
                <a:solidFill>
                  <a:srgbClr val="000000"/>
                </a:solidFill>
                <a:latin typeface="DM Sans"/>
                <a:ea typeface="DM Sans"/>
                <a:cs typeface="DM Sans"/>
                <a:sym typeface="DM Sans"/>
              </a:rPr>
              <a:t>e</a:t>
            </a:r>
            <a:r>
              <a:rPr lang="en-US" sz="1599" strike="noStrike" u="none">
                <a:solidFill>
                  <a:srgbClr val="000000"/>
                </a:solidFill>
                <a:latin typeface="DM Sans"/>
                <a:ea typeface="DM Sans"/>
                <a:cs typeface="DM Sans"/>
                <a:sym typeface="DM Sans"/>
              </a:rPr>
              <a:t>te</a:t>
            </a:r>
            <a:r>
              <a:rPr lang="en-US" sz="1599" strike="noStrike" u="none">
                <a:solidFill>
                  <a:srgbClr val="000000"/>
                </a:solidFill>
                <a:latin typeface="DM Sans"/>
                <a:ea typeface="DM Sans"/>
                <a:cs typeface="DM Sans"/>
                <a:sym typeface="DM Sans"/>
              </a:rPr>
              <a:t> solu</a:t>
            </a:r>
            <a:r>
              <a:rPr lang="en-US" sz="1599" strike="noStrike" u="none">
                <a:solidFill>
                  <a:srgbClr val="000000"/>
                </a:solidFill>
                <a:latin typeface="DM Sans"/>
                <a:ea typeface="DM Sans"/>
                <a:cs typeface="DM Sans"/>
                <a:sym typeface="DM Sans"/>
              </a:rPr>
              <a:t>tions.</a:t>
            </a:r>
          </a:p>
        </p:txBody>
      </p:sp>
      <p:sp>
        <p:nvSpPr>
          <p:cNvPr name="TextBox 51" id="51"/>
          <p:cNvSpPr txBox="true"/>
          <p:nvPr/>
        </p:nvSpPr>
        <p:spPr>
          <a:xfrm rot="0">
            <a:off x="2546714" y="6848033"/>
            <a:ext cx="4774544" cy="306705"/>
          </a:xfrm>
          <a:prstGeom prst="rect">
            <a:avLst/>
          </a:prstGeom>
        </p:spPr>
        <p:txBody>
          <a:bodyPr anchor="t" rtlCol="false" tIns="0" lIns="0" bIns="0" rIns="0">
            <a:spAutoFit/>
          </a:bodyPr>
          <a:lstStyle/>
          <a:p>
            <a:pPr algn="r" marL="0" indent="0" lvl="0">
              <a:lnSpc>
                <a:spcPts val="2520"/>
              </a:lnSpc>
              <a:spcBef>
                <a:spcPct val="0"/>
              </a:spcBef>
            </a:pPr>
            <a:r>
              <a:rPr lang="en-US" b="true" sz="1800">
                <a:solidFill>
                  <a:srgbClr val="000000"/>
                </a:solidFill>
                <a:latin typeface="DM Sans Bold"/>
                <a:ea typeface="DM Sans Bold"/>
                <a:cs typeface="DM Sans Bold"/>
                <a:sym typeface="DM Sans Bold"/>
              </a:rPr>
              <a:t>Context and T</a:t>
            </a:r>
            <a:r>
              <a:rPr lang="en-US" b="true" sz="1800">
                <a:solidFill>
                  <a:srgbClr val="000000"/>
                </a:solidFill>
                <a:latin typeface="DM Sans Bold"/>
                <a:ea typeface="DM Sans Bold"/>
                <a:cs typeface="DM Sans Bold"/>
                <a:sym typeface="DM Sans Bold"/>
              </a:rPr>
              <a:t>oken Limitations </a:t>
            </a:r>
          </a:p>
        </p:txBody>
      </p:sp>
      <p:sp>
        <p:nvSpPr>
          <p:cNvPr name="TextBox 52" id="52"/>
          <p:cNvSpPr txBox="true"/>
          <p:nvPr/>
        </p:nvSpPr>
        <p:spPr>
          <a:xfrm rot="0">
            <a:off x="10965438" y="7307137"/>
            <a:ext cx="4774544" cy="549910"/>
          </a:xfrm>
          <a:prstGeom prst="rect">
            <a:avLst/>
          </a:prstGeom>
        </p:spPr>
        <p:txBody>
          <a:bodyPr anchor="t" rtlCol="false" tIns="0" lIns="0" bIns="0" rIns="0">
            <a:spAutoFit/>
          </a:bodyPr>
          <a:lstStyle/>
          <a:p>
            <a:pPr algn="l" marL="0" indent="0" lvl="0">
              <a:lnSpc>
                <a:spcPts val="2239"/>
              </a:lnSpc>
              <a:spcBef>
                <a:spcPct val="0"/>
              </a:spcBef>
            </a:pPr>
            <a:r>
              <a:rPr lang="en-US" sz="1599">
                <a:solidFill>
                  <a:srgbClr val="000000"/>
                </a:solidFill>
                <a:latin typeface="DM Sans"/>
                <a:ea typeface="DM Sans"/>
                <a:cs typeface="DM Sans"/>
                <a:sym typeface="DM Sans"/>
              </a:rPr>
              <a:t>Adop</a:t>
            </a:r>
            <a:r>
              <a:rPr lang="en-US" sz="1599" strike="noStrike" u="none">
                <a:solidFill>
                  <a:srgbClr val="000000"/>
                </a:solidFill>
                <a:latin typeface="DM Sans"/>
                <a:ea typeface="DM Sans"/>
                <a:cs typeface="DM Sans"/>
                <a:sym typeface="DM Sans"/>
              </a:rPr>
              <a:t>ted </a:t>
            </a:r>
            <a:r>
              <a:rPr lang="en-US" sz="1599" strike="noStrike" u="none">
                <a:solidFill>
                  <a:srgbClr val="000000"/>
                </a:solidFill>
                <a:latin typeface="DM Sans"/>
                <a:ea typeface="DM Sans"/>
                <a:cs typeface="DM Sans"/>
                <a:sym typeface="DM Sans"/>
              </a:rPr>
              <a:t>G</a:t>
            </a:r>
            <a:r>
              <a:rPr lang="en-US" sz="1599" strike="noStrike" u="none">
                <a:solidFill>
                  <a:srgbClr val="000000"/>
                </a:solidFill>
                <a:latin typeface="DM Sans"/>
                <a:ea typeface="DM Sans"/>
                <a:cs typeface="DM Sans"/>
                <a:sym typeface="DM Sans"/>
              </a:rPr>
              <a:t>raphify, architecture s</a:t>
            </a:r>
            <a:r>
              <a:rPr lang="en-US" sz="1599" strike="noStrike" u="none">
                <a:solidFill>
                  <a:srgbClr val="000000"/>
                </a:solidFill>
                <a:latin typeface="DM Sans"/>
                <a:ea typeface="DM Sans"/>
                <a:cs typeface="DM Sans"/>
                <a:sym typeface="DM Sans"/>
              </a:rPr>
              <a:t>ummar</a:t>
            </a:r>
            <a:r>
              <a:rPr lang="en-US" sz="1599" strike="noStrike" u="none">
                <a:solidFill>
                  <a:srgbClr val="000000"/>
                </a:solidFill>
                <a:latin typeface="DM Sans"/>
                <a:ea typeface="DM Sans"/>
                <a:cs typeface="DM Sans"/>
                <a:sym typeface="DM Sans"/>
              </a:rPr>
              <a:t>ies</a:t>
            </a:r>
            <a:r>
              <a:rPr lang="en-US" sz="1599" strike="noStrike" u="none">
                <a:solidFill>
                  <a:srgbClr val="000000"/>
                </a:solidFill>
                <a:latin typeface="DM Sans"/>
                <a:ea typeface="DM Sans"/>
                <a:cs typeface="DM Sans"/>
                <a:sym typeface="DM Sans"/>
              </a:rPr>
              <a:t>,</a:t>
            </a:r>
            <a:r>
              <a:rPr lang="en-US" sz="1599" strike="noStrike" u="none">
                <a:solidFill>
                  <a:srgbClr val="000000"/>
                </a:solidFill>
                <a:latin typeface="DM Sans"/>
                <a:ea typeface="DM Sans"/>
                <a:cs typeface="DM Sans"/>
                <a:sym typeface="DM Sans"/>
              </a:rPr>
              <a:t> and phased context loading.</a:t>
            </a:r>
          </a:p>
        </p:txBody>
      </p:sp>
      <p:sp>
        <p:nvSpPr>
          <p:cNvPr name="TextBox 53" id="53"/>
          <p:cNvSpPr txBox="true"/>
          <p:nvPr/>
        </p:nvSpPr>
        <p:spPr>
          <a:xfrm rot="0">
            <a:off x="10965438" y="6848033"/>
            <a:ext cx="4774544" cy="306705"/>
          </a:xfrm>
          <a:prstGeom prst="rect">
            <a:avLst/>
          </a:prstGeom>
        </p:spPr>
        <p:txBody>
          <a:bodyPr anchor="t" rtlCol="false" tIns="0" lIns="0" bIns="0" rIns="0">
            <a:spAutoFit/>
          </a:bodyPr>
          <a:lstStyle/>
          <a:p>
            <a:pPr algn="l" marL="0" indent="0" lvl="0">
              <a:lnSpc>
                <a:spcPts val="2520"/>
              </a:lnSpc>
              <a:spcBef>
                <a:spcPct val="0"/>
              </a:spcBef>
            </a:pPr>
            <a:r>
              <a:rPr lang="en-US" b="true" sz="1800">
                <a:solidFill>
                  <a:srgbClr val="000000"/>
                </a:solidFill>
                <a:latin typeface="DM Sans Bold"/>
                <a:ea typeface="DM Sans Bold"/>
                <a:cs typeface="DM Sans Bold"/>
                <a:sym typeface="DM Sans Bold"/>
              </a:rPr>
              <a:t>R</a:t>
            </a:r>
            <a:r>
              <a:rPr lang="en-US" b="true" sz="1800">
                <a:solidFill>
                  <a:srgbClr val="000000"/>
                </a:solidFill>
                <a:latin typeface="DM Sans Bold"/>
                <a:ea typeface="DM Sans Bold"/>
                <a:cs typeface="DM Sans Bold"/>
                <a:sym typeface="DM Sans Bold"/>
              </a:rPr>
              <a:t>epository Aware Context Management</a:t>
            </a:r>
          </a:p>
        </p:txBody>
      </p:sp>
      <p:sp>
        <p:nvSpPr>
          <p:cNvPr name="TextBox 54" id="54"/>
          <p:cNvSpPr txBox="true"/>
          <p:nvPr/>
        </p:nvSpPr>
        <p:spPr>
          <a:xfrm rot="0">
            <a:off x="2546714" y="8805255"/>
            <a:ext cx="4774544" cy="549910"/>
          </a:xfrm>
          <a:prstGeom prst="rect">
            <a:avLst/>
          </a:prstGeom>
        </p:spPr>
        <p:txBody>
          <a:bodyPr anchor="t" rtlCol="false" tIns="0" lIns="0" bIns="0" rIns="0">
            <a:spAutoFit/>
          </a:bodyPr>
          <a:lstStyle/>
          <a:p>
            <a:pPr algn="r" marL="0" indent="0" lvl="0">
              <a:lnSpc>
                <a:spcPts val="2239"/>
              </a:lnSpc>
              <a:spcBef>
                <a:spcPct val="0"/>
              </a:spcBef>
            </a:pPr>
            <a:r>
              <a:rPr lang="en-US" sz="1599">
                <a:solidFill>
                  <a:srgbClr val="000000"/>
                </a:solidFill>
                <a:latin typeface="DM Sans"/>
                <a:ea typeface="DM Sans"/>
                <a:cs typeface="DM Sans"/>
                <a:sym typeface="DM Sans"/>
              </a:rPr>
              <a:t>AI st</a:t>
            </a:r>
            <a:r>
              <a:rPr lang="en-US" sz="1599" strike="noStrike" u="none">
                <a:solidFill>
                  <a:srgbClr val="000000"/>
                </a:solidFill>
                <a:latin typeface="DM Sans"/>
                <a:ea typeface="DM Sans"/>
                <a:cs typeface="DM Sans"/>
                <a:sym typeface="DM Sans"/>
              </a:rPr>
              <a:t>ruggled with workflow orchestration, routing logic, and state management.</a:t>
            </a:r>
          </a:p>
        </p:txBody>
      </p:sp>
      <p:sp>
        <p:nvSpPr>
          <p:cNvPr name="TextBox 55" id="55"/>
          <p:cNvSpPr txBox="true"/>
          <p:nvPr/>
        </p:nvSpPr>
        <p:spPr>
          <a:xfrm rot="0">
            <a:off x="2546714" y="8346150"/>
            <a:ext cx="4774544" cy="306705"/>
          </a:xfrm>
          <a:prstGeom prst="rect">
            <a:avLst/>
          </a:prstGeom>
        </p:spPr>
        <p:txBody>
          <a:bodyPr anchor="t" rtlCol="false" tIns="0" lIns="0" bIns="0" rIns="0">
            <a:spAutoFit/>
          </a:bodyPr>
          <a:lstStyle/>
          <a:p>
            <a:pPr algn="r" marL="0" indent="0" lvl="0">
              <a:lnSpc>
                <a:spcPts val="2520"/>
              </a:lnSpc>
              <a:spcBef>
                <a:spcPct val="0"/>
              </a:spcBef>
            </a:pPr>
            <a:r>
              <a:rPr lang="en-US" b="true" sz="1800">
                <a:solidFill>
                  <a:srgbClr val="000000"/>
                </a:solidFill>
                <a:latin typeface="DM Sans Bold"/>
                <a:ea typeface="DM Sans Bold"/>
                <a:cs typeface="DM Sans Bold"/>
                <a:sym typeface="DM Sans Bold"/>
              </a:rPr>
              <a:t>LangGraph Workflow Co</a:t>
            </a:r>
            <a:r>
              <a:rPr lang="en-US" b="true" sz="1800">
                <a:solidFill>
                  <a:srgbClr val="000000"/>
                </a:solidFill>
                <a:latin typeface="DM Sans Bold"/>
                <a:ea typeface="DM Sans Bold"/>
                <a:cs typeface="DM Sans Bold"/>
                <a:sym typeface="DM Sans Bold"/>
              </a:rPr>
              <a:t>mplexity</a:t>
            </a:r>
          </a:p>
        </p:txBody>
      </p:sp>
      <p:sp>
        <p:nvSpPr>
          <p:cNvPr name="TextBox 56" id="56"/>
          <p:cNvSpPr txBox="true"/>
          <p:nvPr/>
        </p:nvSpPr>
        <p:spPr>
          <a:xfrm rot="0">
            <a:off x="10965438" y="8805255"/>
            <a:ext cx="4774544" cy="549910"/>
          </a:xfrm>
          <a:prstGeom prst="rect">
            <a:avLst/>
          </a:prstGeom>
        </p:spPr>
        <p:txBody>
          <a:bodyPr anchor="t" rtlCol="false" tIns="0" lIns="0" bIns="0" rIns="0">
            <a:spAutoFit/>
          </a:bodyPr>
          <a:lstStyle/>
          <a:p>
            <a:pPr algn="l" marL="0" indent="0" lvl="0">
              <a:lnSpc>
                <a:spcPts val="2239"/>
              </a:lnSpc>
              <a:spcBef>
                <a:spcPct val="0"/>
              </a:spcBef>
            </a:pPr>
            <a:r>
              <a:rPr lang="en-US" sz="1599">
                <a:solidFill>
                  <a:srgbClr val="000000"/>
                </a:solidFill>
                <a:latin typeface="DM Sans"/>
                <a:ea typeface="DM Sans"/>
                <a:cs typeface="DM Sans"/>
                <a:sym typeface="DM Sans"/>
              </a:rPr>
              <a:t>Us</a:t>
            </a:r>
            <a:r>
              <a:rPr lang="en-US" sz="1599" strike="noStrike" u="none">
                <a:solidFill>
                  <a:srgbClr val="000000"/>
                </a:solidFill>
                <a:latin typeface="DM Sans"/>
                <a:ea typeface="DM Sans"/>
                <a:cs typeface="DM Sans"/>
                <a:sym typeface="DM Sans"/>
              </a:rPr>
              <a:t>ed Hai</a:t>
            </a:r>
            <a:r>
              <a:rPr lang="en-US" sz="1599" strike="noStrike" u="none">
                <a:solidFill>
                  <a:srgbClr val="000000"/>
                </a:solidFill>
                <a:latin typeface="DM Sans"/>
                <a:ea typeface="DM Sans"/>
                <a:cs typeface="DM Sans"/>
                <a:sym typeface="DM Sans"/>
              </a:rPr>
              <a:t>ku fo</a:t>
            </a:r>
            <a:r>
              <a:rPr lang="en-US" sz="1599" strike="noStrike" u="none">
                <a:solidFill>
                  <a:srgbClr val="000000"/>
                </a:solidFill>
                <a:latin typeface="DM Sans"/>
                <a:ea typeface="DM Sans"/>
                <a:cs typeface="DM Sans"/>
                <a:sym typeface="DM Sans"/>
              </a:rPr>
              <a:t>r workflow planning and Sonnet</a:t>
            </a:r>
            <a:r>
              <a:rPr lang="en-US" sz="1599" strike="noStrike" u="none">
                <a:solidFill>
                  <a:srgbClr val="000000"/>
                </a:solidFill>
                <a:latin typeface="DM Sans"/>
                <a:ea typeface="DM Sans"/>
                <a:cs typeface="DM Sans"/>
                <a:sym typeface="DM Sans"/>
              </a:rPr>
              <a:t> for</a:t>
            </a:r>
            <a:r>
              <a:rPr lang="en-US" sz="1599" strike="noStrike" u="none">
                <a:solidFill>
                  <a:srgbClr val="000000"/>
                </a:solidFill>
                <a:latin typeface="DM Sans"/>
                <a:ea typeface="DM Sans"/>
                <a:cs typeface="DM Sans"/>
                <a:sym typeface="DM Sans"/>
              </a:rPr>
              <a:t> </a:t>
            </a:r>
            <a:r>
              <a:rPr lang="en-US" sz="1599" strike="noStrike" u="none">
                <a:solidFill>
                  <a:srgbClr val="000000"/>
                </a:solidFill>
                <a:latin typeface="DM Sans"/>
                <a:ea typeface="DM Sans"/>
                <a:cs typeface="DM Sans"/>
                <a:sym typeface="DM Sans"/>
              </a:rPr>
              <a:t>imp</a:t>
            </a:r>
            <a:r>
              <a:rPr lang="en-US" sz="1599" strike="noStrike" u="none">
                <a:solidFill>
                  <a:srgbClr val="000000"/>
                </a:solidFill>
                <a:latin typeface="DM Sans"/>
                <a:ea typeface="DM Sans"/>
                <a:cs typeface="DM Sans"/>
                <a:sym typeface="DM Sans"/>
              </a:rPr>
              <a:t>lementatio</a:t>
            </a:r>
            <a:r>
              <a:rPr lang="en-US" sz="1599" strike="noStrike" u="none">
                <a:solidFill>
                  <a:srgbClr val="000000"/>
                </a:solidFill>
                <a:latin typeface="DM Sans"/>
                <a:ea typeface="DM Sans"/>
                <a:cs typeface="DM Sans"/>
                <a:sym typeface="DM Sans"/>
              </a:rPr>
              <a:t>n</a:t>
            </a:r>
            <a:r>
              <a:rPr lang="en-US" sz="1599" strike="noStrike" u="none">
                <a:solidFill>
                  <a:srgbClr val="000000"/>
                </a:solidFill>
                <a:latin typeface="DM Sans"/>
                <a:ea typeface="DM Sans"/>
                <a:cs typeface="DM Sans"/>
                <a:sym typeface="DM Sans"/>
              </a:rPr>
              <a:t>.</a:t>
            </a:r>
          </a:p>
        </p:txBody>
      </p:sp>
      <p:sp>
        <p:nvSpPr>
          <p:cNvPr name="TextBox 57" id="57"/>
          <p:cNvSpPr txBox="true"/>
          <p:nvPr/>
        </p:nvSpPr>
        <p:spPr>
          <a:xfrm rot="0">
            <a:off x="10965438" y="8346150"/>
            <a:ext cx="4774544" cy="306705"/>
          </a:xfrm>
          <a:prstGeom prst="rect">
            <a:avLst/>
          </a:prstGeom>
        </p:spPr>
        <p:txBody>
          <a:bodyPr anchor="t" rtlCol="false" tIns="0" lIns="0" bIns="0" rIns="0">
            <a:spAutoFit/>
          </a:bodyPr>
          <a:lstStyle/>
          <a:p>
            <a:pPr algn="l" marL="0" indent="0" lvl="0">
              <a:lnSpc>
                <a:spcPts val="2520"/>
              </a:lnSpc>
              <a:spcBef>
                <a:spcPct val="0"/>
              </a:spcBef>
            </a:pPr>
            <a:r>
              <a:rPr lang="en-US" b="true" sz="1800">
                <a:solidFill>
                  <a:srgbClr val="000000"/>
                </a:solidFill>
                <a:latin typeface="DM Sans Bold"/>
                <a:ea typeface="DM Sans Bold"/>
                <a:cs typeface="DM Sans Bold"/>
                <a:sym typeface="DM Sans Bold"/>
              </a:rPr>
              <a:t>Pl</a:t>
            </a:r>
            <a:r>
              <a:rPr lang="en-US" b="true" sz="1800">
                <a:solidFill>
                  <a:srgbClr val="000000"/>
                </a:solidFill>
                <a:latin typeface="DM Sans Bold"/>
                <a:ea typeface="DM Sans Bold"/>
                <a:cs typeface="DM Sans Bold"/>
                <a:sym typeface="DM Sans Bold"/>
              </a:rPr>
              <a:t>anning Implementation Separation</a:t>
            </a:r>
          </a:p>
        </p:txBody>
      </p:sp>
      <p:sp>
        <p:nvSpPr>
          <p:cNvPr name="AutoShape 58" id="58"/>
          <p:cNvSpPr/>
          <p:nvPr/>
        </p:nvSpPr>
        <p:spPr>
          <a:xfrm flipV="true">
            <a:off x="5299610" y="1876425"/>
            <a:ext cx="7688780" cy="0"/>
          </a:xfrm>
          <a:prstGeom prst="line">
            <a:avLst/>
          </a:prstGeom>
          <a:ln cap="flat" w="38100">
            <a:solidFill>
              <a:srgbClr val="E44650"/>
            </a:solidFill>
            <a:prstDash val="solid"/>
            <a:headEnd type="none" len="sm" w="sm"/>
            <a:tailEnd type="none" len="sm" w="sm"/>
          </a:ln>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DF3F6"/>
        </a:solidFill>
      </p:bgPr>
    </p:bg>
    <p:spTree>
      <p:nvGrpSpPr>
        <p:cNvPr id="1" name=""/>
        <p:cNvGrpSpPr/>
        <p:nvPr/>
      </p:nvGrpSpPr>
      <p:grpSpPr>
        <a:xfrm>
          <a:off x="0" y="0"/>
          <a:ext cx="0" cy="0"/>
          <a:chOff x="0" y="0"/>
          <a:chExt cx="0" cy="0"/>
        </a:xfrm>
      </p:grpSpPr>
      <p:sp>
        <p:nvSpPr>
          <p:cNvPr name="TextBox 2" id="2"/>
          <p:cNvSpPr txBox="true"/>
          <p:nvPr/>
        </p:nvSpPr>
        <p:spPr>
          <a:xfrm rot="0">
            <a:off x="4284490" y="186690"/>
            <a:ext cx="9027596" cy="613410"/>
          </a:xfrm>
          <a:prstGeom prst="rect">
            <a:avLst/>
          </a:prstGeom>
        </p:spPr>
        <p:txBody>
          <a:bodyPr anchor="t" rtlCol="false" tIns="0" lIns="0" bIns="0" rIns="0">
            <a:spAutoFit/>
          </a:bodyPr>
          <a:lstStyle/>
          <a:p>
            <a:pPr algn="ctr">
              <a:lnSpc>
                <a:spcPts val="5039"/>
              </a:lnSpc>
              <a:spcBef>
                <a:spcPct val="0"/>
              </a:spcBef>
            </a:pPr>
            <a:r>
              <a:rPr lang="en-US" b="true" sz="3599">
                <a:solidFill>
                  <a:srgbClr val="000000"/>
                </a:solidFill>
                <a:latin typeface="DM Sans Bold"/>
                <a:ea typeface="DM Sans Bold"/>
                <a:cs typeface="DM Sans Bold"/>
                <a:sym typeface="DM Sans Bold"/>
              </a:rPr>
              <a:t>Challenges I Faced and Solutions-Nikhil</a:t>
            </a:r>
          </a:p>
        </p:txBody>
      </p:sp>
      <p:sp>
        <p:nvSpPr>
          <p:cNvPr name="Freeform 3" id="3"/>
          <p:cNvSpPr/>
          <p:nvPr/>
        </p:nvSpPr>
        <p:spPr>
          <a:xfrm flipH="false" flipV="false" rot="0">
            <a:off x="2546714" y="2134167"/>
            <a:ext cx="4774544" cy="336505"/>
          </a:xfrm>
          <a:custGeom>
            <a:avLst/>
            <a:gdLst/>
            <a:ahLst/>
            <a:cxnLst/>
            <a:rect r="r" b="b" t="t" l="l"/>
            <a:pathLst>
              <a:path h="336505" w="4774544">
                <a:moveTo>
                  <a:pt x="0" y="0"/>
                </a:moveTo>
                <a:lnTo>
                  <a:pt x="4774544" y="0"/>
                </a:lnTo>
                <a:lnTo>
                  <a:pt x="4774544" y="336505"/>
                </a:lnTo>
                <a:lnTo>
                  <a:pt x="0" y="336505"/>
                </a:lnTo>
                <a:lnTo>
                  <a:pt x="0" y="0"/>
                </a:lnTo>
                <a:close/>
              </a:path>
            </a:pathLst>
          </a:custGeom>
          <a:blipFill>
            <a:blip r:embed="rId2">
              <a:alphaModFix amt="65000"/>
            </a:blip>
            <a:stretch>
              <a:fillRect l="-144053" t="0" r="-144053" b="-530766"/>
            </a:stretch>
          </a:blipFill>
        </p:spPr>
      </p:sp>
      <p:sp>
        <p:nvSpPr>
          <p:cNvPr name="Freeform 4" id="4"/>
          <p:cNvSpPr/>
          <p:nvPr/>
        </p:nvSpPr>
        <p:spPr>
          <a:xfrm flipH="false" flipV="false" rot="0">
            <a:off x="10965737" y="2010342"/>
            <a:ext cx="4774544" cy="336505"/>
          </a:xfrm>
          <a:custGeom>
            <a:avLst/>
            <a:gdLst/>
            <a:ahLst/>
            <a:cxnLst/>
            <a:rect r="r" b="b" t="t" l="l"/>
            <a:pathLst>
              <a:path h="336505" w="4774544">
                <a:moveTo>
                  <a:pt x="0" y="0"/>
                </a:moveTo>
                <a:lnTo>
                  <a:pt x="4774544" y="0"/>
                </a:lnTo>
                <a:lnTo>
                  <a:pt x="4774544" y="336505"/>
                </a:lnTo>
                <a:lnTo>
                  <a:pt x="0" y="336505"/>
                </a:lnTo>
                <a:lnTo>
                  <a:pt x="0" y="0"/>
                </a:lnTo>
                <a:close/>
              </a:path>
            </a:pathLst>
          </a:custGeom>
          <a:blipFill>
            <a:blip r:embed="rId2">
              <a:alphaModFix amt="65000"/>
            </a:blip>
            <a:stretch>
              <a:fillRect l="-88893" t="0" r="-88893" b="-351470"/>
            </a:stretch>
          </a:blipFill>
        </p:spPr>
      </p:sp>
      <p:grpSp>
        <p:nvGrpSpPr>
          <p:cNvPr name="Group 5" id="5"/>
          <p:cNvGrpSpPr/>
          <p:nvPr/>
        </p:nvGrpSpPr>
        <p:grpSpPr>
          <a:xfrm rot="0">
            <a:off x="2309982" y="1175770"/>
            <a:ext cx="4771936" cy="687686"/>
            <a:chOff x="0" y="0"/>
            <a:chExt cx="1081126" cy="155801"/>
          </a:xfrm>
        </p:grpSpPr>
        <p:sp>
          <p:nvSpPr>
            <p:cNvPr name="Freeform 6" id="6"/>
            <p:cNvSpPr/>
            <p:nvPr/>
          </p:nvSpPr>
          <p:spPr>
            <a:xfrm flipH="false" flipV="false" rot="0">
              <a:off x="0" y="0"/>
              <a:ext cx="1081126" cy="155801"/>
            </a:xfrm>
            <a:custGeom>
              <a:avLst/>
              <a:gdLst/>
              <a:ahLst/>
              <a:cxnLst/>
              <a:rect r="r" b="b" t="t" l="l"/>
              <a:pathLst>
                <a:path h="155801" w="1081126">
                  <a:moveTo>
                    <a:pt x="12979" y="0"/>
                  </a:moveTo>
                  <a:lnTo>
                    <a:pt x="1068147" y="0"/>
                  </a:lnTo>
                  <a:cubicBezTo>
                    <a:pt x="1075315" y="0"/>
                    <a:pt x="1081126" y="5811"/>
                    <a:pt x="1081126" y="12979"/>
                  </a:cubicBezTo>
                  <a:lnTo>
                    <a:pt x="1081126" y="142822"/>
                  </a:lnTo>
                  <a:cubicBezTo>
                    <a:pt x="1081126" y="146265"/>
                    <a:pt x="1079758" y="149566"/>
                    <a:pt x="1077324" y="152000"/>
                  </a:cubicBezTo>
                  <a:cubicBezTo>
                    <a:pt x="1074890" y="154434"/>
                    <a:pt x="1071589" y="155801"/>
                    <a:pt x="1068147" y="155801"/>
                  </a:cubicBezTo>
                  <a:lnTo>
                    <a:pt x="12979" y="155801"/>
                  </a:lnTo>
                  <a:cubicBezTo>
                    <a:pt x="5811" y="155801"/>
                    <a:pt x="0" y="149991"/>
                    <a:pt x="0" y="142822"/>
                  </a:cubicBezTo>
                  <a:lnTo>
                    <a:pt x="0" y="12979"/>
                  </a:lnTo>
                  <a:cubicBezTo>
                    <a:pt x="0" y="5811"/>
                    <a:pt x="5811" y="0"/>
                    <a:pt x="12979" y="0"/>
                  </a:cubicBezTo>
                  <a:close/>
                </a:path>
              </a:pathLst>
            </a:custGeom>
            <a:solidFill>
              <a:srgbClr val="02B2E4"/>
            </a:solidFill>
          </p:spPr>
        </p:sp>
        <p:sp>
          <p:nvSpPr>
            <p:cNvPr name="TextBox 7" id="7"/>
            <p:cNvSpPr txBox="true"/>
            <p:nvPr/>
          </p:nvSpPr>
          <p:spPr>
            <a:xfrm>
              <a:off x="0" y="-47625"/>
              <a:ext cx="1081126" cy="203426"/>
            </a:xfrm>
            <a:prstGeom prst="rect">
              <a:avLst/>
            </a:prstGeom>
          </p:spPr>
          <p:txBody>
            <a:bodyPr anchor="ctr" rtlCol="false" tIns="50800" lIns="50800" bIns="50800" rIns="50800"/>
            <a:lstStyle/>
            <a:p>
              <a:pPr algn="ctr" marL="0" indent="0" lvl="0">
                <a:lnSpc>
                  <a:spcPts val="3079"/>
                </a:lnSpc>
                <a:spcBef>
                  <a:spcPct val="0"/>
                </a:spcBef>
              </a:pPr>
              <a:r>
                <a:rPr lang="en-US" b="true" sz="2199">
                  <a:solidFill>
                    <a:srgbClr val="000000"/>
                  </a:solidFill>
                  <a:latin typeface="DM Sans Bold"/>
                  <a:ea typeface="DM Sans Bold"/>
                  <a:cs typeface="DM Sans Bold"/>
                  <a:sym typeface="DM Sans Bold"/>
                </a:rPr>
                <a:t>From Issues</a:t>
              </a:r>
            </a:p>
          </p:txBody>
        </p:sp>
      </p:grpSp>
      <p:grpSp>
        <p:nvGrpSpPr>
          <p:cNvPr name="Group 8" id="8"/>
          <p:cNvGrpSpPr/>
          <p:nvPr/>
        </p:nvGrpSpPr>
        <p:grpSpPr>
          <a:xfrm rot="0">
            <a:off x="7405871" y="1175770"/>
            <a:ext cx="3053929" cy="634547"/>
            <a:chOff x="0" y="0"/>
            <a:chExt cx="2567133" cy="533400"/>
          </a:xfrm>
        </p:grpSpPr>
        <p:sp>
          <p:nvSpPr>
            <p:cNvPr name="Freeform 9" id="9"/>
            <p:cNvSpPr/>
            <p:nvPr/>
          </p:nvSpPr>
          <p:spPr>
            <a:xfrm flipH="false" flipV="false" rot="0">
              <a:off x="0" y="0"/>
              <a:ext cx="2567133" cy="533400"/>
            </a:xfrm>
            <a:custGeom>
              <a:avLst/>
              <a:gdLst/>
              <a:ahLst/>
              <a:cxnLst/>
              <a:rect r="r" b="b" t="t" l="l"/>
              <a:pathLst>
                <a:path h="533400" w="2567133">
                  <a:moveTo>
                    <a:pt x="273050" y="0"/>
                  </a:moveTo>
                  <a:lnTo>
                    <a:pt x="0" y="266700"/>
                  </a:lnTo>
                  <a:lnTo>
                    <a:pt x="273050" y="533400"/>
                  </a:lnTo>
                  <a:lnTo>
                    <a:pt x="273050" y="400050"/>
                  </a:lnTo>
                  <a:lnTo>
                    <a:pt x="2294083" y="400050"/>
                  </a:lnTo>
                  <a:lnTo>
                    <a:pt x="2294083" y="533400"/>
                  </a:lnTo>
                  <a:lnTo>
                    <a:pt x="2567133" y="266700"/>
                  </a:lnTo>
                  <a:lnTo>
                    <a:pt x="2294083" y="0"/>
                  </a:lnTo>
                  <a:lnTo>
                    <a:pt x="2294083" y="133350"/>
                  </a:lnTo>
                  <a:lnTo>
                    <a:pt x="273050" y="133350"/>
                  </a:lnTo>
                  <a:lnTo>
                    <a:pt x="273050" y="0"/>
                  </a:lnTo>
                  <a:close/>
                </a:path>
              </a:pathLst>
            </a:custGeom>
            <a:solidFill>
              <a:srgbClr val="FFFFFF"/>
            </a:solidFill>
          </p:spPr>
        </p:sp>
        <p:sp>
          <p:nvSpPr>
            <p:cNvPr name="TextBox 10" id="10"/>
            <p:cNvSpPr txBox="true"/>
            <p:nvPr/>
          </p:nvSpPr>
          <p:spPr>
            <a:xfrm>
              <a:off x="101600" y="101600"/>
              <a:ext cx="2363933" cy="292100"/>
            </a:xfrm>
            <a:prstGeom prst="rect">
              <a:avLst/>
            </a:prstGeom>
          </p:spPr>
          <p:txBody>
            <a:bodyPr anchor="ctr" rtlCol="false" tIns="50800" lIns="50800" bIns="50800" rIns="50800"/>
            <a:lstStyle/>
            <a:p>
              <a:pPr algn="ctr">
                <a:lnSpc>
                  <a:spcPts val="2520"/>
                </a:lnSpc>
              </a:pPr>
            </a:p>
          </p:txBody>
        </p:sp>
      </p:grpSp>
      <p:grpSp>
        <p:nvGrpSpPr>
          <p:cNvPr name="Group 11" id="11"/>
          <p:cNvGrpSpPr/>
          <p:nvPr/>
        </p:nvGrpSpPr>
        <p:grpSpPr>
          <a:xfrm rot="0">
            <a:off x="10924814" y="1122631"/>
            <a:ext cx="4774544" cy="687686"/>
            <a:chOff x="0" y="0"/>
            <a:chExt cx="1081717" cy="155801"/>
          </a:xfrm>
        </p:grpSpPr>
        <p:sp>
          <p:nvSpPr>
            <p:cNvPr name="Freeform 12" id="12"/>
            <p:cNvSpPr/>
            <p:nvPr/>
          </p:nvSpPr>
          <p:spPr>
            <a:xfrm flipH="false" flipV="false" rot="0">
              <a:off x="0" y="0"/>
              <a:ext cx="1081717" cy="155801"/>
            </a:xfrm>
            <a:custGeom>
              <a:avLst/>
              <a:gdLst/>
              <a:ahLst/>
              <a:cxnLst/>
              <a:rect r="r" b="b" t="t" l="l"/>
              <a:pathLst>
                <a:path h="155801" w="1081717">
                  <a:moveTo>
                    <a:pt x="12972" y="0"/>
                  </a:moveTo>
                  <a:lnTo>
                    <a:pt x="1068745" y="0"/>
                  </a:lnTo>
                  <a:cubicBezTo>
                    <a:pt x="1072185" y="0"/>
                    <a:pt x="1075485" y="1367"/>
                    <a:pt x="1077917" y="3799"/>
                  </a:cubicBezTo>
                  <a:cubicBezTo>
                    <a:pt x="1080350" y="6232"/>
                    <a:pt x="1081717" y="9532"/>
                    <a:pt x="1081717" y="12972"/>
                  </a:cubicBezTo>
                  <a:lnTo>
                    <a:pt x="1081717" y="142829"/>
                  </a:lnTo>
                  <a:cubicBezTo>
                    <a:pt x="1081717" y="146270"/>
                    <a:pt x="1080350" y="149569"/>
                    <a:pt x="1077917" y="152002"/>
                  </a:cubicBezTo>
                  <a:cubicBezTo>
                    <a:pt x="1075485" y="154435"/>
                    <a:pt x="1072185" y="155801"/>
                    <a:pt x="1068745" y="155801"/>
                  </a:cubicBezTo>
                  <a:lnTo>
                    <a:pt x="12972" y="155801"/>
                  </a:lnTo>
                  <a:cubicBezTo>
                    <a:pt x="9532" y="155801"/>
                    <a:pt x="6232" y="154435"/>
                    <a:pt x="3799" y="152002"/>
                  </a:cubicBezTo>
                  <a:cubicBezTo>
                    <a:pt x="1367" y="149569"/>
                    <a:pt x="0" y="146270"/>
                    <a:pt x="0" y="142829"/>
                  </a:cubicBezTo>
                  <a:lnTo>
                    <a:pt x="0" y="12972"/>
                  </a:lnTo>
                  <a:cubicBezTo>
                    <a:pt x="0" y="9532"/>
                    <a:pt x="1367" y="6232"/>
                    <a:pt x="3799" y="3799"/>
                  </a:cubicBezTo>
                  <a:cubicBezTo>
                    <a:pt x="6232" y="1367"/>
                    <a:pt x="9532" y="0"/>
                    <a:pt x="12972" y="0"/>
                  </a:cubicBezTo>
                  <a:close/>
                </a:path>
              </a:pathLst>
            </a:custGeom>
            <a:solidFill>
              <a:srgbClr val="5DDB78"/>
            </a:solidFill>
          </p:spPr>
        </p:sp>
        <p:sp>
          <p:nvSpPr>
            <p:cNvPr name="TextBox 13" id="13"/>
            <p:cNvSpPr txBox="true"/>
            <p:nvPr/>
          </p:nvSpPr>
          <p:spPr>
            <a:xfrm>
              <a:off x="0" y="-47625"/>
              <a:ext cx="1081717" cy="203426"/>
            </a:xfrm>
            <a:prstGeom prst="rect">
              <a:avLst/>
            </a:prstGeom>
          </p:spPr>
          <p:txBody>
            <a:bodyPr anchor="ctr" rtlCol="false" tIns="50800" lIns="50800" bIns="50800" rIns="50800"/>
            <a:lstStyle/>
            <a:p>
              <a:pPr algn="ctr" marL="0" indent="0" lvl="0">
                <a:lnSpc>
                  <a:spcPts val="3079"/>
                </a:lnSpc>
                <a:spcBef>
                  <a:spcPct val="0"/>
                </a:spcBef>
              </a:pPr>
              <a:r>
                <a:rPr lang="en-US" b="true" sz="2199">
                  <a:solidFill>
                    <a:srgbClr val="000000"/>
                  </a:solidFill>
                  <a:latin typeface="DM Sans Bold"/>
                  <a:ea typeface="DM Sans Bold"/>
                  <a:cs typeface="DM Sans Bold"/>
                  <a:sym typeface="DM Sans Bold"/>
                </a:rPr>
                <a:t>To Improvements</a:t>
              </a:r>
            </a:p>
          </p:txBody>
        </p:sp>
      </p:grpSp>
      <p:sp>
        <p:nvSpPr>
          <p:cNvPr name="Freeform 14" id="14"/>
          <p:cNvSpPr/>
          <p:nvPr/>
        </p:nvSpPr>
        <p:spPr>
          <a:xfrm flipH="false" flipV="false" rot="0">
            <a:off x="8741091" y="2667000"/>
            <a:ext cx="804812" cy="803806"/>
          </a:xfrm>
          <a:custGeom>
            <a:avLst/>
            <a:gdLst/>
            <a:ahLst/>
            <a:cxnLst/>
            <a:rect r="r" b="b" t="t" l="l"/>
            <a:pathLst>
              <a:path h="803806" w="804812">
                <a:moveTo>
                  <a:pt x="0" y="0"/>
                </a:moveTo>
                <a:lnTo>
                  <a:pt x="804812" y="0"/>
                </a:lnTo>
                <a:lnTo>
                  <a:pt x="804812" y="803806"/>
                </a:lnTo>
                <a:lnTo>
                  <a:pt x="0" y="803806"/>
                </a:lnTo>
                <a:lnTo>
                  <a:pt x="0" y="0"/>
                </a:lnTo>
                <a:close/>
              </a:path>
            </a:pathLst>
          </a:custGeom>
          <a:blipFill>
            <a:blip r:embed="rId3"/>
            <a:stretch>
              <a:fillRect l="0" t="0" r="0" b="0"/>
            </a:stretch>
          </a:blipFill>
        </p:spPr>
      </p:sp>
      <p:sp>
        <p:nvSpPr>
          <p:cNvPr name="Freeform 15" id="15"/>
          <p:cNvSpPr/>
          <p:nvPr/>
        </p:nvSpPr>
        <p:spPr>
          <a:xfrm flipH="false" flipV="false" rot="5400000">
            <a:off x="7998501" y="2270223"/>
            <a:ext cx="1310584" cy="1463833"/>
          </a:xfrm>
          <a:custGeom>
            <a:avLst/>
            <a:gdLst/>
            <a:ahLst/>
            <a:cxnLst/>
            <a:rect r="r" b="b" t="t" l="l"/>
            <a:pathLst>
              <a:path h="1463833" w="1310584">
                <a:moveTo>
                  <a:pt x="0" y="0"/>
                </a:moveTo>
                <a:lnTo>
                  <a:pt x="1310584" y="0"/>
                </a:lnTo>
                <a:lnTo>
                  <a:pt x="1310584" y="1463833"/>
                </a:lnTo>
                <a:lnTo>
                  <a:pt x="0" y="14638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true" rot="5400000">
            <a:off x="9072592" y="2270223"/>
            <a:ext cx="1310584" cy="1463833"/>
          </a:xfrm>
          <a:custGeom>
            <a:avLst/>
            <a:gdLst/>
            <a:ahLst/>
            <a:cxnLst/>
            <a:rect r="r" b="b" t="t" l="l"/>
            <a:pathLst>
              <a:path h="1463833" w="1310584">
                <a:moveTo>
                  <a:pt x="0" y="1463833"/>
                </a:moveTo>
                <a:lnTo>
                  <a:pt x="1310584" y="1463833"/>
                </a:lnTo>
                <a:lnTo>
                  <a:pt x="1310584" y="0"/>
                </a:lnTo>
                <a:lnTo>
                  <a:pt x="0" y="0"/>
                </a:lnTo>
                <a:lnTo>
                  <a:pt x="0" y="1463833"/>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8741091" y="3973452"/>
            <a:ext cx="804812" cy="803806"/>
          </a:xfrm>
          <a:custGeom>
            <a:avLst/>
            <a:gdLst/>
            <a:ahLst/>
            <a:cxnLst/>
            <a:rect r="r" b="b" t="t" l="l"/>
            <a:pathLst>
              <a:path h="803806" w="804812">
                <a:moveTo>
                  <a:pt x="0" y="0"/>
                </a:moveTo>
                <a:lnTo>
                  <a:pt x="804812" y="0"/>
                </a:lnTo>
                <a:lnTo>
                  <a:pt x="804812" y="803806"/>
                </a:lnTo>
                <a:lnTo>
                  <a:pt x="0" y="803806"/>
                </a:lnTo>
                <a:lnTo>
                  <a:pt x="0" y="0"/>
                </a:lnTo>
                <a:close/>
              </a:path>
            </a:pathLst>
          </a:custGeom>
          <a:blipFill>
            <a:blip r:embed="rId3"/>
            <a:stretch>
              <a:fillRect l="0" t="0" r="0" b="0"/>
            </a:stretch>
          </a:blipFill>
        </p:spPr>
      </p:sp>
      <p:grpSp>
        <p:nvGrpSpPr>
          <p:cNvPr name="Group 18" id="18"/>
          <p:cNvGrpSpPr/>
          <p:nvPr/>
        </p:nvGrpSpPr>
        <p:grpSpPr>
          <a:xfrm rot="0">
            <a:off x="8899452" y="2754480"/>
            <a:ext cx="547756" cy="509344"/>
            <a:chOff x="0" y="0"/>
            <a:chExt cx="812800" cy="755801"/>
          </a:xfrm>
        </p:grpSpPr>
        <p:sp>
          <p:nvSpPr>
            <p:cNvPr name="Freeform 19" id="19"/>
            <p:cNvSpPr/>
            <p:nvPr/>
          </p:nvSpPr>
          <p:spPr>
            <a:xfrm flipH="false" flipV="false" rot="0">
              <a:off x="0" y="0"/>
              <a:ext cx="812800" cy="755801"/>
            </a:xfrm>
            <a:custGeom>
              <a:avLst/>
              <a:gdLst/>
              <a:ahLst/>
              <a:cxnLst/>
              <a:rect r="r" b="b" t="t" l="l"/>
              <a:pathLst>
                <a:path h="755801" w="812800">
                  <a:moveTo>
                    <a:pt x="406400" y="0"/>
                  </a:moveTo>
                  <a:cubicBezTo>
                    <a:pt x="181951" y="0"/>
                    <a:pt x="0" y="169192"/>
                    <a:pt x="0" y="377901"/>
                  </a:cubicBezTo>
                  <a:cubicBezTo>
                    <a:pt x="0" y="586609"/>
                    <a:pt x="181951" y="755801"/>
                    <a:pt x="406400" y="755801"/>
                  </a:cubicBezTo>
                  <a:cubicBezTo>
                    <a:pt x="630849" y="755801"/>
                    <a:pt x="812800" y="586609"/>
                    <a:pt x="812800" y="377901"/>
                  </a:cubicBezTo>
                  <a:cubicBezTo>
                    <a:pt x="812800" y="169192"/>
                    <a:pt x="630849" y="0"/>
                    <a:pt x="406400" y="0"/>
                  </a:cubicBezTo>
                  <a:close/>
                </a:path>
              </a:pathLst>
            </a:custGeom>
            <a:solidFill>
              <a:srgbClr val="FFFFFF"/>
            </a:solidFill>
          </p:spPr>
        </p:sp>
        <p:sp>
          <p:nvSpPr>
            <p:cNvPr name="TextBox 20" id="20"/>
            <p:cNvSpPr txBox="true"/>
            <p:nvPr/>
          </p:nvSpPr>
          <p:spPr>
            <a:xfrm>
              <a:off x="76200" y="32756"/>
              <a:ext cx="660400" cy="652189"/>
            </a:xfrm>
            <a:prstGeom prst="rect">
              <a:avLst/>
            </a:prstGeom>
          </p:spPr>
          <p:txBody>
            <a:bodyPr anchor="ctr" rtlCol="false" tIns="50800" lIns="50800" bIns="50800" rIns="50800"/>
            <a:lstStyle/>
            <a:p>
              <a:pPr algn="ctr" marL="0" indent="0" lvl="0">
                <a:lnSpc>
                  <a:spcPts val="2519"/>
                </a:lnSpc>
                <a:spcBef>
                  <a:spcPct val="0"/>
                </a:spcBef>
              </a:pPr>
              <a:r>
                <a:rPr lang="en-US" b="true" sz="1799">
                  <a:solidFill>
                    <a:srgbClr val="000000"/>
                  </a:solidFill>
                  <a:latin typeface="DM Sans Bold"/>
                  <a:ea typeface="DM Sans Bold"/>
                  <a:cs typeface="DM Sans Bold"/>
                  <a:sym typeface="DM Sans Bold"/>
                </a:rPr>
                <a:t>01</a:t>
              </a:r>
            </a:p>
          </p:txBody>
        </p:sp>
      </p:grpSp>
      <p:sp>
        <p:nvSpPr>
          <p:cNvPr name="Freeform 21" id="21"/>
          <p:cNvSpPr/>
          <p:nvPr/>
        </p:nvSpPr>
        <p:spPr>
          <a:xfrm flipH="false" flipV="false" rot="5400000">
            <a:off x="7966950" y="3643438"/>
            <a:ext cx="1310584" cy="1463833"/>
          </a:xfrm>
          <a:custGeom>
            <a:avLst/>
            <a:gdLst/>
            <a:ahLst/>
            <a:cxnLst/>
            <a:rect r="r" b="b" t="t" l="l"/>
            <a:pathLst>
              <a:path h="1463833" w="1310584">
                <a:moveTo>
                  <a:pt x="0" y="0"/>
                </a:moveTo>
                <a:lnTo>
                  <a:pt x="1310585" y="0"/>
                </a:lnTo>
                <a:lnTo>
                  <a:pt x="1310585" y="1463833"/>
                </a:lnTo>
                <a:lnTo>
                  <a:pt x="0" y="14638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2" id="22"/>
          <p:cNvSpPr/>
          <p:nvPr/>
        </p:nvSpPr>
        <p:spPr>
          <a:xfrm flipH="false" flipV="false" rot="0">
            <a:off x="8741091" y="5471569"/>
            <a:ext cx="804812" cy="803806"/>
          </a:xfrm>
          <a:custGeom>
            <a:avLst/>
            <a:gdLst/>
            <a:ahLst/>
            <a:cxnLst/>
            <a:rect r="r" b="b" t="t" l="l"/>
            <a:pathLst>
              <a:path h="803806" w="804812">
                <a:moveTo>
                  <a:pt x="0" y="0"/>
                </a:moveTo>
                <a:lnTo>
                  <a:pt x="804812" y="0"/>
                </a:lnTo>
                <a:lnTo>
                  <a:pt x="804812" y="803807"/>
                </a:lnTo>
                <a:lnTo>
                  <a:pt x="0" y="803807"/>
                </a:lnTo>
                <a:lnTo>
                  <a:pt x="0" y="0"/>
                </a:lnTo>
                <a:close/>
              </a:path>
            </a:pathLst>
          </a:custGeom>
          <a:blipFill>
            <a:blip r:embed="rId3"/>
            <a:stretch>
              <a:fillRect l="0" t="0" r="0" b="0"/>
            </a:stretch>
          </a:blipFill>
        </p:spPr>
      </p:sp>
      <p:sp>
        <p:nvSpPr>
          <p:cNvPr name="Freeform 23" id="23"/>
          <p:cNvSpPr/>
          <p:nvPr/>
        </p:nvSpPr>
        <p:spPr>
          <a:xfrm flipH="false" flipV="true" rot="5400000">
            <a:off x="9009460" y="3625350"/>
            <a:ext cx="1310584" cy="1463833"/>
          </a:xfrm>
          <a:custGeom>
            <a:avLst/>
            <a:gdLst/>
            <a:ahLst/>
            <a:cxnLst/>
            <a:rect r="r" b="b" t="t" l="l"/>
            <a:pathLst>
              <a:path h="1463833" w="1310584">
                <a:moveTo>
                  <a:pt x="0" y="1463833"/>
                </a:moveTo>
                <a:lnTo>
                  <a:pt x="1310584" y="1463833"/>
                </a:lnTo>
                <a:lnTo>
                  <a:pt x="1310584" y="0"/>
                </a:lnTo>
                <a:lnTo>
                  <a:pt x="0" y="0"/>
                </a:lnTo>
                <a:lnTo>
                  <a:pt x="0" y="1463833"/>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4" id="24"/>
          <p:cNvGrpSpPr/>
          <p:nvPr/>
        </p:nvGrpSpPr>
        <p:grpSpPr>
          <a:xfrm rot="0">
            <a:off x="8869504" y="4095138"/>
            <a:ext cx="547756" cy="547756"/>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marL="0" indent="0" lvl="0">
                <a:lnSpc>
                  <a:spcPts val="2519"/>
                </a:lnSpc>
                <a:spcBef>
                  <a:spcPct val="0"/>
                </a:spcBef>
              </a:pPr>
              <a:r>
                <a:rPr lang="en-US" b="true" sz="1799">
                  <a:solidFill>
                    <a:srgbClr val="000000"/>
                  </a:solidFill>
                  <a:latin typeface="DM Sans Bold"/>
                  <a:ea typeface="DM Sans Bold"/>
                  <a:cs typeface="DM Sans Bold"/>
                  <a:sym typeface="DM Sans Bold"/>
                </a:rPr>
                <a:t>02</a:t>
              </a:r>
            </a:p>
          </p:txBody>
        </p:sp>
      </p:grpSp>
      <p:sp>
        <p:nvSpPr>
          <p:cNvPr name="Freeform 27" id="27"/>
          <p:cNvSpPr/>
          <p:nvPr/>
        </p:nvSpPr>
        <p:spPr>
          <a:xfrm flipH="false" flipV="false" rot="5400000">
            <a:off x="7966950" y="5138589"/>
            <a:ext cx="1310584" cy="1463833"/>
          </a:xfrm>
          <a:custGeom>
            <a:avLst/>
            <a:gdLst/>
            <a:ahLst/>
            <a:cxnLst/>
            <a:rect r="r" b="b" t="t" l="l"/>
            <a:pathLst>
              <a:path h="1463833" w="1310584">
                <a:moveTo>
                  <a:pt x="0" y="0"/>
                </a:moveTo>
                <a:lnTo>
                  <a:pt x="1310585" y="0"/>
                </a:lnTo>
                <a:lnTo>
                  <a:pt x="1310585" y="1463833"/>
                </a:lnTo>
                <a:lnTo>
                  <a:pt x="0" y="14638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8" id="28"/>
          <p:cNvSpPr/>
          <p:nvPr/>
        </p:nvSpPr>
        <p:spPr>
          <a:xfrm flipH="false" flipV="false" rot="0">
            <a:off x="8741091" y="6972240"/>
            <a:ext cx="804812" cy="803806"/>
          </a:xfrm>
          <a:custGeom>
            <a:avLst/>
            <a:gdLst/>
            <a:ahLst/>
            <a:cxnLst/>
            <a:rect r="r" b="b" t="t" l="l"/>
            <a:pathLst>
              <a:path h="803806" w="804812">
                <a:moveTo>
                  <a:pt x="0" y="0"/>
                </a:moveTo>
                <a:lnTo>
                  <a:pt x="804812" y="0"/>
                </a:lnTo>
                <a:lnTo>
                  <a:pt x="804812" y="803806"/>
                </a:lnTo>
                <a:lnTo>
                  <a:pt x="0" y="803806"/>
                </a:lnTo>
                <a:lnTo>
                  <a:pt x="0" y="0"/>
                </a:lnTo>
                <a:close/>
              </a:path>
            </a:pathLst>
          </a:custGeom>
          <a:blipFill>
            <a:blip r:embed="rId3"/>
            <a:stretch>
              <a:fillRect l="0" t="0" r="0" b="0"/>
            </a:stretch>
          </a:blipFill>
        </p:spPr>
      </p:sp>
      <p:sp>
        <p:nvSpPr>
          <p:cNvPr name="Freeform 29" id="29"/>
          <p:cNvSpPr/>
          <p:nvPr/>
        </p:nvSpPr>
        <p:spPr>
          <a:xfrm flipH="false" flipV="true" rot="5400000">
            <a:off x="9009460" y="5146881"/>
            <a:ext cx="1310584" cy="1463833"/>
          </a:xfrm>
          <a:custGeom>
            <a:avLst/>
            <a:gdLst/>
            <a:ahLst/>
            <a:cxnLst/>
            <a:rect r="r" b="b" t="t" l="l"/>
            <a:pathLst>
              <a:path h="1463833" w="1310584">
                <a:moveTo>
                  <a:pt x="0" y="1463833"/>
                </a:moveTo>
                <a:lnTo>
                  <a:pt x="1310584" y="1463833"/>
                </a:lnTo>
                <a:lnTo>
                  <a:pt x="1310584" y="0"/>
                </a:lnTo>
                <a:lnTo>
                  <a:pt x="0" y="0"/>
                </a:lnTo>
                <a:lnTo>
                  <a:pt x="0" y="1463833"/>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0" id="30"/>
          <p:cNvGrpSpPr/>
          <p:nvPr/>
        </p:nvGrpSpPr>
        <p:grpSpPr>
          <a:xfrm rot="0">
            <a:off x="8901054" y="5596628"/>
            <a:ext cx="484655" cy="547756"/>
            <a:chOff x="0" y="0"/>
            <a:chExt cx="719166" cy="812800"/>
          </a:xfrm>
        </p:grpSpPr>
        <p:sp>
          <p:nvSpPr>
            <p:cNvPr name="Freeform 31" id="31"/>
            <p:cNvSpPr/>
            <p:nvPr/>
          </p:nvSpPr>
          <p:spPr>
            <a:xfrm flipH="false" flipV="false" rot="0">
              <a:off x="0" y="0"/>
              <a:ext cx="719166" cy="812800"/>
            </a:xfrm>
            <a:custGeom>
              <a:avLst/>
              <a:gdLst/>
              <a:ahLst/>
              <a:cxnLst/>
              <a:rect r="r" b="b" t="t" l="l"/>
              <a:pathLst>
                <a:path h="812800" w="719166">
                  <a:moveTo>
                    <a:pt x="359583" y="0"/>
                  </a:moveTo>
                  <a:cubicBezTo>
                    <a:pt x="160991" y="0"/>
                    <a:pt x="0" y="181951"/>
                    <a:pt x="0" y="406400"/>
                  </a:cubicBezTo>
                  <a:cubicBezTo>
                    <a:pt x="0" y="630849"/>
                    <a:pt x="160991" y="812800"/>
                    <a:pt x="359583" y="812800"/>
                  </a:cubicBezTo>
                  <a:cubicBezTo>
                    <a:pt x="558175" y="812800"/>
                    <a:pt x="719166" y="630849"/>
                    <a:pt x="719166" y="406400"/>
                  </a:cubicBezTo>
                  <a:cubicBezTo>
                    <a:pt x="719166" y="181951"/>
                    <a:pt x="558175" y="0"/>
                    <a:pt x="359583" y="0"/>
                  </a:cubicBezTo>
                  <a:close/>
                </a:path>
              </a:pathLst>
            </a:custGeom>
            <a:solidFill>
              <a:srgbClr val="FFFFFF"/>
            </a:solidFill>
          </p:spPr>
        </p:sp>
        <p:sp>
          <p:nvSpPr>
            <p:cNvPr name="TextBox 32" id="32"/>
            <p:cNvSpPr txBox="true"/>
            <p:nvPr/>
          </p:nvSpPr>
          <p:spPr>
            <a:xfrm>
              <a:off x="67422" y="38100"/>
              <a:ext cx="584323" cy="698500"/>
            </a:xfrm>
            <a:prstGeom prst="rect">
              <a:avLst/>
            </a:prstGeom>
          </p:spPr>
          <p:txBody>
            <a:bodyPr anchor="ctr" rtlCol="false" tIns="50800" lIns="50800" bIns="50800" rIns="50800"/>
            <a:lstStyle/>
            <a:p>
              <a:pPr algn="ctr" marL="0" indent="0" lvl="0">
                <a:lnSpc>
                  <a:spcPts val="2519"/>
                </a:lnSpc>
                <a:spcBef>
                  <a:spcPct val="0"/>
                </a:spcBef>
              </a:pPr>
              <a:r>
                <a:rPr lang="en-US" b="true" sz="1799">
                  <a:solidFill>
                    <a:srgbClr val="000000"/>
                  </a:solidFill>
                  <a:latin typeface="DM Sans Bold"/>
                  <a:ea typeface="DM Sans Bold"/>
                  <a:cs typeface="DM Sans Bold"/>
                  <a:sym typeface="DM Sans Bold"/>
                </a:rPr>
                <a:t>03</a:t>
              </a:r>
            </a:p>
          </p:txBody>
        </p:sp>
      </p:grpSp>
      <p:sp>
        <p:nvSpPr>
          <p:cNvPr name="Freeform 33" id="33"/>
          <p:cNvSpPr/>
          <p:nvPr/>
        </p:nvSpPr>
        <p:spPr>
          <a:xfrm flipH="false" flipV="false" rot="5400000">
            <a:off x="7966950" y="6524140"/>
            <a:ext cx="1310584" cy="1463833"/>
          </a:xfrm>
          <a:custGeom>
            <a:avLst/>
            <a:gdLst/>
            <a:ahLst/>
            <a:cxnLst/>
            <a:rect r="r" b="b" t="t" l="l"/>
            <a:pathLst>
              <a:path h="1463833" w="1310584">
                <a:moveTo>
                  <a:pt x="0" y="0"/>
                </a:moveTo>
                <a:lnTo>
                  <a:pt x="1310585" y="0"/>
                </a:lnTo>
                <a:lnTo>
                  <a:pt x="1310585" y="1463833"/>
                </a:lnTo>
                <a:lnTo>
                  <a:pt x="0" y="14638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4" id="34"/>
          <p:cNvSpPr/>
          <p:nvPr/>
        </p:nvSpPr>
        <p:spPr>
          <a:xfrm flipH="false" flipV="true" rot="5400000">
            <a:off x="9072592" y="6505090"/>
            <a:ext cx="1310584" cy="1463833"/>
          </a:xfrm>
          <a:custGeom>
            <a:avLst/>
            <a:gdLst/>
            <a:ahLst/>
            <a:cxnLst/>
            <a:rect r="r" b="b" t="t" l="l"/>
            <a:pathLst>
              <a:path h="1463833" w="1310584">
                <a:moveTo>
                  <a:pt x="0" y="1463833"/>
                </a:moveTo>
                <a:lnTo>
                  <a:pt x="1310584" y="1463833"/>
                </a:lnTo>
                <a:lnTo>
                  <a:pt x="1310584" y="0"/>
                </a:lnTo>
                <a:lnTo>
                  <a:pt x="0" y="0"/>
                </a:lnTo>
                <a:lnTo>
                  <a:pt x="0" y="1463833"/>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5" id="35"/>
          <p:cNvSpPr/>
          <p:nvPr/>
        </p:nvSpPr>
        <p:spPr>
          <a:xfrm flipH="false" flipV="false" rot="0">
            <a:off x="8798288" y="8216149"/>
            <a:ext cx="804812" cy="803806"/>
          </a:xfrm>
          <a:custGeom>
            <a:avLst/>
            <a:gdLst/>
            <a:ahLst/>
            <a:cxnLst/>
            <a:rect r="r" b="b" t="t" l="l"/>
            <a:pathLst>
              <a:path h="803806" w="804812">
                <a:moveTo>
                  <a:pt x="0" y="0"/>
                </a:moveTo>
                <a:lnTo>
                  <a:pt x="804812" y="0"/>
                </a:lnTo>
                <a:lnTo>
                  <a:pt x="804812" y="803806"/>
                </a:lnTo>
                <a:lnTo>
                  <a:pt x="0" y="803806"/>
                </a:lnTo>
                <a:lnTo>
                  <a:pt x="0" y="0"/>
                </a:lnTo>
                <a:close/>
              </a:path>
            </a:pathLst>
          </a:custGeom>
          <a:blipFill>
            <a:blip r:embed="rId3"/>
            <a:stretch>
              <a:fillRect l="0" t="0" r="0" b="0"/>
            </a:stretch>
          </a:blipFill>
        </p:spPr>
      </p:sp>
      <p:grpSp>
        <p:nvGrpSpPr>
          <p:cNvPr name="Group 36" id="36"/>
          <p:cNvGrpSpPr/>
          <p:nvPr/>
        </p:nvGrpSpPr>
        <p:grpSpPr>
          <a:xfrm rot="0">
            <a:off x="8901054" y="6905565"/>
            <a:ext cx="547756" cy="709681"/>
            <a:chOff x="0" y="0"/>
            <a:chExt cx="812800" cy="1053076"/>
          </a:xfrm>
        </p:grpSpPr>
        <p:sp>
          <p:nvSpPr>
            <p:cNvPr name="Freeform 37" id="37"/>
            <p:cNvSpPr/>
            <p:nvPr/>
          </p:nvSpPr>
          <p:spPr>
            <a:xfrm flipH="false" flipV="false" rot="0">
              <a:off x="0" y="0"/>
              <a:ext cx="812800" cy="1053076"/>
            </a:xfrm>
            <a:custGeom>
              <a:avLst/>
              <a:gdLst/>
              <a:ahLst/>
              <a:cxnLst/>
              <a:rect r="r" b="b" t="t" l="l"/>
              <a:pathLst>
                <a:path h="1053076" w="812800">
                  <a:moveTo>
                    <a:pt x="406400" y="0"/>
                  </a:moveTo>
                  <a:cubicBezTo>
                    <a:pt x="181951" y="0"/>
                    <a:pt x="0" y="235739"/>
                    <a:pt x="0" y="526538"/>
                  </a:cubicBezTo>
                  <a:cubicBezTo>
                    <a:pt x="0" y="817337"/>
                    <a:pt x="181951" y="1053076"/>
                    <a:pt x="406400" y="1053076"/>
                  </a:cubicBezTo>
                  <a:cubicBezTo>
                    <a:pt x="630849" y="1053076"/>
                    <a:pt x="812800" y="817337"/>
                    <a:pt x="812800" y="526538"/>
                  </a:cubicBezTo>
                  <a:cubicBezTo>
                    <a:pt x="812800" y="235739"/>
                    <a:pt x="630849" y="0"/>
                    <a:pt x="406400" y="0"/>
                  </a:cubicBezTo>
                  <a:close/>
                </a:path>
              </a:pathLst>
            </a:custGeom>
            <a:solidFill>
              <a:srgbClr val="FFFFFF"/>
            </a:solidFill>
          </p:spPr>
        </p:sp>
        <p:sp>
          <p:nvSpPr>
            <p:cNvPr name="TextBox 38" id="38"/>
            <p:cNvSpPr txBox="true"/>
            <p:nvPr/>
          </p:nvSpPr>
          <p:spPr>
            <a:xfrm>
              <a:off x="76200" y="60626"/>
              <a:ext cx="660400" cy="893724"/>
            </a:xfrm>
            <a:prstGeom prst="rect">
              <a:avLst/>
            </a:prstGeom>
          </p:spPr>
          <p:txBody>
            <a:bodyPr anchor="ctr" rtlCol="false" tIns="50800" lIns="50800" bIns="50800" rIns="50800"/>
            <a:lstStyle/>
            <a:p>
              <a:pPr algn="ctr" marL="0" indent="0" lvl="0">
                <a:lnSpc>
                  <a:spcPts val="2519"/>
                </a:lnSpc>
                <a:spcBef>
                  <a:spcPct val="0"/>
                </a:spcBef>
              </a:pPr>
              <a:r>
                <a:rPr lang="en-US" b="true" sz="1799">
                  <a:solidFill>
                    <a:srgbClr val="000000"/>
                  </a:solidFill>
                  <a:latin typeface="DM Sans Bold"/>
                  <a:ea typeface="DM Sans Bold"/>
                  <a:cs typeface="DM Sans Bold"/>
                  <a:sym typeface="DM Sans Bold"/>
                </a:rPr>
                <a:t>04</a:t>
              </a:r>
            </a:p>
          </p:txBody>
        </p:sp>
      </p:grpSp>
      <p:sp>
        <p:nvSpPr>
          <p:cNvPr name="TextBox 39" id="39"/>
          <p:cNvSpPr txBox="true"/>
          <p:nvPr/>
        </p:nvSpPr>
        <p:spPr>
          <a:xfrm rot="0">
            <a:off x="651392" y="2273845"/>
            <a:ext cx="7190837" cy="587161"/>
          </a:xfrm>
          <a:prstGeom prst="rect">
            <a:avLst/>
          </a:prstGeom>
        </p:spPr>
        <p:txBody>
          <a:bodyPr anchor="t" rtlCol="false" tIns="0" lIns="0" bIns="0" rIns="0">
            <a:spAutoFit/>
          </a:bodyPr>
          <a:lstStyle/>
          <a:p>
            <a:pPr algn="r" marL="0" indent="0" lvl="0">
              <a:lnSpc>
                <a:spcPts val="2444"/>
              </a:lnSpc>
              <a:spcBef>
                <a:spcPct val="0"/>
              </a:spcBef>
            </a:pPr>
            <a:r>
              <a:rPr lang="en-US" sz="1746">
                <a:solidFill>
                  <a:srgbClr val="000000"/>
                </a:solidFill>
                <a:latin typeface="DM Sans"/>
                <a:ea typeface="DM Sans"/>
                <a:cs typeface="DM Sans"/>
                <a:sym typeface="DM Sans"/>
              </a:rPr>
              <a:t>AI agents could not pick up on the underlying business logic when shifting between threads and joining the codebase development </a:t>
            </a:r>
          </a:p>
        </p:txBody>
      </p:sp>
      <p:sp>
        <p:nvSpPr>
          <p:cNvPr name="TextBox 40" id="40"/>
          <p:cNvSpPr txBox="true"/>
          <p:nvPr/>
        </p:nvSpPr>
        <p:spPr>
          <a:xfrm rot="0">
            <a:off x="2546714" y="1961765"/>
            <a:ext cx="4774544" cy="306705"/>
          </a:xfrm>
          <a:prstGeom prst="rect">
            <a:avLst/>
          </a:prstGeom>
        </p:spPr>
        <p:txBody>
          <a:bodyPr anchor="t" rtlCol="false" tIns="0" lIns="0" bIns="0" rIns="0">
            <a:spAutoFit/>
          </a:bodyPr>
          <a:lstStyle/>
          <a:p>
            <a:pPr algn="r" marL="0" indent="0" lvl="0">
              <a:lnSpc>
                <a:spcPts val="2520"/>
              </a:lnSpc>
              <a:spcBef>
                <a:spcPct val="0"/>
              </a:spcBef>
            </a:pPr>
            <a:r>
              <a:rPr lang="en-US" b="true" sz="1800">
                <a:solidFill>
                  <a:srgbClr val="000000"/>
                </a:solidFill>
                <a:latin typeface="DM Sans Bold"/>
                <a:ea typeface="DM Sans Bold"/>
                <a:cs typeface="DM Sans Bold"/>
                <a:sym typeface="DM Sans Bold"/>
              </a:rPr>
              <a:t>lack of business logic building sense</a:t>
            </a:r>
          </a:p>
        </p:txBody>
      </p:sp>
      <p:sp>
        <p:nvSpPr>
          <p:cNvPr name="TextBox 41" id="41"/>
          <p:cNvSpPr txBox="true"/>
          <p:nvPr/>
        </p:nvSpPr>
        <p:spPr>
          <a:xfrm rot="0">
            <a:off x="10924814" y="2264320"/>
            <a:ext cx="6293862" cy="826135"/>
          </a:xfrm>
          <a:prstGeom prst="rect">
            <a:avLst/>
          </a:prstGeom>
        </p:spPr>
        <p:txBody>
          <a:bodyPr anchor="t" rtlCol="false" tIns="0" lIns="0" bIns="0" rIns="0">
            <a:spAutoFit/>
          </a:bodyPr>
          <a:lstStyle/>
          <a:p>
            <a:pPr algn="l" marL="0" indent="0" lvl="0">
              <a:lnSpc>
                <a:spcPts val="2239"/>
              </a:lnSpc>
              <a:spcBef>
                <a:spcPct val="0"/>
              </a:spcBef>
            </a:pPr>
            <a:r>
              <a:rPr lang="en-US" sz="1599">
                <a:solidFill>
                  <a:srgbClr val="000000"/>
                </a:solidFill>
                <a:latin typeface="DM Sans"/>
                <a:ea typeface="DM Sans"/>
                <a:cs typeface="DM Sans"/>
                <a:sym typeface="DM Sans"/>
              </a:rPr>
              <a:t>took the initial document provided to us and supplied it to claude and detailed business logic ,used this markdown in all future conversations making agents refer to it</a:t>
            </a:r>
          </a:p>
        </p:txBody>
      </p:sp>
      <p:sp>
        <p:nvSpPr>
          <p:cNvPr name="TextBox 42" id="42"/>
          <p:cNvSpPr txBox="true"/>
          <p:nvPr/>
        </p:nvSpPr>
        <p:spPr>
          <a:xfrm rot="0">
            <a:off x="10924814" y="1961765"/>
            <a:ext cx="5377133" cy="306705"/>
          </a:xfrm>
          <a:prstGeom prst="rect">
            <a:avLst/>
          </a:prstGeom>
        </p:spPr>
        <p:txBody>
          <a:bodyPr anchor="t" rtlCol="false" tIns="0" lIns="0" bIns="0" rIns="0">
            <a:spAutoFit/>
          </a:bodyPr>
          <a:lstStyle/>
          <a:p>
            <a:pPr algn="l" marL="0" indent="0" lvl="0">
              <a:lnSpc>
                <a:spcPts val="2520"/>
              </a:lnSpc>
              <a:spcBef>
                <a:spcPct val="0"/>
              </a:spcBef>
            </a:pPr>
            <a:r>
              <a:rPr lang="en-US" b="true" sz="1800">
                <a:solidFill>
                  <a:srgbClr val="000000"/>
                </a:solidFill>
                <a:latin typeface="DM Sans Bold"/>
                <a:ea typeface="DM Sans Bold"/>
                <a:cs typeface="DM Sans Bold"/>
                <a:sym typeface="DM Sans Bold"/>
              </a:rPr>
              <a:t>created a markdown with business logic rules</a:t>
            </a:r>
          </a:p>
        </p:txBody>
      </p:sp>
      <p:sp>
        <p:nvSpPr>
          <p:cNvPr name="TextBox 43" id="43"/>
          <p:cNvSpPr txBox="true"/>
          <p:nvPr/>
        </p:nvSpPr>
        <p:spPr>
          <a:xfrm rot="0">
            <a:off x="2631327" y="3891811"/>
            <a:ext cx="4774544" cy="826135"/>
          </a:xfrm>
          <a:prstGeom prst="rect">
            <a:avLst/>
          </a:prstGeom>
        </p:spPr>
        <p:txBody>
          <a:bodyPr anchor="t" rtlCol="false" tIns="0" lIns="0" bIns="0" rIns="0">
            <a:spAutoFit/>
          </a:bodyPr>
          <a:lstStyle/>
          <a:p>
            <a:pPr algn="r" marL="0" indent="0" lvl="0">
              <a:lnSpc>
                <a:spcPts val="2239"/>
              </a:lnSpc>
              <a:spcBef>
                <a:spcPct val="0"/>
              </a:spcBef>
            </a:pPr>
            <a:r>
              <a:rPr lang="en-US" sz="1599">
                <a:solidFill>
                  <a:srgbClr val="000000"/>
                </a:solidFill>
                <a:latin typeface="DM Sans"/>
                <a:ea typeface="DM Sans"/>
                <a:cs typeface="DM Sans"/>
                <a:sym typeface="DM Sans"/>
              </a:rPr>
              <a:t>due to a single thread becoming too long to retain all context about codebase token consumption exponentially increased with each prompt</a:t>
            </a:r>
          </a:p>
        </p:txBody>
      </p:sp>
      <p:sp>
        <p:nvSpPr>
          <p:cNvPr name="TextBox 44" id="44"/>
          <p:cNvSpPr txBox="true"/>
          <p:nvPr/>
        </p:nvSpPr>
        <p:spPr>
          <a:xfrm rot="0">
            <a:off x="2309982" y="3432706"/>
            <a:ext cx="4774544" cy="306705"/>
          </a:xfrm>
          <a:prstGeom prst="rect">
            <a:avLst/>
          </a:prstGeom>
        </p:spPr>
        <p:txBody>
          <a:bodyPr anchor="t" rtlCol="false" tIns="0" lIns="0" bIns="0" rIns="0">
            <a:spAutoFit/>
          </a:bodyPr>
          <a:lstStyle/>
          <a:p>
            <a:pPr algn="r" marL="0" indent="0" lvl="0">
              <a:lnSpc>
                <a:spcPts val="2520"/>
              </a:lnSpc>
              <a:spcBef>
                <a:spcPct val="0"/>
              </a:spcBef>
            </a:pPr>
            <a:r>
              <a:rPr lang="en-US" b="true" sz="1800">
                <a:solidFill>
                  <a:srgbClr val="000000"/>
                </a:solidFill>
                <a:latin typeface="DM Sans Bold"/>
                <a:ea typeface="DM Sans Bold"/>
                <a:cs typeface="DM Sans Bold"/>
                <a:sym typeface="DM Sans Bold"/>
              </a:rPr>
              <a:t>context window limitations</a:t>
            </a:r>
          </a:p>
        </p:txBody>
      </p:sp>
      <p:sp>
        <p:nvSpPr>
          <p:cNvPr name="TextBox 45" id="45"/>
          <p:cNvSpPr txBox="true"/>
          <p:nvPr/>
        </p:nvSpPr>
        <p:spPr>
          <a:xfrm rot="0">
            <a:off x="10924814" y="3787036"/>
            <a:ext cx="7322562" cy="1102360"/>
          </a:xfrm>
          <a:prstGeom prst="rect">
            <a:avLst/>
          </a:prstGeom>
        </p:spPr>
        <p:txBody>
          <a:bodyPr anchor="t" rtlCol="false" tIns="0" lIns="0" bIns="0" rIns="0">
            <a:spAutoFit/>
          </a:bodyPr>
          <a:lstStyle/>
          <a:p>
            <a:pPr algn="l" marL="0" indent="0" lvl="0">
              <a:lnSpc>
                <a:spcPts val="2239"/>
              </a:lnSpc>
              <a:spcBef>
                <a:spcPct val="0"/>
              </a:spcBef>
            </a:pPr>
            <a:r>
              <a:rPr lang="en-US" sz="1599">
                <a:solidFill>
                  <a:srgbClr val="000000"/>
                </a:solidFill>
                <a:latin typeface="DM Sans"/>
                <a:ea typeface="DM Sans"/>
                <a:cs typeface="DM Sans"/>
                <a:sym typeface="DM Sans"/>
              </a:rPr>
              <a:t>installed a library called graphify which converted the entire codebase into a graph structure with connected nodes,instead of continuing in old thread with fear of losing context,referenced output of graphify to get summarized crisp codebase context </a:t>
            </a:r>
          </a:p>
        </p:txBody>
      </p:sp>
      <p:sp>
        <p:nvSpPr>
          <p:cNvPr name="TextBox 46" id="46"/>
          <p:cNvSpPr txBox="true"/>
          <p:nvPr/>
        </p:nvSpPr>
        <p:spPr>
          <a:xfrm rot="0">
            <a:off x="10968169" y="3432706"/>
            <a:ext cx="4774544" cy="306705"/>
          </a:xfrm>
          <a:prstGeom prst="rect">
            <a:avLst/>
          </a:prstGeom>
        </p:spPr>
        <p:txBody>
          <a:bodyPr anchor="t" rtlCol="false" tIns="0" lIns="0" bIns="0" rIns="0">
            <a:spAutoFit/>
          </a:bodyPr>
          <a:lstStyle/>
          <a:p>
            <a:pPr algn="l" marL="0" indent="0" lvl="0">
              <a:lnSpc>
                <a:spcPts val="2520"/>
              </a:lnSpc>
              <a:spcBef>
                <a:spcPct val="0"/>
              </a:spcBef>
            </a:pPr>
            <a:r>
              <a:rPr lang="en-US" b="true" sz="1800">
                <a:solidFill>
                  <a:srgbClr val="000000"/>
                </a:solidFill>
                <a:latin typeface="DM Sans Bold"/>
                <a:ea typeface="DM Sans Bold"/>
                <a:cs typeface="DM Sans Bold"/>
                <a:sym typeface="DM Sans Bold"/>
              </a:rPr>
              <a:t>implemented graphify</a:t>
            </a:r>
          </a:p>
        </p:txBody>
      </p:sp>
      <p:sp>
        <p:nvSpPr>
          <p:cNvPr name="TextBox 47" id="47"/>
          <p:cNvSpPr txBox="true"/>
          <p:nvPr/>
        </p:nvSpPr>
        <p:spPr>
          <a:xfrm rot="0">
            <a:off x="1386991" y="5564505"/>
            <a:ext cx="6292558" cy="826135"/>
          </a:xfrm>
          <a:prstGeom prst="rect">
            <a:avLst/>
          </a:prstGeom>
        </p:spPr>
        <p:txBody>
          <a:bodyPr anchor="t" rtlCol="false" tIns="0" lIns="0" bIns="0" rIns="0">
            <a:spAutoFit/>
          </a:bodyPr>
          <a:lstStyle/>
          <a:p>
            <a:pPr algn="r" marL="0" indent="0" lvl="0">
              <a:lnSpc>
                <a:spcPts val="2239"/>
              </a:lnSpc>
              <a:spcBef>
                <a:spcPct val="0"/>
              </a:spcBef>
            </a:pPr>
            <a:r>
              <a:rPr lang="en-US" sz="1599">
                <a:solidFill>
                  <a:srgbClr val="000000"/>
                </a:solidFill>
                <a:latin typeface="DM Sans"/>
                <a:ea typeface="DM Sans"/>
                <a:cs typeface="DM Sans"/>
                <a:sym typeface="DM Sans"/>
              </a:rPr>
              <a:t>any new agent which worked on my codebase gave verbose wordy responses(gemini models in particular) and did not activate the latent space of a developer when coding</a:t>
            </a:r>
          </a:p>
        </p:txBody>
      </p:sp>
      <p:sp>
        <p:nvSpPr>
          <p:cNvPr name="TextBox 48" id="48"/>
          <p:cNvSpPr txBox="true"/>
          <p:nvPr/>
        </p:nvSpPr>
        <p:spPr>
          <a:xfrm rot="0">
            <a:off x="2546714" y="5105400"/>
            <a:ext cx="4774544" cy="306705"/>
          </a:xfrm>
          <a:prstGeom prst="rect">
            <a:avLst/>
          </a:prstGeom>
        </p:spPr>
        <p:txBody>
          <a:bodyPr anchor="t" rtlCol="false" tIns="0" lIns="0" bIns="0" rIns="0">
            <a:spAutoFit/>
          </a:bodyPr>
          <a:lstStyle/>
          <a:p>
            <a:pPr algn="r" marL="0" indent="0" lvl="0">
              <a:lnSpc>
                <a:spcPts val="2520"/>
              </a:lnSpc>
              <a:spcBef>
                <a:spcPct val="0"/>
              </a:spcBef>
            </a:pPr>
            <a:r>
              <a:rPr lang="en-US" b="true" sz="1800">
                <a:solidFill>
                  <a:srgbClr val="000000"/>
                </a:solidFill>
                <a:latin typeface="DM Sans Bold"/>
                <a:ea typeface="DM Sans Bold"/>
                <a:cs typeface="DM Sans Bold"/>
                <a:sym typeface="DM Sans Bold"/>
              </a:rPr>
              <a:t>verbose response and role mismatch</a:t>
            </a:r>
          </a:p>
        </p:txBody>
      </p:sp>
      <p:sp>
        <p:nvSpPr>
          <p:cNvPr name="TextBox 49" id="49"/>
          <p:cNvSpPr txBox="true"/>
          <p:nvPr/>
        </p:nvSpPr>
        <p:spPr>
          <a:xfrm rot="0">
            <a:off x="10965438" y="5446680"/>
            <a:ext cx="7141857" cy="826135"/>
          </a:xfrm>
          <a:prstGeom prst="rect">
            <a:avLst/>
          </a:prstGeom>
        </p:spPr>
        <p:txBody>
          <a:bodyPr anchor="t" rtlCol="false" tIns="0" lIns="0" bIns="0" rIns="0">
            <a:spAutoFit/>
          </a:bodyPr>
          <a:lstStyle/>
          <a:p>
            <a:pPr algn="l" marL="0" indent="0" lvl="0">
              <a:lnSpc>
                <a:spcPts val="2239"/>
              </a:lnSpc>
              <a:spcBef>
                <a:spcPct val="0"/>
              </a:spcBef>
            </a:pPr>
            <a:r>
              <a:rPr lang="en-US" sz="1599">
                <a:solidFill>
                  <a:srgbClr val="000000"/>
                </a:solidFill>
                <a:latin typeface="DM Sans"/>
                <a:ea typeface="DM Sans"/>
                <a:cs typeface="DM Sans"/>
                <a:sym typeface="DM Sans"/>
              </a:rPr>
              <a:t>made effective use of system prompts,used claude for planning and prompt creation(gave it a role of a prompt architect),then gave the prompts to agentic tools with caveman mode and agentic priming configured</a:t>
            </a:r>
          </a:p>
        </p:txBody>
      </p:sp>
      <p:sp>
        <p:nvSpPr>
          <p:cNvPr name="TextBox 50" id="50"/>
          <p:cNvSpPr txBox="true"/>
          <p:nvPr/>
        </p:nvSpPr>
        <p:spPr>
          <a:xfrm rot="0">
            <a:off x="10924814" y="5105400"/>
            <a:ext cx="6776000" cy="306705"/>
          </a:xfrm>
          <a:prstGeom prst="rect">
            <a:avLst/>
          </a:prstGeom>
        </p:spPr>
        <p:txBody>
          <a:bodyPr anchor="t" rtlCol="false" tIns="0" lIns="0" bIns="0" rIns="0">
            <a:spAutoFit/>
          </a:bodyPr>
          <a:lstStyle/>
          <a:p>
            <a:pPr algn="l" marL="0" indent="0" lvl="0">
              <a:lnSpc>
                <a:spcPts val="2520"/>
              </a:lnSpc>
              <a:spcBef>
                <a:spcPct val="0"/>
              </a:spcBef>
            </a:pPr>
            <a:r>
              <a:rPr lang="en-US" b="true" sz="1800">
                <a:solidFill>
                  <a:srgbClr val="000000"/>
                </a:solidFill>
                <a:latin typeface="DM Sans Bold"/>
                <a:ea typeface="DM Sans Bold"/>
                <a:cs typeface="DM Sans Bold"/>
                <a:sym typeface="DM Sans Bold"/>
              </a:rPr>
              <a:t>system prompt ,agentic priming and caveman mode</a:t>
            </a:r>
          </a:p>
        </p:txBody>
      </p:sp>
      <p:sp>
        <p:nvSpPr>
          <p:cNvPr name="TextBox 51" id="51"/>
          <p:cNvSpPr txBox="true"/>
          <p:nvPr/>
        </p:nvSpPr>
        <p:spPr>
          <a:xfrm rot="0">
            <a:off x="2631327" y="6934140"/>
            <a:ext cx="4774544" cy="549910"/>
          </a:xfrm>
          <a:prstGeom prst="rect">
            <a:avLst/>
          </a:prstGeom>
        </p:spPr>
        <p:txBody>
          <a:bodyPr anchor="t" rtlCol="false" tIns="0" lIns="0" bIns="0" rIns="0">
            <a:spAutoFit/>
          </a:bodyPr>
          <a:lstStyle/>
          <a:p>
            <a:pPr algn="r" marL="0" indent="0" lvl="0">
              <a:lnSpc>
                <a:spcPts val="2239"/>
              </a:lnSpc>
              <a:spcBef>
                <a:spcPct val="0"/>
              </a:spcBef>
            </a:pPr>
            <a:r>
              <a:rPr lang="en-US" sz="1599">
                <a:solidFill>
                  <a:srgbClr val="000000"/>
                </a:solidFill>
                <a:latin typeface="DM Sans"/>
                <a:ea typeface="DM Sans"/>
                <a:cs typeface="DM Sans"/>
                <a:sym typeface="DM Sans"/>
              </a:rPr>
              <a:t>when testing the codebase for errors it became difficult to remember and check each flow in detail</a:t>
            </a:r>
          </a:p>
        </p:txBody>
      </p:sp>
      <p:sp>
        <p:nvSpPr>
          <p:cNvPr name="TextBox 52" id="52"/>
          <p:cNvSpPr txBox="true"/>
          <p:nvPr/>
        </p:nvSpPr>
        <p:spPr>
          <a:xfrm rot="0">
            <a:off x="2631327" y="6495990"/>
            <a:ext cx="4774544" cy="306705"/>
          </a:xfrm>
          <a:prstGeom prst="rect">
            <a:avLst/>
          </a:prstGeom>
        </p:spPr>
        <p:txBody>
          <a:bodyPr anchor="t" rtlCol="false" tIns="0" lIns="0" bIns="0" rIns="0">
            <a:spAutoFit/>
          </a:bodyPr>
          <a:lstStyle/>
          <a:p>
            <a:pPr algn="r" marL="0" indent="0" lvl="0">
              <a:lnSpc>
                <a:spcPts val="2520"/>
              </a:lnSpc>
              <a:spcBef>
                <a:spcPct val="0"/>
              </a:spcBef>
            </a:pPr>
            <a:r>
              <a:rPr lang="en-US" b="true" sz="1800">
                <a:solidFill>
                  <a:srgbClr val="000000"/>
                </a:solidFill>
                <a:latin typeface="DM Sans Bold"/>
                <a:ea typeface="DM Sans Bold"/>
                <a:cs typeface="DM Sans Bold"/>
                <a:sym typeface="DM Sans Bold"/>
              </a:rPr>
              <a:t>Manual testing and human errors</a:t>
            </a:r>
          </a:p>
        </p:txBody>
      </p:sp>
      <p:sp>
        <p:nvSpPr>
          <p:cNvPr name="TextBox 53" id="53"/>
          <p:cNvSpPr txBox="true"/>
          <p:nvPr/>
        </p:nvSpPr>
        <p:spPr>
          <a:xfrm rot="0">
            <a:off x="10924814" y="6799713"/>
            <a:ext cx="4774544" cy="1102360"/>
          </a:xfrm>
          <a:prstGeom prst="rect">
            <a:avLst/>
          </a:prstGeom>
        </p:spPr>
        <p:txBody>
          <a:bodyPr anchor="t" rtlCol="false" tIns="0" lIns="0" bIns="0" rIns="0">
            <a:spAutoFit/>
          </a:bodyPr>
          <a:lstStyle/>
          <a:p>
            <a:pPr algn="l" marL="0" indent="0" lvl="0">
              <a:lnSpc>
                <a:spcPts val="2239"/>
              </a:lnSpc>
              <a:spcBef>
                <a:spcPct val="0"/>
              </a:spcBef>
            </a:pPr>
            <a:r>
              <a:rPr lang="en-US" sz="1599">
                <a:solidFill>
                  <a:srgbClr val="000000"/>
                </a:solidFill>
                <a:latin typeface="DM Sans"/>
                <a:ea typeface="DM Sans"/>
                <a:cs typeface="DM Sans"/>
                <a:sym typeface="DM Sans"/>
              </a:rPr>
              <a:t>made use of pinchtab to explore each screen of the application and recorded each possibel flow to write testcases,then used playwright to automate and check those test cases </a:t>
            </a:r>
          </a:p>
        </p:txBody>
      </p:sp>
      <p:sp>
        <p:nvSpPr>
          <p:cNvPr name="TextBox 54" id="54"/>
          <p:cNvSpPr txBox="true"/>
          <p:nvPr/>
        </p:nvSpPr>
        <p:spPr>
          <a:xfrm rot="0">
            <a:off x="10924814" y="6361687"/>
            <a:ext cx="4774544" cy="306705"/>
          </a:xfrm>
          <a:prstGeom prst="rect">
            <a:avLst/>
          </a:prstGeom>
        </p:spPr>
        <p:txBody>
          <a:bodyPr anchor="t" rtlCol="false" tIns="0" lIns="0" bIns="0" rIns="0">
            <a:spAutoFit/>
          </a:bodyPr>
          <a:lstStyle/>
          <a:p>
            <a:pPr algn="l" marL="0" indent="0" lvl="0">
              <a:lnSpc>
                <a:spcPts val="2520"/>
              </a:lnSpc>
              <a:spcBef>
                <a:spcPct val="0"/>
              </a:spcBef>
            </a:pPr>
            <a:r>
              <a:rPr lang="en-US" b="true" sz="1800">
                <a:solidFill>
                  <a:srgbClr val="000000"/>
                </a:solidFill>
                <a:latin typeface="DM Sans Bold"/>
                <a:ea typeface="DM Sans Bold"/>
                <a:cs typeface="DM Sans Bold"/>
                <a:sym typeface="DM Sans Bold"/>
              </a:rPr>
              <a:t>pinchtab and playwright based testing</a:t>
            </a:r>
          </a:p>
        </p:txBody>
      </p:sp>
      <p:sp>
        <p:nvSpPr>
          <p:cNvPr name="AutoShape 55" id="55"/>
          <p:cNvSpPr/>
          <p:nvPr/>
        </p:nvSpPr>
        <p:spPr>
          <a:xfrm>
            <a:off x="5897262" y="904875"/>
            <a:ext cx="6492240" cy="0"/>
          </a:xfrm>
          <a:prstGeom prst="line">
            <a:avLst/>
          </a:prstGeom>
          <a:ln cap="flat" w="38100">
            <a:solidFill>
              <a:srgbClr val="E44650"/>
            </a:solidFill>
            <a:prstDash val="solid"/>
            <a:headEnd type="none" len="sm" w="sm"/>
            <a:tailEnd type="none" len="sm" w="sm"/>
          </a:ln>
        </p:spPr>
      </p:sp>
      <p:sp>
        <p:nvSpPr>
          <p:cNvPr name="Freeform 56" id="56"/>
          <p:cNvSpPr/>
          <p:nvPr/>
        </p:nvSpPr>
        <p:spPr>
          <a:xfrm flipH="false" flipV="false" rot="5400000">
            <a:off x="7966950" y="7901399"/>
            <a:ext cx="1310584" cy="1463833"/>
          </a:xfrm>
          <a:custGeom>
            <a:avLst/>
            <a:gdLst/>
            <a:ahLst/>
            <a:cxnLst/>
            <a:rect r="r" b="b" t="t" l="l"/>
            <a:pathLst>
              <a:path h="1463833" w="1310584">
                <a:moveTo>
                  <a:pt x="0" y="0"/>
                </a:moveTo>
                <a:lnTo>
                  <a:pt x="1310585" y="0"/>
                </a:lnTo>
                <a:lnTo>
                  <a:pt x="1310585" y="1463834"/>
                </a:lnTo>
                <a:lnTo>
                  <a:pt x="0" y="14638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7" id="57"/>
          <p:cNvSpPr/>
          <p:nvPr/>
        </p:nvSpPr>
        <p:spPr>
          <a:xfrm flipH="false" flipV="true" rot="5400000">
            <a:off x="9072592" y="7910924"/>
            <a:ext cx="1310584" cy="1463833"/>
          </a:xfrm>
          <a:custGeom>
            <a:avLst/>
            <a:gdLst/>
            <a:ahLst/>
            <a:cxnLst/>
            <a:rect r="r" b="b" t="t" l="l"/>
            <a:pathLst>
              <a:path h="1463833" w="1310584">
                <a:moveTo>
                  <a:pt x="0" y="1463834"/>
                </a:moveTo>
                <a:lnTo>
                  <a:pt x="1310584" y="1463834"/>
                </a:lnTo>
                <a:lnTo>
                  <a:pt x="1310584" y="0"/>
                </a:lnTo>
                <a:lnTo>
                  <a:pt x="0" y="0"/>
                </a:lnTo>
                <a:lnTo>
                  <a:pt x="0" y="1463834"/>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8" id="58"/>
          <p:cNvGrpSpPr/>
          <p:nvPr/>
        </p:nvGrpSpPr>
        <p:grpSpPr>
          <a:xfrm rot="0">
            <a:off x="8901054" y="8369119"/>
            <a:ext cx="547756" cy="509344"/>
            <a:chOff x="0" y="0"/>
            <a:chExt cx="812800" cy="755801"/>
          </a:xfrm>
        </p:grpSpPr>
        <p:sp>
          <p:nvSpPr>
            <p:cNvPr name="Freeform 59" id="59"/>
            <p:cNvSpPr/>
            <p:nvPr/>
          </p:nvSpPr>
          <p:spPr>
            <a:xfrm flipH="false" flipV="false" rot="0">
              <a:off x="0" y="0"/>
              <a:ext cx="812800" cy="755801"/>
            </a:xfrm>
            <a:custGeom>
              <a:avLst/>
              <a:gdLst/>
              <a:ahLst/>
              <a:cxnLst/>
              <a:rect r="r" b="b" t="t" l="l"/>
              <a:pathLst>
                <a:path h="755801" w="812800">
                  <a:moveTo>
                    <a:pt x="406400" y="0"/>
                  </a:moveTo>
                  <a:cubicBezTo>
                    <a:pt x="181951" y="0"/>
                    <a:pt x="0" y="169192"/>
                    <a:pt x="0" y="377901"/>
                  </a:cubicBezTo>
                  <a:cubicBezTo>
                    <a:pt x="0" y="586609"/>
                    <a:pt x="181951" y="755801"/>
                    <a:pt x="406400" y="755801"/>
                  </a:cubicBezTo>
                  <a:cubicBezTo>
                    <a:pt x="630849" y="755801"/>
                    <a:pt x="812800" y="586609"/>
                    <a:pt x="812800" y="377901"/>
                  </a:cubicBezTo>
                  <a:cubicBezTo>
                    <a:pt x="812800" y="169192"/>
                    <a:pt x="630849" y="0"/>
                    <a:pt x="406400" y="0"/>
                  </a:cubicBezTo>
                  <a:close/>
                </a:path>
              </a:pathLst>
            </a:custGeom>
            <a:solidFill>
              <a:srgbClr val="FFFFFF"/>
            </a:solidFill>
          </p:spPr>
        </p:sp>
        <p:sp>
          <p:nvSpPr>
            <p:cNvPr name="TextBox 60" id="60"/>
            <p:cNvSpPr txBox="true"/>
            <p:nvPr/>
          </p:nvSpPr>
          <p:spPr>
            <a:xfrm>
              <a:off x="76200" y="32756"/>
              <a:ext cx="660400" cy="652189"/>
            </a:xfrm>
            <a:prstGeom prst="rect">
              <a:avLst/>
            </a:prstGeom>
          </p:spPr>
          <p:txBody>
            <a:bodyPr anchor="ctr" rtlCol="false" tIns="50800" lIns="50800" bIns="50800" rIns="50800"/>
            <a:lstStyle/>
            <a:p>
              <a:pPr algn="ctr" marL="0" indent="0" lvl="0">
                <a:lnSpc>
                  <a:spcPts val="2519"/>
                </a:lnSpc>
                <a:spcBef>
                  <a:spcPct val="0"/>
                </a:spcBef>
              </a:pPr>
              <a:r>
                <a:rPr lang="en-US" b="true" sz="1799">
                  <a:solidFill>
                    <a:srgbClr val="000000"/>
                  </a:solidFill>
                  <a:latin typeface="DM Sans Bold"/>
                  <a:ea typeface="DM Sans Bold"/>
                  <a:cs typeface="DM Sans Bold"/>
                  <a:sym typeface="DM Sans Bold"/>
                </a:rPr>
                <a:t>05</a:t>
              </a:r>
            </a:p>
          </p:txBody>
        </p:sp>
      </p:grpSp>
      <p:sp>
        <p:nvSpPr>
          <p:cNvPr name="TextBox 61" id="61"/>
          <p:cNvSpPr txBox="true"/>
          <p:nvPr/>
        </p:nvSpPr>
        <p:spPr>
          <a:xfrm rot="0">
            <a:off x="2905005" y="7958974"/>
            <a:ext cx="4774544" cy="306705"/>
          </a:xfrm>
          <a:prstGeom prst="rect">
            <a:avLst/>
          </a:prstGeom>
        </p:spPr>
        <p:txBody>
          <a:bodyPr anchor="t" rtlCol="false" tIns="0" lIns="0" bIns="0" rIns="0">
            <a:spAutoFit/>
          </a:bodyPr>
          <a:lstStyle/>
          <a:p>
            <a:pPr algn="r" marL="0" indent="0" lvl="0">
              <a:lnSpc>
                <a:spcPts val="2520"/>
              </a:lnSpc>
              <a:spcBef>
                <a:spcPct val="0"/>
              </a:spcBef>
            </a:pPr>
            <a:r>
              <a:rPr lang="en-US" b="true" sz="1800">
                <a:solidFill>
                  <a:srgbClr val="000000"/>
                </a:solidFill>
                <a:latin typeface="DM Sans Bold"/>
                <a:ea typeface="DM Sans Bold"/>
                <a:cs typeface="DM Sans Bold"/>
                <a:sym typeface="DM Sans Bold"/>
              </a:rPr>
              <a:t>chaotic responses by chat interface built</a:t>
            </a:r>
          </a:p>
        </p:txBody>
      </p:sp>
      <p:sp>
        <p:nvSpPr>
          <p:cNvPr name="TextBox 62" id="62"/>
          <p:cNvSpPr txBox="true"/>
          <p:nvPr/>
        </p:nvSpPr>
        <p:spPr>
          <a:xfrm rot="0">
            <a:off x="1549672" y="8265679"/>
            <a:ext cx="6292558" cy="826135"/>
          </a:xfrm>
          <a:prstGeom prst="rect">
            <a:avLst/>
          </a:prstGeom>
        </p:spPr>
        <p:txBody>
          <a:bodyPr anchor="t" rtlCol="false" tIns="0" lIns="0" bIns="0" rIns="0">
            <a:spAutoFit/>
          </a:bodyPr>
          <a:lstStyle/>
          <a:p>
            <a:pPr algn="r" marL="0" indent="0" lvl="0">
              <a:lnSpc>
                <a:spcPts val="2239"/>
              </a:lnSpc>
              <a:spcBef>
                <a:spcPct val="0"/>
              </a:spcBef>
            </a:pPr>
            <a:r>
              <a:rPr lang="en-US" sz="1599">
                <a:solidFill>
                  <a:srgbClr val="000000"/>
                </a:solidFill>
                <a:latin typeface="DM Sans"/>
                <a:ea typeface="DM Sans"/>
                <a:cs typeface="DM Sans"/>
                <a:sym typeface="DM Sans"/>
              </a:rPr>
              <a:t>the responses given by the chatbot which we built as we ll as the rag was not referencing appropriate context directly for simple queries</a:t>
            </a:r>
          </a:p>
        </p:txBody>
      </p:sp>
      <p:sp>
        <p:nvSpPr>
          <p:cNvPr name="TextBox 63" id="63"/>
          <p:cNvSpPr txBox="true"/>
          <p:nvPr/>
        </p:nvSpPr>
        <p:spPr>
          <a:xfrm rot="0">
            <a:off x="10652899" y="7902073"/>
            <a:ext cx="7319831" cy="621030"/>
          </a:xfrm>
          <a:prstGeom prst="rect">
            <a:avLst/>
          </a:prstGeom>
        </p:spPr>
        <p:txBody>
          <a:bodyPr anchor="t" rtlCol="false" tIns="0" lIns="0" bIns="0" rIns="0">
            <a:spAutoFit/>
          </a:bodyPr>
          <a:lstStyle/>
          <a:p>
            <a:pPr algn="r" marL="0" indent="0" lvl="0">
              <a:lnSpc>
                <a:spcPts val="2520"/>
              </a:lnSpc>
              <a:spcBef>
                <a:spcPct val="0"/>
              </a:spcBef>
            </a:pPr>
            <a:r>
              <a:rPr lang="en-US" b="true" sz="1800">
                <a:solidFill>
                  <a:srgbClr val="000000"/>
                </a:solidFill>
                <a:latin typeface="DM Sans Bold"/>
                <a:ea typeface="DM Sans Bold"/>
                <a:cs typeface="DM Sans Bold"/>
                <a:sym typeface="DM Sans Bold"/>
              </a:rPr>
              <a:t>controlling model  parameters for api call such as max tokens and temperature</a:t>
            </a:r>
          </a:p>
        </p:txBody>
      </p:sp>
      <p:sp>
        <p:nvSpPr>
          <p:cNvPr name="TextBox 64" id="64"/>
          <p:cNvSpPr txBox="true"/>
          <p:nvPr/>
        </p:nvSpPr>
        <p:spPr>
          <a:xfrm rot="0">
            <a:off x="10652899" y="8523103"/>
            <a:ext cx="7454397" cy="549910"/>
          </a:xfrm>
          <a:prstGeom prst="rect">
            <a:avLst/>
          </a:prstGeom>
        </p:spPr>
        <p:txBody>
          <a:bodyPr anchor="t" rtlCol="false" tIns="0" lIns="0" bIns="0" rIns="0">
            <a:spAutoFit/>
          </a:bodyPr>
          <a:lstStyle/>
          <a:p>
            <a:pPr algn="r" marL="0" indent="0" lvl="0">
              <a:lnSpc>
                <a:spcPts val="2239"/>
              </a:lnSpc>
              <a:spcBef>
                <a:spcPct val="0"/>
              </a:spcBef>
            </a:pPr>
            <a:r>
              <a:rPr lang="en-US" sz="1599">
                <a:solidFill>
                  <a:srgbClr val="000000"/>
                </a:solidFill>
                <a:latin typeface="DM Sans"/>
                <a:ea typeface="DM Sans"/>
                <a:cs typeface="DM Sans"/>
                <a:sym typeface="DM Sans"/>
              </a:rPr>
              <a:t>configured the temperature setting to 0.2 for standard responses and also set max tokens to save on the cost of free limit api key used </a:t>
            </a:r>
          </a:p>
        </p:txBody>
      </p:sp>
      <p:sp>
        <p:nvSpPr>
          <p:cNvPr name="Freeform 65" id="65"/>
          <p:cNvSpPr/>
          <p:nvPr/>
        </p:nvSpPr>
        <p:spPr>
          <a:xfrm flipH="false" flipV="true" rot="5400000">
            <a:off x="9072592" y="9124306"/>
            <a:ext cx="1310584" cy="1463833"/>
          </a:xfrm>
          <a:custGeom>
            <a:avLst/>
            <a:gdLst/>
            <a:ahLst/>
            <a:cxnLst/>
            <a:rect r="r" b="b" t="t" l="l"/>
            <a:pathLst>
              <a:path h="1463833" w="1310584">
                <a:moveTo>
                  <a:pt x="0" y="1463833"/>
                </a:moveTo>
                <a:lnTo>
                  <a:pt x="1310584" y="1463833"/>
                </a:lnTo>
                <a:lnTo>
                  <a:pt x="1310584" y="0"/>
                </a:lnTo>
                <a:lnTo>
                  <a:pt x="0" y="0"/>
                </a:lnTo>
                <a:lnTo>
                  <a:pt x="0" y="1463833"/>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6" id="66"/>
          <p:cNvSpPr/>
          <p:nvPr/>
        </p:nvSpPr>
        <p:spPr>
          <a:xfrm flipH="false" flipV="false" rot="5400000">
            <a:off x="7998501" y="9124306"/>
            <a:ext cx="1310584" cy="1463833"/>
          </a:xfrm>
          <a:custGeom>
            <a:avLst/>
            <a:gdLst/>
            <a:ahLst/>
            <a:cxnLst/>
            <a:rect r="r" b="b" t="t" l="l"/>
            <a:pathLst>
              <a:path h="1463833" w="1310584">
                <a:moveTo>
                  <a:pt x="0" y="0"/>
                </a:moveTo>
                <a:lnTo>
                  <a:pt x="1310584" y="0"/>
                </a:lnTo>
                <a:lnTo>
                  <a:pt x="1310584" y="1463833"/>
                </a:lnTo>
                <a:lnTo>
                  <a:pt x="0" y="14638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7" id="67"/>
          <p:cNvGrpSpPr/>
          <p:nvPr/>
        </p:nvGrpSpPr>
        <p:grpSpPr>
          <a:xfrm rot="0">
            <a:off x="8931959" y="9612458"/>
            <a:ext cx="482742" cy="509344"/>
            <a:chOff x="0" y="0"/>
            <a:chExt cx="716328" cy="755801"/>
          </a:xfrm>
        </p:grpSpPr>
        <p:sp>
          <p:nvSpPr>
            <p:cNvPr name="Freeform 68" id="68"/>
            <p:cNvSpPr/>
            <p:nvPr/>
          </p:nvSpPr>
          <p:spPr>
            <a:xfrm flipH="false" flipV="false" rot="0">
              <a:off x="0" y="0"/>
              <a:ext cx="716328" cy="755801"/>
            </a:xfrm>
            <a:custGeom>
              <a:avLst/>
              <a:gdLst/>
              <a:ahLst/>
              <a:cxnLst/>
              <a:rect r="r" b="b" t="t" l="l"/>
              <a:pathLst>
                <a:path h="755801" w="716328">
                  <a:moveTo>
                    <a:pt x="358164" y="0"/>
                  </a:moveTo>
                  <a:cubicBezTo>
                    <a:pt x="160355" y="0"/>
                    <a:pt x="0" y="169192"/>
                    <a:pt x="0" y="377901"/>
                  </a:cubicBezTo>
                  <a:cubicBezTo>
                    <a:pt x="0" y="586609"/>
                    <a:pt x="160355" y="755801"/>
                    <a:pt x="358164" y="755801"/>
                  </a:cubicBezTo>
                  <a:cubicBezTo>
                    <a:pt x="555972" y="755801"/>
                    <a:pt x="716328" y="586609"/>
                    <a:pt x="716328" y="377901"/>
                  </a:cubicBezTo>
                  <a:cubicBezTo>
                    <a:pt x="716328" y="169192"/>
                    <a:pt x="555972" y="0"/>
                    <a:pt x="358164" y="0"/>
                  </a:cubicBezTo>
                  <a:close/>
                </a:path>
              </a:pathLst>
            </a:custGeom>
            <a:solidFill>
              <a:srgbClr val="FFFFFF"/>
            </a:solidFill>
          </p:spPr>
        </p:sp>
        <p:sp>
          <p:nvSpPr>
            <p:cNvPr name="TextBox 69" id="69"/>
            <p:cNvSpPr txBox="true"/>
            <p:nvPr/>
          </p:nvSpPr>
          <p:spPr>
            <a:xfrm>
              <a:off x="67156" y="32756"/>
              <a:ext cx="582016" cy="652189"/>
            </a:xfrm>
            <a:prstGeom prst="rect">
              <a:avLst/>
            </a:prstGeom>
          </p:spPr>
          <p:txBody>
            <a:bodyPr anchor="ctr" rtlCol="false" tIns="50800" lIns="50800" bIns="50800" rIns="50800"/>
            <a:lstStyle/>
            <a:p>
              <a:pPr algn="ctr" marL="0" indent="0" lvl="0">
                <a:lnSpc>
                  <a:spcPts val="2519"/>
                </a:lnSpc>
                <a:spcBef>
                  <a:spcPct val="0"/>
                </a:spcBef>
              </a:pPr>
              <a:r>
                <a:rPr lang="en-US" b="true" sz="1799">
                  <a:solidFill>
                    <a:srgbClr val="000000"/>
                  </a:solidFill>
                  <a:latin typeface="DM Sans Bold"/>
                  <a:ea typeface="DM Sans Bold"/>
                  <a:cs typeface="DM Sans Bold"/>
                  <a:sym typeface="DM Sans Bold"/>
                </a:rPr>
                <a:t>06</a:t>
              </a:r>
            </a:p>
          </p:txBody>
        </p:sp>
      </p:grpSp>
      <p:sp>
        <p:nvSpPr>
          <p:cNvPr name="TextBox 70" id="70"/>
          <p:cNvSpPr txBox="true"/>
          <p:nvPr/>
        </p:nvSpPr>
        <p:spPr>
          <a:xfrm rot="0">
            <a:off x="1386991" y="9187064"/>
            <a:ext cx="6455238" cy="306705"/>
          </a:xfrm>
          <a:prstGeom prst="rect">
            <a:avLst/>
          </a:prstGeom>
        </p:spPr>
        <p:txBody>
          <a:bodyPr anchor="t" rtlCol="false" tIns="0" lIns="0" bIns="0" rIns="0">
            <a:spAutoFit/>
          </a:bodyPr>
          <a:lstStyle/>
          <a:p>
            <a:pPr algn="r" marL="0" indent="0" lvl="0">
              <a:lnSpc>
                <a:spcPts val="2520"/>
              </a:lnSpc>
              <a:spcBef>
                <a:spcPct val="0"/>
              </a:spcBef>
            </a:pPr>
            <a:r>
              <a:rPr lang="en-US" b="true" sz="1800">
                <a:solidFill>
                  <a:srgbClr val="000000"/>
                </a:solidFill>
                <a:latin typeface="DM Sans Bold"/>
                <a:ea typeface="DM Sans Bold"/>
                <a:cs typeface="DM Sans Bold"/>
                <a:sym typeface="DM Sans Bold"/>
              </a:rPr>
              <a:t>Long prompts mentioning standard technical practises</a:t>
            </a:r>
          </a:p>
        </p:txBody>
      </p:sp>
      <p:sp>
        <p:nvSpPr>
          <p:cNvPr name="TextBox 71" id="71"/>
          <p:cNvSpPr txBox="true"/>
          <p:nvPr/>
        </p:nvSpPr>
        <p:spPr>
          <a:xfrm rot="0">
            <a:off x="510225" y="9455669"/>
            <a:ext cx="7411651" cy="826135"/>
          </a:xfrm>
          <a:prstGeom prst="rect">
            <a:avLst/>
          </a:prstGeom>
        </p:spPr>
        <p:txBody>
          <a:bodyPr anchor="t" rtlCol="false" tIns="0" lIns="0" bIns="0" rIns="0">
            <a:spAutoFit/>
          </a:bodyPr>
          <a:lstStyle/>
          <a:p>
            <a:pPr algn="r" marL="0" indent="0" lvl="0">
              <a:lnSpc>
                <a:spcPts val="2239"/>
              </a:lnSpc>
              <a:spcBef>
                <a:spcPct val="0"/>
              </a:spcBef>
            </a:pPr>
            <a:r>
              <a:rPr lang="en-US" sz="1599">
                <a:solidFill>
                  <a:srgbClr val="000000"/>
                </a:solidFill>
                <a:latin typeface="DM Sans"/>
                <a:ea typeface="DM Sans"/>
                <a:cs typeface="DM Sans"/>
                <a:sym typeface="DM Sans"/>
              </a:rPr>
              <a:t>when switching between chat threads or even starting a new one ,standard practises followed in any application such as maintaining security,seperating controllers and servicces needed to be mentioned </a:t>
            </a:r>
          </a:p>
        </p:txBody>
      </p:sp>
      <p:sp>
        <p:nvSpPr>
          <p:cNvPr name="TextBox 72" id="72"/>
          <p:cNvSpPr txBox="true"/>
          <p:nvPr/>
        </p:nvSpPr>
        <p:spPr>
          <a:xfrm rot="0">
            <a:off x="10652899" y="9053714"/>
            <a:ext cx="6455238" cy="306705"/>
          </a:xfrm>
          <a:prstGeom prst="rect">
            <a:avLst/>
          </a:prstGeom>
        </p:spPr>
        <p:txBody>
          <a:bodyPr anchor="t" rtlCol="false" tIns="0" lIns="0" bIns="0" rIns="0">
            <a:spAutoFit/>
          </a:bodyPr>
          <a:lstStyle/>
          <a:p>
            <a:pPr algn="l" marL="0" indent="0" lvl="0">
              <a:lnSpc>
                <a:spcPts val="2520"/>
              </a:lnSpc>
              <a:spcBef>
                <a:spcPct val="0"/>
              </a:spcBef>
            </a:pPr>
            <a:r>
              <a:rPr lang="en-US" b="true" sz="1800">
                <a:solidFill>
                  <a:srgbClr val="000000"/>
                </a:solidFill>
                <a:latin typeface="DM Sans Bold"/>
                <a:ea typeface="DM Sans Bold"/>
                <a:cs typeface="DM Sans Bold"/>
                <a:sym typeface="DM Sans Bold"/>
              </a:rPr>
              <a:t>skill file usage </a:t>
            </a:r>
          </a:p>
        </p:txBody>
      </p:sp>
      <p:sp>
        <p:nvSpPr>
          <p:cNvPr name="TextBox 73" id="73"/>
          <p:cNvSpPr txBox="true"/>
          <p:nvPr/>
        </p:nvSpPr>
        <p:spPr>
          <a:xfrm rot="0">
            <a:off x="10424351" y="9285992"/>
            <a:ext cx="7454397" cy="1378585"/>
          </a:xfrm>
          <a:prstGeom prst="rect">
            <a:avLst/>
          </a:prstGeom>
        </p:spPr>
        <p:txBody>
          <a:bodyPr anchor="t" rtlCol="false" tIns="0" lIns="0" bIns="0" rIns="0">
            <a:spAutoFit/>
          </a:bodyPr>
          <a:lstStyle/>
          <a:p>
            <a:pPr algn="r" marL="0" indent="0" lvl="0">
              <a:lnSpc>
                <a:spcPts val="2239"/>
              </a:lnSpc>
              <a:spcBef>
                <a:spcPct val="0"/>
              </a:spcBef>
            </a:pPr>
            <a:r>
              <a:rPr lang="en-US" sz="1599">
                <a:solidFill>
                  <a:srgbClr val="000000"/>
                </a:solidFill>
                <a:latin typeface="DM Sans"/>
                <a:ea typeface="DM Sans"/>
                <a:cs typeface="DM Sans"/>
                <a:sym typeface="DM Sans"/>
              </a:rPr>
              <a:t>made use of the make-it-right skill file ,speckit and andrej karpathy skill file ,wrote a custom prompt to make use of the make-it-right skill to refactor an existing codebase since the skill is mainly written to build something from scratch we use it to treat our existing codebase as source of truth and modify that </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EDF3F6"/>
        </a:solidFill>
      </p:bgPr>
    </p:bg>
    <p:spTree>
      <p:nvGrpSpPr>
        <p:cNvPr id="1" name=""/>
        <p:cNvGrpSpPr/>
        <p:nvPr/>
      </p:nvGrpSpPr>
      <p:grpSpPr>
        <a:xfrm>
          <a:off x="0" y="0"/>
          <a:ext cx="0" cy="0"/>
          <a:chOff x="0" y="0"/>
          <a:chExt cx="0" cy="0"/>
        </a:xfrm>
      </p:grpSpPr>
      <p:sp>
        <p:nvSpPr>
          <p:cNvPr name="TextBox 2" id="2"/>
          <p:cNvSpPr txBox="true"/>
          <p:nvPr/>
        </p:nvSpPr>
        <p:spPr>
          <a:xfrm rot="0">
            <a:off x="6593092" y="335378"/>
            <a:ext cx="4020889" cy="976630"/>
          </a:xfrm>
          <a:prstGeom prst="rect">
            <a:avLst/>
          </a:prstGeom>
        </p:spPr>
        <p:txBody>
          <a:bodyPr anchor="t" rtlCol="false" tIns="0" lIns="0" bIns="0" rIns="0">
            <a:spAutoFit/>
          </a:bodyPr>
          <a:lstStyle/>
          <a:p>
            <a:pPr algn="ctr">
              <a:lnSpc>
                <a:spcPts val="3919"/>
              </a:lnSpc>
              <a:spcBef>
                <a:spcPct val="0"/>
              </a:spcBef>
            </a:pPr>
            <a:r>
              <a:rPr lang="en-US" b="true" sz="2799">
                <a:solidFill>
                  <a:srgbClr val="000000"/>
                </a:solidFill>
                <a:latin typeface="DM Sans Bold"/>
                <a:ea typeface="DM Sans Bold"/>
                <a:cs typeface="DM Sans Bold"/>
                <a:sym typeface="DM Sans Bold"/>
              </a:rPr>
              <a:t>AI Tools Used and comparison </a:t>
            </a:r>
          </a:p>
        </p:txBody>
      </p:sp>
      <p:sp>
        <p:nvSpPr>
          <p:cNvPr name="TextBox 3" id="3"/>
          <p:cNvSpPr txBox="true"/>
          <p:nvPr/>
        </p:nvSpPr>
        <p:spPr>
          <a:xfrm rot="0">
            <a:off x="1936893" y="1407795"/>
            <a:ext cx="14500299" cy="8249285"/>
          </a:xfrm>
          <a:prstGeom prst="rect">
            <a:avLst/>
          </a:prstGeom>
        </p:spPr>
        <p:txBody>
          <a:bodyPr anchor="t" rtlCol="false" tIns="0" lIns="0" bIns="0" rIns="0">
            <a:spAutoFit/>
          </a:bodyPr>
          <a:lstStyle/>
          <a:p>
            <a:pPr algn="just">
              <a:lnSpc>
                <a:spcPts val="3639"/>
              </a:lnSpc>
            </a:pPr>
            <a:r>
              <a:rPr lang="en-US" sz="2599" b="true">
                <a:solidFill>
                  <a:srgbClr val="000000"/>
                </a:solidFill>
                <a:latin typeface="DM Sans Bold"/>
                <a:ea typeface="DM Sans Bold"/>
                <a:cs typeface="DM Sans Bold"/>
                <a:sym typeface="DM Sans Bold"/>
              </a:rPr>
              <a:t>1)Antigravity:</a:t>
            </a:r>
            <a:r>
              <a:rPr lang="en-US" sz="2599">
                <a:solidFill>
                  <a:srgbClr val="000000"/>
                </a:solidFill>
                <a:latin typeface="DM Sans"/>
                <a:ea typeface="DM Sans"/>
                <a:cs typeface="DM Sans"/>
                <a:sym typeface="DM Sans"/>
              </a:rPr>
              <a:t>Works well only issue is the token limitation decreasing within a single threa upon switching accounts</a:t>
            </a:r>
          </a:p>
          <a:p>
            <a:pPr algn="just">
              <a:lnSpc>
                <a:spcPts val="3639"/>
              </a:lnSpc>
            </a:pPr>
            <a:r>
              <a:rPr lang="en-US" sz="2599" b="true">
                <a:solidFill>
                  <a:srgbClr val="000000"/>
                </a:solidFill>
                <a:latin typeface="DM Sans Bold"/>
                <a:ea typeface="DM Sans Bold"/>
                <a:cs typeface="DM Sans Bold"/>
                <a:sym typeface="DM Sans Bold"/>
              </a:rPr>
              <a:t>2)Codex:</a:t>
            </a:r>
            <a:r>
              <a:rPr lang="en-US" sz="2599">
                <a:solidFill>
                  <a:srgbClr val="000000"/>
                </a:solidFill>
                <a:latin typeface="DM Sans"/>
                <a:ea typeface="DM Sans"/>
                <a:cs typeface="DM Sans"/>
                <a:sym typeface="DM Sans"/>
              </a:rPr>
              <a:t>Very limited tokens but highly accurate for specifically backend development(able to discern business logic and design schemas and services which can accomodate future enhancements very well</a:t>
            </a:r>
          </a:p>
          <a:p>
            <a:pPr algn="just">
              <a:lnSpc>
                <a:spcPts val="3639"/>
              </a:lnSpc>
            </a:pPr>
            <a:r>
              <a:rPr lang="en-US" sz="2599" b="true">
                <a:solidFill>
                  <a:srgbClr val="000000"/>
                </a:solidFill>
                <a:latin typeface="DM Sans Bold"/>
                <a:ea typeface="DM Sans Bold"/>
                <a:cs typeface="DM Sans Bold"/>
                <a:sym typeface="DM Sans Bold"/>
              </a:rPr>
              <a:t>3)cursor:</a:t>
            </a:r>
            <a:r>
              <a:rPr lang="en-US" sz="2599">
                <a:solidFill>
                  <a:srgbClr val="000000"/>
                </a:solidFill>
                <a:latin typeface="DM Sans"/>
                <a:ea typeface="DM Sans"/>
                <a:cs typeface="DM Sans"/>
                <a:sym typeface="DM Sans"/>
              </a:rPr>
              <a:t>Good for specific feature fixes across frontend and backend</a:t>
            </a:r>
          </a:p>
          <a:p>
            <a:pPr algn="just">
              <a:lnSpc>
                <a:spcPts val="3639"/>
              </a:lnSpc>
            </a:pPr>
            <a:r>
              <a:rPr lang="en-US" sz="2599" b="true">
                <a:solidFill>
                  <a:srgbClr val="000000"/>
                </a:solidFill>
                <a:latin typeface="DM Sans Bold"/>
                <a:ea typeface="DM Sans Bold"/>
                <a:cs typeface="DM Sans Bold"/>
                <a:sym typeface="DM Sans Bold"/>
              </a:rPr>
              <a:t>4)Copilot:</a:t>
            </a:r>
            <a:r>
              <a:rPr lang="en-US" sz="2599">
                <a:solidFill>
                  <a:srgbClr val="000000"/>
                </a:solidFill>
                <a:latin typeface="DM Sans"/>
                <a:ea typeface="DM Sans"/>
                <a:cs typeface="DM Sans"/>
                <a:sym typeface="DM Sans"/>
              </a:rPr>
              <a:t>Not a good tool context window gets bloated very fast and very frequent hallucinations and once context reaches which is very often it says it summarises context but then hallucinates </a:t>
            </a:r>
          </a:p>
          <a:p>
            <a:pPr algn="just">
              <a:lnSpc>
                <a:spcPts val="3779"/>
              </a:lnSpc>
            </a:pPr>
            <a:r>
              <a:rPr lang="en-US" sz="2699" b="true">
                <a:solidFill>
                  <a:srgbClr val="000000"/>
                </a:solidFill>
                <a:latin typeface="DM Sans Bold"/>
                <a:ea typeface="DM Sans Bold"/>
                <a:cs typeface="DM Sans Bold"/>
                <a:sym typeface="DM Sans Bold"/>
              </a:rPr>
              <a:t>5)Blackbox AI:</a:t>
            </a:r>
            <a:r>
              <a:rPr lang="en-US" sz="2699">
                <a:solidFill>
                  <a:srgbClr val="000000"/>
                </a:solidFill>
                <a:latin typeface="DM Sans"/>
                <a:ea typeface="DM Sans"/>
                <a:cs typeface="DM Sans"/>
                <a:sym typeface="DM Sans"/>
              </a:rPr>
              <a:t>Went into a loop upon prompting to fix a feature related to google calendar integration and did not even suggest to use google calendar api</a:t>
            </a:r>
          </a:p>
          <a:p>
            <a:pPr algn="just">
              <a:lnSpc>
                <a:spcPts val="3639"/>
              </a:lnSpc>
            </a:pPr>
            <a:r>
              <a:rPr lang="en-US" sz="2599" b="true">
                <a:solidFill>
                  <a:srgbClr val="000000"/>
                </a:solidFill>
                <a:latin typeface="DM Sans Bold"/>
                <a:ea typeface="DM Sans Bold"/>
                <a:cs typeface="DM Sans Bold"/>
                <a:sym typeface="DM Sans Bold"/>
              </a:rPr>
              <a:t>6)Trae:</a:t>
            </a:r>
            <a:r>
              <a:rPr lang="en-US" sz="2599">
                <a:solidFill>
                  <a:srgbClr val="000000"/>
                </a:solidFill>
                <a:latin typeface="DM Sans"/>
                <a:ea typeface="DM Sans"/>
                <a:cs typeface="DM Sans"/>
                <a:sym typeface="DM Sans"/>
              </a:rPr>
              <a:t>Went into a loop and did not follow instructions to get codebase context from graphify</a:t>
            </a:r>
          </a:p>
          <a:p>
            <a:pPr algn="just">
              <a:lnSpc>
                <a:spcPts val="3639"/>
              </a:lnSpc>
            </a:pPr>
            <a:r>
              <a:rPr lang="en-US" sz="2599" b="true">
                <a:solidFill>
                  <a:srgbClr val="000000"/>
                </a:solidFill>
                <a:latin typeface="DM Sans Bold"/>
                <a:ea typeface="DM Sans Bold"/>
                <a:cs typeface="DM Sans Bold"/>
                <a:sym typeface="DM Sans Bold"/>
              </a:rPr>
              <a:t>7)Kilo code:</a:t>
            </a:r>
            <a:r>
              <a:rPr lang="en-US" sz="2599">
                <a:solidFill>
                  <a:srgbClr val="000000"/>
                </a:solidFill>
                <a:latin typeface="DM Sans"/>
                <a:ea typeface="DM Sans"/>
                <a:cs typeface="DM Sans"/>
                <a:sym typeface="DM Sans"/>
              </a:rPr>
              <a:t>Good tool provided that we use the correct model but takes lot of time for responses,deploys subagents and divides a task down into small achievable milestones,good for bug fixes and feature developement on an existing codebase</a:t>
            </a:r>
          </a:p>
          <a:p>
            <a:pPr algn="just">
              <a:lnSpc>
                <a:spcPts val="3639"/>
              </a:lnSpc>
            </a:pPr>
            <a:r>
              <a:rPr lang="en-US" sz="2599" b="true">
                <a:solidFill>
                  <a:srgbClr val="000000"/>
                </a:solidFill>
                <a:latin typeface="DM Sans Bold"/>
                <a:ea typeface="DM Sans Bold"/>
                <a:cs typeface="DM Sans Bold"/>
                <a:sym typeface="DM Sans Bold"/>
              </a:rPr>
              <a:t>8)Kiro:</a:t>
            </a:r>
            <a:r>
              <a:rPr lang="en-US" sz="2599">
                <a:solidFill>
                  <a:srgbClr val="000000"/>
                </a:solidFill>
                <a:latin typeface="DM Sans"/>
                <a:ea typeface="DM Sans"/>
                <a:cs typeface="DM Sans"/>
                <a:sym typeface="DM Sans"/>
              </a:rPr>
              <a:t>Specifically used it for making the base of the chatbot ,which covered frontend and backend </a:t>
            </a:r>
          </a:p>
          <a:p>
            <a:pPr algn="just">
              <a:lnSpc>
                <a:spcPts val="3639"/>
              </a:lnSpc>
              <a:spcBef>
                <a:spcPct val="0"/>
              </a:spcBef>
            </a:pPr>
            <a:r>
              <a:rPr lang="en-US" b="true" sz="2599">
                <a:solidFill>
                  <a:srgbClr val="000000"/>
                </a:solidFill>
                <a:latin typeface="DM Sans Bold"/>
                <a:ea typeface="DM Sans Bold"/>
                <a:cs typeface="DM Sans Bold"/>
                <a:sym typeface="DM Sans Bold"/>
              </a:rPr>
              <a:t>9)Claude</a:t>
            </a:r>
            <a:r>
              <a:rPr lang="en-US" sz="2599">
                <a:solidFill>
                  <a:srgbClr val="000000"/>
                </a:solidFill>
                <a:latin typeface="DM Sans"/>
                <a:ea typeface="DM Sans"/>
                <a:cs typeface="DM Sans"/>
                <a:sym typeface="DM Sans"/>
              </a:rPr>
              <a:t>:mainly the claude-sonnet model which was good balance between token usage and </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DF3F6"/>
        </a:solidFill>
      </p:bgPr>
    </p:bg>
    <p:spTree>
      <p:nvGrpSpPr>
        <p:cNvPr id="1" name=""/>
        <p:cNvGrpSpPr/>
        <p:nvPr/>
      </p:nvGrpSpPr>
      <p:grpSpPr>
        <a:xfrm>
          <a:off x="0" y="0"/>
          <a:ext cx="0" cy="0"/>
          <a:chOff x="0" y="0"/>
          <a:chExt cx="0" cy="0"/>
        </a:xfrm>
      </p:grpSpPr>
      <p:sp>
        <p:nvSpPr>
          <p:cNvPr name="Freeform 2" id="2"/>
          <p:cNvSpPr/>
          <p:nvPr/>
        </p:nvSpPr>
        <p:spPr>
          <a:xfrm flipH="false" flipV="false" rot="0">
            <a:off x="1997037" y="1883768"/>
            <a:ext cx="3595114" cy="8129957"/>
          </a:xfrm>
          <a:custGeom>
            <a:avLst/>
            <a:gdLst/>
            <a:ahLst/>
            <a:cxnLst/>
            <a:rect r="r" b="b" t="t" l="l"/>
            <a:pathLst>
              <a:path h="8129957" w="3595114">
                <a:moveTo>
                  <a:pt x="0" y="0"/>
                </a:moveTo>
                <a:lnTo>
                  <a:pt x="3595113" y="0"/>
                </a:lnTo>
                <a:lnTo>
                  <a:pt x="3595113" y="8129957"/>
                </a:lnTo>
                <a:lnTo>
                  <a:pt x="0" y="8129957"/>
                </a:lnTo>
                <a:lnTo>
                  <a:pt x="0" y="0"/>
                </a:lnTo>
                <a:close/>
              </a:path>
            </a:pathLst>
          </a:custGeom>
          <a:blipFill>
            <a:blip r:embed="rId2"/>
            <a:stretch>
              <a:fillRect l="-4293" t="-1529" r="0" b="-1529"/>
            </a:stretch>
          </a:blipFill>
        </p:spPr>
      </p:sp>
      <p:sp>
        <p:nvSpPr>
          <p:cNvPr name="TextBox 3" id="3"/>
          <p:cNvSpPr txBox="true"/>
          <p:nvPr/>
        </p:nvSpPr>
        <p:spPr>
          <a:xfrm rot="0">
            <a:off x="1028700" y="420635"/>
            <a:ext cx="16230600" cy="438785"/>
          </a:xfrm>
          <a:prstGeom prst="rect">
            <a:avLst/>
          </a:prstGeom>
        </p:spPr>
        <p:txBody>
          <a:bodyPr anchor="t" rtlCol="false" tIns="0" lIns="0" bIns="0" rIns="0">
            <a:spAutoFit/>
          </a:bodyPr>
          <a:lstStyle/>
          <a:p>
            <a:pPr algn="ctr">
              <a:lnSpc>
                <a:spcPts val="3639"/>
              </a:lnSpc>
              <a:spcBef>
                <a:spcPct val="0"/>
              </a:spcBef>
            </a:pPr>
            <a:r>
              <a:rPr lang="en-US" b="true" sz="2599">
                <a:solidFill>
                  <a:srgbClr val="000000"/>
                </a:solidFill>
                <a:latin typeface="DM Sans Bold"/>
                <a:ea typeface="DM Sans Bold"/>
                <a:cs typeface="DM Sans Bold"/>
                <a:sym typeface="DM Sans Bold"/>
              </a:rPr>
              <a:t>Automated testing and flow discovery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DAHLnDK3lY8</dc:identifier>
  <dcterms:modified xsi:type="dcterms:W3CDTF">2011-08-01T06:04:30Z</dcterms:modified>
  <cp:revision>1</cp:revision>
  <dc:title>Appointment Scheduling Platform</dc:title>
</cp:coreProperties>
</file>